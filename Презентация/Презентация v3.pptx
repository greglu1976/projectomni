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2" r:id="rId1"/>
  </p:sldMasterIdLst>
  <p:notesMasterIdLst>
    <p:notesMasterId r:id="rId22"/>
  </p:notesMasterIdLst>
  <p:handoutMasterIdLst>
    <p:handoutMasterId r:id="rId23"/>
  </p:handoutMasterIdLst>
  <p:sldIdLst>
    <p:sldId id="265" r:id="rId2"/>
    <p:sldId id="638" r:id="rId3"/>
    <p:sldId id="643" r:id="rId4"/>
    <p:sldId id="656" r:id="rId5"/>
    <p:sldId id="657" r:id="rId6"/>
    <p:sldId id="648" r:id="rId7"/>
    <p:sldId id="659" r:id="rId8"/>
    <p:sldId id="644" r:id="rId9"/>
    <p:sldId id="658" r:id="rId10"/>
    <p:sldId id="649" r:id="rId11"/>
    <p:sldId id="646" r:id="rId12"/>
    <p:sldId id="652" r:id="rId13"/>
    <p:sldId id="654" r:id="rId14"/>
    <p:sldId id="653" r:id="rId15"/>
    <p:sldId id="650" r:id="rId16"/>
    <p:sldId id="651" r:id="rId17"/>
    <p:sldId id="660" r:id="rId18"/>
    <p:sldId id="661" r:id="rId19"/>
    <p:sldId id="655" r:id="rId20"/>
    <p:sldId id="284" r:id="rId21"/>
  </p:sldIdLst>
  <p:sldSz cx="12192000" cy="6858000"/>
  <p:notesSz cx="7099300" cy="10234613"/>
  <p:defaultTextStyle>
    <a:defPPr>
      <a:defRPr lang="ru-RU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1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2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43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58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572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287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01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16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Жуков Алексей" initials="ЖА" lastIdx="1" clrIdx="0">
    <p:extLst>
      <p:ext uri="{19B8F6BF-5375-455C-9EA6-DF929625EA0E}">
        <p15:presenceInfo xmlns:p15="http://schemas.microsoft.com/office/powerpoint/2012/main" userId="S-1-5-21-3204257377-612078318-1080328176-15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E6F2"/>
    <a:srgbClr val="EF8637"/>
    <a:srgbClr val="F28838"/>
    <a:srgbClr val="F18738"/>
    <a:srgbClr val="F39200"/>
    <a:srgbClr val="AFBFD5"/>
    <a:srgbClr val="234672"/>
    <a:srgbClr val="54749E"/>
    <a:srgbClr val="95B3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15" autoAdjust="0"/>
    <p:restoredTop sz="86689" autoAdjust="0"/>
  </p:normalViewPr>
  <p:slideViewPr>
    <p:cSldViewPr>
      <p:cViewPr varScale="1">
        <p:scale>
          <a:sx n="115" d="100"/>
          <a:sy n="115" d="100"/>
        </p:scale>
        <p:origin x="138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3882" y="120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>
              <a:defRPr sz="1200"/>
            </a:lvl1pPr>
          </a:lstStyle>
          <a:p>
            <a:fld id="{44B3FC41-904A-4A14-BC0C-3259396BEE22}" type="datetimeFigureOut">
              <a:rPr lang="ru-RU" smtClean="0"/>
              <a:pPr/>
              <a:t>14.10.2025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>
              <a:defRPr sz="1200"/>
            </a:lvl1pPr>
          </a:lstStyle>
          <a:p>
            <a:fld id="{48F06AD2-50A3-411B-A8D1-560CA9D9A84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4496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8586EEBF-9171-4376-91FC-87252248866B}" type="datetimeFigureOut">
              <a:rPr lang="ru-RU"/>
              <a:pPr>
                <a:defRPr/>
              </a:pPr>
              <a:t>14.10.2025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9938"/>
            <a:ext cx="6819900" cy="3835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1" tIns="49515" rIns="99031" bIns="49515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9031" tIns="49515" rIns="99031" bIns="49515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33BE8861-76DE-4716-B3B2-EB4CCB0924A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5064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9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81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2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7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1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6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39700" y="769938"/>
            <a:ext cx="6819900" cy="38354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BE8861-76DE-4716-B3B2-EB4CCB0924A2}" type="slidenum">
              <a:rPr lang="ru-RU" smtClean="0"/>
              <a:pPr>
                <a:defRPr/>
              </a:pPr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Образ слайда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9700" y="769938"/>
            <a:ext cx="6819900" cy="38354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3" name="Заметки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ru-RU"/>
          </a:p>
        </p:txBody>
      </p:sp>
      <p:sp>
        <p:nvSpPr>
          <p:cNvPr id="20484" name="Номер слайда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9EB4278-94E5-4403-BAE8-A6C2782F81E8}" type="slidenum">
              <a:rPr lang="ru-RU"/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ини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3800"/>
          <a:stretch/>
        </p:blipFill>
        <p:spPr>
          <a:xfrm>
            <a:off x="0" y="764703"/>
            <a:ext cx="12192000" cy="5829471"/>
          </a:xfrm>
          <a:prstGeom prst="rect">
            <a:avLst/>
          </a:prstGeom>
        </p:spPr>
      </p:pic>
      <p:sp>
        <p:nvSpPr>
          <p:cNvPr id="14" name="Прямоугольник 13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17" name="Номер слайда 3"/>
          <p:cNvSpPr txBox="1">
            <a:spLocks/>
          </p:cNvSpPr>
          <p:nvPr userDrawn="1"/>
        </p:nvSpPr>
        <p:spPr>
          <a:xfrm>
            <a:off x="10205263" y="6597355"/>
            <a:ext cx="1651377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cxnSp>
        <p:nvCxnSpPr>
          <p:cNvPr id="15" name="Прямая соединительная линия 14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026" name="Picture 2" descr="E:\Archive\2024\4. NEC_UNITEL\JPG\Logo_01.jp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04256" cy="470917"/>
          </a:xfrm>
          <a:prstGeom prst="rect">
            <a:avLst/>
          </a:prstGeom>
          <a:noFill/>
        </p:spPr>
      </p:pic>
      <p:pic>
        <p:nvPicPr>
          <p:cNvPr id="2" name="Picture 2" descr="C:\Users\e.minchenkova\Desktop\НЭК (1)\НЭК\НЭК\НЭК (Национальная Энергетическая Компания)\Логотип\PNG\1.png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26704" y="144885"/>
            <a:ext cx="2184920" cy="517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4872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5064"/>
          <a:stretch/>
        </p:blipFill>
        <p:spPr>
          <a:xfrm>
            <a:off x="-2966" y="7168"/>
            <a:ext cx="12203330" cy="901552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4177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9552385" y="6597355"/>
            <a:ext cx="2304255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8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3619333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/>
          <p:cNvSpPr/>
          <p:nvPr userDrawn="1"/>
        </p:nvSpPr>
        <p:spPr>
          <a:xfrm>
            <a:off x="3143672" y="761531"/>
            <a:ext cx="9048328" cy="58358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122885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61511828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128449" y="6597355"/>
            <a:ext cx="1728192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311336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7892117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06" r:id="rId2"/>
    <p:sldLayoutId id="2147483904" r:id="rId3"/>
    <p:sldLayoutId id="2147483900" r:id="rId4"/>
    <p:sldLayoutId id="2147483905" r:id="rId5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14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29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43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581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859" indent="-342859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61" indent="-285716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6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08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5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98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43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89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34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3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8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2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7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1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6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4506880"/>
            <a:ext cx="3725352" cy="1637118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4392" y="2448183"/>
            <a:ext cx="2420888" cy="242088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1271464" y="1124744"/>
            <a:ext cx="121920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Автоматизированное формирование</a:t>
            </a:r>
          </a:p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 эксплуатационной документации</a:t>
            </a:r>
          </a:p>
        </p:txBody>
      </p:sp>
      <p:pic>
        <p:nvPicPr>
          <p:cNvPr id="4" name="Рисунок 3" descr="C:\Users\n.kolobrodov\Documents\Выставки\Промосайт ЮНИТ-М300\ЮНИТ-М300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36" y="2132856"/>
            <a:ext cx="5184576" cy="402069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2534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ВВЕДЕНИЕ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1344" y="980728"/>
            <a:ext cx="11809312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Автоматизированное формирование эксплуатационной документации: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В процессе разработки МП устройств требуется оперативное и безошибочное сопровождение большого объема (в связи со сложностью и многообразием устройств и функций в составе этих устройств) однотипных данных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Функциональные описания логических схем устройства (дискретные входные и выходные сигналы, уставки)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Аппаратные спецификации устройств (модули входных и выходных сигналов, измерительные модули и пр.).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Ручное сопровождение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таких объемов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данных и формирование на их основе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эксплуатационной документации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Минусом ручного сопровождения является фактор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человеческих ошибок, которые сложно отследить в конечном документе.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решения этой задачи реализована автоматизированная система, которая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Считывает структурированные данные из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спецификаций по функциональным блокам.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Обрабатывает их в соответствии с требованиями нормативной документации.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Генерирует бланки уставок и руководства по эксплуатации в стандартизированной форме.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1344" y="4974129"/>
            <a:ext cx="11809312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algn="ctr">
              <a:spcAft>
                <a:spcPts val="600"/>
              </a:spcAft>
            </a:pPr>
            <a:r>
              <a:rPr lang="ru-RU" sz="24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Данная презентация демонстрирует логику работы решения, организация структуры проекта, его архитектуры и практическую пользу. 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12040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340502"/>
            <a:ext cx="10967786" cy="518484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Структурная схема организации процесса сборки эксплуатационной документации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1. ОБЩАЯ СТРУКТУРНАЯ СХЕМА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10266040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Организация базы данных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2. ОРГАНИЗАЦИЯ БАЗЫ ДАННЫХ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480" y="1268760"/>
            <a:ext cx="9912424" cy="512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738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Система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3. СИСТЕМА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407368" y="1338662"/>
            <a:ext cx="1159328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rgbClr val="202122"/>
                </a:solidFill>
                <a:latin typeface="+mj-lt"/>
              </a:rPr>
              <a:t>LaTeX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  — наиболее популярный набор макрорасширений (или макропакет)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системы компьютерной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верстки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который облегчает набор сложных документов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документации выбран движок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LuaLaTeX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так как он поддерживает кириллические шрифты.</a:t>
            </a:r>
          </a:p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была установлена полная версия пакета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(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около 8 Гб на жестком диске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 редактором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TeXworks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 Работоспособность проверялась на ОС 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Windows (7, 11), Ubuntu.</a:t>
            </a:r>
            <a:endParaRPr lang="en-US" dirty="0">
              <a:latin typeface="+mj-lt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76" y="2815990"/>
            <a:ext cx="7394397" cy="3590995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8256240" y="4085375"/>
            <a:ext cx="309634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 smtClean="0">
                <a:solidFill>
                  <a:srgbClr val="202122"/>
                </a:solidFill>
                <a:latin typeface="+mj-lt"/>
              </a:rPr>
              <a:t>Внешний вид редактора </a:t>
            </a:r>
            <a:r>
              <a:rPr lang="en-US" sz="1600" dirty="0" err="1" smtClean="0">
                <a:solidFill>
                  <a:srgbClr val="202122"/>
                </a:solidFill>
                <a:latin typeface="+mj-lt"/>
              </a:rPr>
              <a:t>TeXworks</a:t>
            </a:r>
            <a:endParaRPr lang="en-US" sz="1600" dirty="0">
              <a:solidFill>
                <a:srgbClr val="20212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29824484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Специализированное ПО </a:t>
            </a:r>
            <a:r>
              <a:rPr lang="ru-RU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автоматизации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616" y="2237981"/>
            <a:ext cx="7248501" cy="4226808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4. СПЕЦИАЛИЗИРОВАННОЕ по для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07368" y="1338662"/>
            <a:ext cx="11593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автоматизированного обновления данных в документе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потребовалась разработка специального программного обеспечения, которое загружает файлы базы данных и обновляет в соответствии с ними таблицы в документации. Дополнительно на основании тех же данных ПО может создавать бланки уставок для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устройства в формате 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doc(x)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9355039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Возможности ПО </a:t>
            </a:r>
            <a:r>
              <a:rPr lang="ru-RU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автоматизации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5. ВОЗМОЖНОСТИ по для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07368" y="1338662"/>
            <a:ext cx="11593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Автоматизированная сборка бланка уставок предоставляет дополнительные удобства при работе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:</a:t>
            </a:r>
          </a:p>
          <a:p>
            <a:pPr marL="342900" indent="-342900">
              <a:buAutoNum type="arabicPeriod"/>
            </a:pPr>
            <a:r>
              <a:rPr lang="ru-RU" dirty="0" smtClean="0">
                <a:solidFill>
                  <a:srgbClr val="202122"/>
                </a:solidFill>
                <a:latin typeface="+mj-lt"/>
              </a:rPr>
              <a:t>Автоматическое заполнение полей бланка уставок (колонтитулы, версии). </a:t>
            </a:r>
          </a:p>
          <a:p>
            <a:pPr marL="342900" indent="-342900">
              <a:buAutoNum type="arabicPeriod"/>
            </a:pPr>
            <a:r>
              <a:rPr lang="ru-RU" dirty="0" smtClean="0">
                <a:solidFill>
                  <a:srgbClr val="202122"/>
                </a:solidFill>
                <a:latin typeface="+mj-lt"/>
              </a:rPr>
              <a:t>Возможность собрать все сигналы конкретного устройства и вывести их в выпадающий список.</a:t>
            </a:r>
            <a:endParaRPr lang="en-US" dirty="0">
              <a:latin typeface="+mj-lt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640" y="2261992"/>
            <a:ext cx="9091009" cy="404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73728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err="1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968468"/>
              </p:ext>
            </p:extLst>
          </p:nvPr>
        </p:nvGraphicFramePr>
        <p:xfrm>
          <a:off x="191344" y="1386677"/>
          <a:ext cx="11809312" cy="4861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2688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5616624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64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 в ОС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(Ubuntu)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Получаемый файл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абсолютно идентичен вне зависимости от операционной системы.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Достаточно высокий порог вхождения, что впрочем, компенсируется уже наработанным шаблоном для оформления РЭ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подробной документацией онлайн и систем ИИ (которые обладают достаточно глубокими знаниями по данному продукту).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Современный вид получаемой документации. (Система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была разработана специально для верстки научных книг, то есть обладает инструментами для отображения формул, правильным переносом длинных таблиц по ГОСТу и пр.).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Трудности в получении редактируемого файла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WORD.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Сам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поддерживает прямую генерацию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документа в формат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WORD)</a:t>
                      </a:r>
                      <a:r>
                        <a:rPr lang="ru-RU" sz="1400" b="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Простота вставки векторных рисунков в РЭ (можно вставлять прямо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рисунки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который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могут быть получены из различных систем создания векторной графики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Autocad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Visio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пр.).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имеет данной возможности.</a:t>
                      </a:r>
                      <a:endParaRPr lang="en-US" sz="14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отличии от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этот редактор не является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 есть документ должен быть собран, перед тем как увидеть изменения.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465596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Возможность </a:t>
                      </a:r>
                      <a:r>
                        <a:rPr lang="ru-RU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переиспользования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одной уже описанной функции в разных РЭ (например, функции КРВ,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ЗОП,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имеют одинаковое описание для разных устройств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). Это актуально при формировании ЭД на типовые решения ШЭТ/ОЭТ.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456709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Легкость автоматизации (так как документ написан в текстовом формате, его легко править автоматизированным путем).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Сложность работы с таблицами. Данный недостаток нивелируется автоматизированным заполнением таблиц  РЭ и БУ посредством разработанного ПО.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6336841"/>
                  </a:ext>
                </a:extLst>
              </a:tr>
              <a:tr h="788851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требуется какого-либо дополнительного ПО для редактирования файлов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принципе, достаточно простого текстового редактора, типа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notepad++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 подсветкой синтаксиса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21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0604859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WORD.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071215"/>
              </p:ext>
            </p:extLst>
          </p:nvPr>
        </p:nvGraphicFramePr>
        <p:xfrm>
          <a:off x="191344" y="1386677"/>
          <a:ext cx="11809312" cy="42192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592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6480720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73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464796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Достаточная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простота работы 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низкий порог вхождения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только в ОС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Windows.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Хотя для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есть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OpenOffice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но это немного уже другое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5616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Визуальный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редактор, т.е.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Что вижу, то и получаю.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Чрезвычайно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усложненный процесс вставки рисунков, приходится вставлять в растровом формате, что утяжеляет документ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и затрудняет работу с ним.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464796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Необходимость правки одинаковых функций в каждом руководстве по эксплуатации, если было внесено какое-либо изменение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847570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Трудность автоматизации (невозможность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вставки перекрестных ссылок автоматизированным путем, что практически сразу перечеркивает возможность его применения для целей автоматизации руководства по эксплуатации. Для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бланка уставок это некритично.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489089"/>
                  </a:ext>
                </a:extLst>
              </a:tr>
              <a:tr h="1230343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Невозможность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следования некоторым требованиям ГОСТ по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оформлению, например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может перенести таблицу на другую страницу и при этом вверху указать , что это продолжение таблицы. Требование, впрочем, не критичное. Влияет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на общее восприятие документа (смогли или нет выполнить). </a:t>
                      </a: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Также не возможно правильно выставить колонтитулы на листах ландшафтной ориентации. 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494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710610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980728"/>
            <a:ext cx="1180931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Требования к создаваемому ПО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Работа в ОС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Linux.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Низкий порог вхождения, желательно запуск одного исполняемого файла и нажатие одной кнопки для достижения результата.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Масштабируемость (возможность создать на основе существующего кода дополнительный функционал – например, создать отчет по назначению сигналов протокола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GOOSE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внутренние сигналы устройства, на данный момент не требуется, но может понадобиться в будущем).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Применение открытых бесплатных библиотек.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Требования к специализированному по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522675467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3088" y="1916832"/>
            <a:ext cx="3501008" cy="350100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Программное обеспечение для автоматизированной генерации отчетов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763284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создания программного обеспечения был выбран язык программирования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 было обусловлено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Низким порогом входа в данный язык программирования (в отличии от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например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Быстротой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(можно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 тестировать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алгоритмы)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Широким распространением и, следовательно, наличием огромного множества различных бесплатных библиотек, необходимых для работы с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pdf, txt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json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Простотой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интеграции - с базами данных,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веб-интерфейсами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Хорошая (относительно)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производительность -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выполнения поставленных задач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Запуск кода в системах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Ubuntu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без внесения каких либо изменений в код.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ПРОТОТИПИРОВАНИЕ ЗАДАЧИ НА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PYTHON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6977467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Сочетание 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добавляет возможности для улучшения внешнего вида эксплуатационной документации. Например, возможность форматирования вывода чисел в бланках уставок и таблицах РЭ. То есть, выводить количество нулей в диапазонах уставок именно таким, каким задан шаг для конкретной уставки.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2636912"/>
            <a:ext cx="10561091" cy="2629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92" y="5265936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Понятно, что вручную приводить к этому виду два разных документа (БУ и РЭ) с практически одной и той же информацией никто не будет. Из-за того, что для формирования этих документов используется один источник 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 все обозначения сигналов, уставок будут ОДИНАКОВЫМИ в обоих документах</a:t>
            </a: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7313003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1513636"/>
            <a:ext cx="1123324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Профессиональная система вёрстки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оставаясь при этом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open-source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бесплатной, избавляет пользователя от необходимости заботиться о внешнем виде документа, поскольку решает эти задачи автоматически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без лишних проблем решает требование ГОСТ о заголовках продолжения таблиц на следующей странице. </a:t>
            </a: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3212976"/>
            <a:ext cx="11246693" cy="306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522806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9376" y="836712"/>
            <a:ext cx="11233248" cy="689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еще примера - вывод формул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Возможно, это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мелочи, но именно из таких вот мелочей и складывается общее впечатление о документе, устройстве и его разработчиках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536" y="1242268"/>
            <a:ext cx="8136904" cy="414000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2207568" y="5220169"/>
            <a:ext cx="309634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Внешний вид 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листа с формулами документа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Word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6691887" y="5220169"/>
            <a:ext cx="309634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Внешний вид 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листа с формулами документа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PDF 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LaTeX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64885460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Взаимодействие с ОП Чебоксары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ОП Чебоксары предоставляет следующие данные, которые требуются для разработки РЭ и БУ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(включают в себя полное описание функционального блока, а именно – функциональный состав, входы и выходы функций, а также уставки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16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Данные для текстового описания функций берутся из 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корпоративного 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портала 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Confluence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16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ТЕКУЩЕЕ ВЗАИМОДЕЙСТВИЕ С ОП ЧЕБОКСАРЫ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9472" y="2494628"/>
            <a:ext cx="7104112" cy="3426689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09" y="2507596"/>
            <a:ext cx="3941995" cy="296014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901884" y="5868024"/>
            <a:ext cx="388843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Функциональные блоки в формате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.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xslx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. 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Основная база для разработки ЭД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7320136" y="5844852"/>
            <a:ext cx="388843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Пример описания функционального блока ДЗТ из портала 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Confulence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 в окне браузера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812248677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Требуемые данные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395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XLSX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(по аналогии с ОПЧ).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RTF, TXT, DOCX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документы с текстовым описанием разработанных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функций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описание будет переводится в разметку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DWG(DXF),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</a:rPr>
              <a:t>SVG, PDF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(желательно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векторный)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–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рисунков (схем логики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будет достаточно для создания руководств по эксплуатации и бланков уставок. 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Примечание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JSON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формат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данных для описания функций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допустим, но потребует доработки ПО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</a:rPr>
              <a:t>VSDx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для рисунков допустим, но потребует времени на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адаптацию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ПЛАНИРУЕМОЕ ВЗАИМОДЕЙСТВИЕ ДЛЯ РАЗРАБОТКИ РЭ, БУ М500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076084346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Альтернативы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возможных альтернатив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 применение следующих систем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DITA, 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DocBook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AsciiDoc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АЛЬТЕРНАТИВЫ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Общий обзор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161600"/>
              </p:ext>
            </p:extLst>
          </p:nvPr>
        </p:nvGraphicFramePr>
        <p:xfrm>
          <a:off x="461372" y="1799710"/>
          <a:ext cx="11269255" cy="4592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204">
                  <a:extLst>
                    <a:ext uri="{9D8B030D-6E8A-4147-A177-3AD203B41FA5}">
                      <a16:colId xmlns:a16="http://schemas.microsoft.com/office/drawing/2014/main" val="1447107596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909189492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527849958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1444204663"/>
                    </a:ext>
                  </a:extLst>
                </a:gridCol>
                <a:gridCol w="2322259">
                  <a:extLst>
                    <a:ext uri="{9D8B030D-6E8A-4147-A177-3AD203B41FA5}">
                      <a16:colId xmlns:a16="http://schemas.microsoft.com/office/drawing/2014/main" val="528427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ПО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/>
                        <a:t>LaTeX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DITA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/>
                        <a:t>DocBook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/>
                        <a:t>AsciiDoc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3797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Лицензия</a:t>
                      </a:r>
                      <a:endParaRPr lang="ru-RU" sz="14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Бесплатный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Бесплатный стандарт, платные инструменты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Бесплатный стандарт, платные инструменты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Бесплатный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61276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Движок обработки</a:t>
                      </a:r>
                      <a:endParaRPr lang="ru-RU" sz="14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effectLst/>
                        </a:rPr>
                        <a:t>pdflatex</a:t>
                      </a:r>
                      <a:r>
                        <a:rPr lang="en-US" sz="1400" dirty="0">
                          <a:effectLst/>
                        </a:rPr>
                        <a:t>, </a:t>
                      </a:r>
                      <a:r>
                        <a:rPr lang="en-US" sz="1400" dirty="0" err="1">
                          <a:effectLst/>
                        </a:rPr>
                        <a:t>xelatex</a:t>
                      </a:r>
                      <a:endParaRPr lang="en-US" sz="1400" dirty="0">
                        <a:effectLst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DITA-OT (</a:t>
                      </a:r>
                      <a:r>
                        <a:rPr lang="ru-RU" sz="1400" dirty="0">
                          <a:effectLst/>
                        </a:rPr>
                        <a:t>бесплатный)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xsltproc, pandoc (</a:t>
                      </a:r>
                      <a:r>
                        <a:rPr lang="ru-RU" sz="1400">
                          <a:effectLst/>
                        </a:rPr>
                        <a:t>бесплатные)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effectLst/>
                        </a:rPr>
                        <a:t>Asciidoctor</a:t>
                      </a:r>
                      <a:r>
                        <a:rPr lang="en-US" sz="1400" dirty="0">
                          <a:effectLst/>
                        </a:rPr>
                        <a:t> (</a:t>
                      </a:r>
                      <a:r>
                        <a:rPr lang="ru-RU" sz="1400" dirty="0">
                          <a:effectLst/>
                        </a:rPr>
                        <a:t>бесплатный)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157894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Редакторы</a:t>
                      </a:r>
                      <a:endParaRPr lang="ru-RU" sz="14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effectLst/>
                        </a:rPr>
                        <a:t>TeXstudio</a:t>
                      </a:r>
                      <a:r>
                        <a:rPr lang="en-US" sz="1400" dirty="0">
                          <a:effectLst/>
                        </a:rPr>
                        <a:t>, VS Code (</a:t>
                      </a:r>
                      <a:r>
                        <a:rPr lang="ru-RU" sz="1400" dirty="0">
                          <a:effectLst/>
                        </a:rPr>
                        <a:t>бесплатные)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Oxygen XML (платный), VS Code (бесплатный)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Oxygen XML (платный), VS Code (бесплатный)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VS </a:t>
                      </a:r>
                      <a:r>
                        <a:rPr lang="ru-RU" sz="1400" dirty="0" err="1">
                          <a:effectLst/>
                        </a:rPr>
                        <a:t>Code</a:t>
                      </a:r>
                      <a:r>
                        <a:rPr lang="ru-RU" sz="1400" dirty="0">
                          <a:effectLst/>
                        </a:rPr>
                        <a:t>, любые текстовые редакторы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33361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Сложность изучения</a:t>
                      </a:r>
                      <a:endParaRPr lang="ru-RU" sz="14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Средняя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11099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Работа с формулами</a:t>
                      </a:r>
                      <a:endParaRPr lang="ru-RU" sz="14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Отличная</a:t>
                      </a:r>
                      <a:r>
                        <a:rPr lang="ru-RU" sz="1400" dirty="0">
                          <a:effectLst/>
                        </a:rPr>
                        <a:t> (</a:t>
                      </a:r>
                      <a:r>
                        <a:rPr lang="ru-RU" sz="1400" dirty="0" err="1">
                          <a:effectLst/>
                        </a:rPr>
                        <a:t>нативный</a:t>
                      </a:r>
                      <a:r>
                        <a:rPr lang="ru-RU" sz="1400" dirty="0">
                          <a:effectLst/>
                        </a:rPr>
                        <a:t> синтаксис)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Хорошая</a:t>
                      </a:r>
                      <a:r>
                        <a:rPr lang="ru-RU" sz="1400" dirty="0">
                          <a:effectLst/>
                        </a:rPr>
                        <a:t> (</a:t>
                      </a:r>
                      <a:r>
                        <a:rPr lang="ru-RU" sz="1400" dirty="0" err="1">
                          <a:effectLst/>
                        </a:rPr>
                        <a:t>MathML</a:t>
                      </a:r>
                      <a:r>
                        <a:rPr lang="ru-RU" sz="1400" dirty="0">
                          <a:effectLst/>
                        </a:rPr>
                        <a:t>, </a:t>
                      </a:r>
                      <a:r>
                        <a:rPr lang="ru-RU" sz="1400" dirty="0" err="1">
                          <a:effectLst/>
                        </a:rPr>
                        <a:t>LaTeX</a:t>
                      </a:r>
                      <a:r>
                        <a:rPr lang="ru-RU" sz="1400" dirty="0">
                          <a:effectLst/>
                        </a:rPr>
                        <a:t> через конвертацию)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Хорошая</a:t>
                      </a:r>
                      <a:r>
                        <a:rPr lang="ru-RU" sz="1400" dirty="0">
                          <a:effectLst/>
                        </a:rPr>
                        <a:t> (</a:t>
                      </a:r>
                      <a:r>
                        <a:rPr lang="en-US" sz="1400" dirty="0">
                          <a:effectLst/>
                        </a:rPr>
                        <a:t>MathML, </a:t>
                      </a:r>
                      <a:r>
                        <a:rPr lang="en-US" sz="1400" dirty="0" err="1">
                          <a:effectLst/>
                        </a:rPr>
                        <a:t>LaTeX</a:t>
                      </a:r>
                      <a:r>
                        <a:rPr lang="en-US" sz="1400" dirty="0">
                          <a:effectLst/>
                        </a:rPr>
                        <a:t>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Очень хорошая</a:t>
                      </a:r>
                      <a:r>
                        <a:rPr lang="ru-RU" sz="1400" dirty="0">
                          <a:effectLst/>
                        </a:rPr>
                        <a:t> (поддержка </a:t>
                      </a:r>
                      <a:r>
                        <a:rPr lang="ru-RU" sz="1400" dirty="0" err="1">
                          <a:effectLst/>
                        </a:rPr>
                        <a:t>LaTeX</a:t>
                      </a:r>
                      <a:r>
                        <a:rPr lang="ru-RU" sz="1400" dirty="0">
                          <a:effectLst/>
                        </a:rPr>
                        <a:t>, </a:t>
                      </a:r>
                      <a:r>
                        <a:rPr lang="ru-RU" sz="1400" dirty="0" err="1">
                          <a:effectLst/>
                        </a:rPr>
                        <a:t>AsciiMath</a:t>
                      </a:r>
                      <a:r>
                        <a:rPr lang="ru-RU" sz="1400" dirty="0">
                          <a:effectLst/>
                        </a:rPr>
                        <a:t>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377270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Работа с длинными таблицами</a:t>
                      </a:r>
                      <a:endParaRPr lang="ru-RU" sz="14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Отличная</a:t>
                      </a:r>
                      <a:r>
                        <a:rPr lang="ru-RU" sz="1400">
                          <a:effectLst/>
                        </a:rPr>
                        <a:t> (</a:t>
                      </a:r>
                      <a:r>
                        <a:rPr lang="en-US" sz="1400">
                          <a:effectLst/>
                        </a:rPr>
                        <a:t>longtable, xltabular)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Средняя</a:t>
                      </a:r>
                      <a:r>
                        <a:rPr lang="ru-RU" sz="1400">
                          <a:effectLst/>
                        </a:rPr>
                        <a:t> (требует ручной разметки)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Хорошая</a:t>
                      </a:r>
                      <a:r>
                        <a:rPr lang="ru-RU" sz="1400">
                          <a:effectLst/>
                        </a:rPr>
                        <a:t> (</a:t>
                      </a:r>
                      <a:r>
                        <a:rPr lang="en-US" sz="1400">
                          <a:effectLst/>
                        </a:rPr>
                        <a:t>HTML-</a:t>
                      </a:r>
                      <a:r>
                        <a:rPr lang="ru-RU" sz="1400">
                          <a:effectLst/>
                        </a:rPr>
                        <a:t>подобные таблицы)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Хорошая</a:t>
                      </a:r>
                      <a:r>
                        <a:rPr lang="ru-RU" sz="1400" dirty="0">
                          <a:effectLst/>
                        </a:rPr>
                        <a:t> (поддержка сложных таблиц)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2428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 smtClean="0"/>
                        <a:t>Обычное применение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Для научных публикаций с сложными формулами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Для корпоративной документации (если нужны </a:t>
                      </a:r>
                      <a:r>
                        <a:rPr lang="ru-RU" sz="14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переиспользование</a:t>
                      </a:r>
                      <a:r>
                        <a:rPr lang="ru-RU" sz="14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и управление контентом)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Для технической документации с формулами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Для корпоративной документации (если важна простота написания и читаемость исходника)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0104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0576977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Альтернативы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29392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Для серьезных корпоративных решений применяются так называемые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“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Системы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управления компонентным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контентом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” (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CCMS). 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В большинстве своем это платные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системы (</a:t>
            </a:r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+mj-lt"/>
              </a:rPr>
              <a:t>Ixiasoft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,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SDL </a:t>
            </a:r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+mj-lt"/>
              </a:rPr>
              <a:t>Tridion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Docs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, </a:t>
            </a:r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+mj-lt"/>
              </a:rPr>
              <a:t>Vasont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Paligo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 – иностранные продукты без российской поддержки), но есть и открытые решения (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DITA CMS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).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j-lt"/>
            </a:endParaRPr>
          </a:p>
          <a:p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Предлагается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в будущем оценить плюсы и минусы перехода на следующие наборы компонентов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:</a:t>
            </a:r>
            <a:endParaRPr lang="ru-RU" b="1" dirty="0">
              <a:solidFill>
                <a:schemeClr val="tx2">
                  <a:lumMod val="75000"/>
                </a:schemeClr>
              </a:solidFill>
              <a:latin typeface="+mj-lt"/>
            </a:endParaRPr>
          </a:p>
          <a:p>
            <a:pPr marL="342900" indent="-342900">
              <a:buAutoNum type="arabicPeriod"/>
            </a:pP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DITA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с редактором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XML Oxygen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(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е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сть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возможность редактирования как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WYSIWYG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).</a:t>
            </a:r>
          </a:p>
          <a:p>
            <a:pPr marL="342900" indent="-342900">
              <a:buAutoNum type="arabicPeriod"/>
            </a:pPr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+mj-lt"/>
              </a:rPr>
              <a:t>AsciiDoc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, в качестве редактора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VS Code</a:t>
            </a:r>
          </a:p>
          <a:p>
            <a:pPr marL="342900" indent="-342900">
              <a:buAutoNum type="arabicPeriod"/>
            </a:pPr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+mj-lt"/>
              </a:rPr>
              <a:t>DocBook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с редактором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XML Oxygen</a:t>
            </a:r>
            <a:endParaRPr lang="ru-RU" b="1" dirty="0">
              <a:solidFill>
                <a:schemeClr val="tx2">
                  <a:lumMod val="75000"/>
                </a:schemeClr>
              </a:solidFill>
              <a:latin typeface="+mj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j-lt"/>
            </a:endParaRPr>
          </a:p>
          <a:p>
            <a:pPr>
              <a:spcAft>
                <a:spcPts val="600"/>
              </a:spcAft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АЛЬТЕРНАТИВЫ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LATEX. CCMS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. Перспективное развитие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456569076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>
                <a:solidFill>
                  <a:prstClr val="white"/>
                </a:solidFill>
                <a:latin typeface="Arial Narrow"/>
              </a:rPr>
              <a:t>ПРЕДЛАГАЕМАЯ КОНЦЕПЦИЯ МОДЕЛИ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УСТРОЙСТВА ДЛЯ ДАЛЬНЕЙШЕЙ РАЗРАБОТКИ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9936" y="1340503"/>
            <a:ext cx="6606044" cy="51642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Укрупненная диаграмма классов для разработки ПО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9356" y="1340503"/>
            <a:ext cx="5171195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устройства достаточно собрать объект классов Аппаратная часть (класс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“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Аппаратка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”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 и Программная часть (класс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“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Софт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”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То есть, фактически необходим только КОД ЗАКАЗА устройства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и, естественно, заполненная база данных с инфо по модулям и функциональным блокам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код заказа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en-US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ЮНИТ-М314-ДЗТ2-Р02с-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x-K002-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-B021-B0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0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1-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ab00-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х-С01.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-2.1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Из этого кода заказа получаем список модулей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[‘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Р02с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‘K002’, ‘B021’,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В001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ab00’,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a0’]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аппаратной части и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получаем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версию ФСУ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ДЗТ2-2.1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 зная версию ФСУ из БД мы получим ее функциональный состав.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Теперь есть возможность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создать объект Устройство и передать его в класс Руководство по эксплуатации. </a:t>
            </a:r>
          </a:p>
          <a:p>
            <a:pPr marL="0" indent="0">
              <a:buNone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4505152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511085" y="2923765"/>
            <a:ext cx="2880320" cy="1296144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/>
              <a:t>Производство г</a:t>
            </a:r>
            <a:r>
              <a:rPr lang="ru-RU" sz="1800" b="1" cap="none" dirty="0" smtClean="0"/>
              <a:t>. Москва</a:t>
            </a:r>
            <a:r>
              <a:rPr lang="ru-RU" sz="1800" b="1" cap="none" dirty="0">
                <a:latin typeface="+mn-lt"/>
              </a:rPr>
              <a:t>: </a:t>
            </a:r>
          </a:p>
          <a:p>
            <a:pPr>
              <a:defRPr/>
            </a:pPr>
            <a:r>
              <a:rPr lang="ru-RU" sz="1200" cap="none" dirty="0"/>
              <a:t>111024, Москва, ул. 2-ая Кабельная д.2 стр.1,</a:t>
            </a:r>
            <a:br>
              <a:rPr lang="ru-RU" sz="1200" cap="none" dirty="0"/>
            </a:br>
            <a:r>
              <a:rPr lang="ru-RU" sz="1200" cap="none" dirty="0"/>
              <a:t>Территория </a:t>
            </a:r>
            <a:r>
              <a:rPr lang="ru-RU" sz="1200" cap="none" dirty="0">
                <a:latin typeface="+mn-lt"/>
              </a:rPr>
              <a:t>завода</a:t>
            </a:r>
            <a:r>
              <a:rPr lang="ru-RU" sz="1200" cap="none" dirty="0"/>
              <a:t> МКМ </a:t>
            </a:r>
            <a:br>
              <a:rPr lang="ru-RU" sz="1200" cap="none" dirty="0"/>
            </a:br>
            <a:r>
              <a:rPr lang="ru-RU" sz="1200" cap="none" dirty="0"/>
              <a:t>Телефон: +7 (495) 651-99-98</a:t>
            </a:r>
            <a:br>
              <a:rPr lang="ru-RU" sz="1200" cap="none" dirty="0"/>
            </a:br>
            <a:r>
              <a:rPr lang="ru-RU" sz="1200" cap="none" dirty="0" err="1"/>
              <a:t>E-mail</a:t>
            </a:r>
            <a:r>
              <a:rPr lang="ru-RU" sz="1200" cap="none" dirty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/>
          </a:p>
          <a:p>
            <a:pPr>
              <a:defRPr/>
            </a:pPr>
            <a:endParaRPr lang="ru-RU" sz="1200" cap="none" dirty="0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511085" y="1412776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>
                <a:latin typeface="+mn-lt"/>
              </a:rPr>
              <a:t>Офис: </a:t>
            </a:r>
          </a:p>
          <a:p>
            <a:pPr>
              <a:defRPr/>
            </a:pPr>
            <a:r>
              <a:rPr lang="ru-RU" sz="1200" cap="none" dirty="0">
                <a:latin typeface="+mn-lt"/>
              </a:rPr>
              <a:t>111024, Москва, ул. 2-ая Кабельная д.2 стр.1,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Территория завода МКМ 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Телефон: +7 (495) 651-99-98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E-</a:t>
            </a:r>
            <a:r>
              <a:rPr lang="ru-RU" sz="1200" cap="none" dirty="0" err="1">
                <a:latin typeface="+mn-lt"/>
              </a:rPr>
              <a:t>mail</a:t>
            </a:r>
            <a:r>
              <a:rPr lang="ru-RU" sz="1200" cap="none" dirty="0">
                <a:latin typeface="+mn-lt"/>
              </a:rPr>
              <a:t>: info@uni-eng.ru</a:t>
            </a:r>
            <a:endParaRPr lang="ru-RU" sz="2400" cap="none" dirty="0">
              <a:latin typeface="+mn-lt"/>
            </a:endParaRPr>
          </a:p>
        </p:txBody>
      </p:sp>
      <p:pic>
        <p:nvPicPr>
          <p:cNvPr id="3075" name="Picture 3" descr="C:\Users\a.sofiysky\Desktop\ПРезентация\qrcode (1)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16080" y="1268760"/>
            <a:ext cx="5040560" cy="4320480"/>
          </a:xfrm>
          <a:prstGeom prst="rect">
            <a:avLst/>
          </a:prstGeom>
          <a:noFill/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495533" y="4437112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 smtClean="0">
                <a:latin typeface="+mn-lt"/>
              </a:rPr>
              <a:t>Производство г. Чебоксары: </a:t>
            </a:r>
          </a:p>
          <a:p>
            <a:pPr>
              <a:defRPr/>
            </a:pPr>
            <a:r>
              <a:rPr lang="ru-RU" sz="1200" cap="none" dirty="0" smtClean="0"/>
              <a:t>428019, </a:t>
            </a:r>
            <a:r>
              <a:rPr lang="ru-RU" sz="1200" cap="none" dirty="0" smtClean="0">
                <a:latin typeface="+mn-lt"/>
              </a:rPr>
              <a:t>Чебоксары</a:t>
            </a:r>
            <a:r>
              <a:rPr lang="ru-RU" sz="1200" cap="none" dirty="0" smtClean="0"/>
              <a:t>, ул. Пристанционная, д. 1</a:t>
            </a:r>
          </a:p>
          <a:p>
            <a:pPr>
              <a:defRPr/>
            </a:pPr>
            <a:r>
              <a:rPr lang="ru-RU" sz="1200" cap="none" dirty="0" smtClean="0"/>
              <a:t>Телефон: +7 (495) 651-99-98</a:t>
            </a:r>
            <a:br>
              <a:rPr lang="ru-RU" sz="1200" cap="none" dirty="0" smtClean="0"/>
            </a:br>
            <a:r>
              <a:rPr lang="ru-RU" sz="1200" cap="none" dirty="0" err="1" smtClean="0"/>
              <a:t>E-mail</a:t>
            </a:r>
            <a:r>
              <a:rPr lang="ru-RU" sz="1200" cap="none" dirty="0" smtClean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>
              <a:latin typeface="+mn-lt"/>
            </a:endParaRPr>
          </a:p>
          <a:p>
            <a:pPr>
              <a:defRPr/>
            </a:pPr>
            <a:endParaRPr lang="ru-RU" sz="2400" cap="none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ЮНИТЕЛ-2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Горизонт">
      <a:maj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ЮНИТЕЛ-2</Template>
  <TotalTime>90354</TotalTime>
  <Words>1967</Words>
  <Application>Microsoft Office PowerPoint</Application>
  <PresentationFormat>Широкоэкранный</PresentationFormat>
  <Paragraphs>192</Paragraphs>
  <Slides>20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4" baseType="lpstr">
      <vt:lpstr>Arial</vt:lpstr>
      <vt:lpstr>Arial Narrow</vt:lpstr>
      <vt:lpstr>Calibri</vt:lpstr>
      <vt:lpstr>ЮНИТЕЛ-2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Designer1</dc:creator>
  <cp:lastModifiedBy>Лубов Григорий</cp:lastModifiedBy>
  <cp:revision>3342</cp:revision>
  <cp:lastPrinted>2018-07-20T14:32:00Z</cp:lastPrinted>
  <dcterms:created xsi:type="dcterms:W3CDTF">2012-08-24T07:28:38Z</dcterms:created>
  <dcterms:modified xsi:type="dcterms:W3CDTF">2025-10-14T13:34:26Z</dcterms:modified>
</cp:coreProperties>
</file>