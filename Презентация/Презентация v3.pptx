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2"/>
  </p:notesMasterIdLst>
  <p:handoutMasterIdLst>
    <p:handoutMasterId r:id="rId23"/>
  </p:handoutMasterIdLst>
  <p:sldIdLst>
    <p:sldId id="265" r:id="rId2"/>
    <p:sldId id="638" r:id="rId3"/>
    <p:sldId id="643" r:id="rId4"/>
    <p:sldId id="656" r:id="rId5"/>
    <p:sldId id="657" r:id="rId6"/>
    <p:sldId id="648" r:id="rId7"/>
    <p:sldId id="659" r:id="rId8"/>
    <p:sldId id="644" r:id="rId9"/>
    <p:sldId id="658" r:id="rId10"/>
    <p:sldId id="649" r:id="rId11"/>
    <p:sldId id="646" r:id="rId12"/>
    <p:sldId id="652" r:id="rId13"/>
    <p:sldId id="654" r:id="rId14"/>
    <p:sldId id="653" r:id="rId15"/>
    <p:sldId id="650" r:id="rId16"/>
    <p:sldId id="651" r:id="rId17"/>
    <p:sldId id="660" r:id="rId18"/>
    <p:sldId id="661" r:id="rId19"/>
    <p:sldId id="655" r:id="rId20"/>
    <p:sldId id="284" r:id="rId21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14.10.2025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14.10.2025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таких объемов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и формирование на их основе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эксплуатационной документации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Минусом ручного сопровождения является фактор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человеческих ошибок, которые сложно отследить в конечном документе.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устройства в формате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doc(x)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5. ВОЗМОЖНОСТИ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Автоматизированная сборка бланка уставок предоставляет дополнительные удобства при работе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: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Автоматическое заполнение полей бланка уставок (колонтитулы, версии). 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Возможность собрать все сигналы конкретного устройства и вывести их в выпадающий список.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261992"/>
            <a:ext cx="9091009" cy="40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72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68468"/>
              </p:ext>
            </p:extLst>
          </p:nvPr>
        </p:nvGraphicFramePr>
        <p:xfrm>
          <a:off x="191344" y="1386677"/>
          <a:ext cx="11809312" cy="486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2688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рисунки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могут быть получены из различных систем создания векторной графики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Autocad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Visio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пр.).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ЗОП,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имеют одинаковое описание для разных устройств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Это актуально при формировании ЭД на типовые решения ШЭТ/ОЭТ.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 (возможность создать на основе существующего кода дополнительный функционал – например, создать отчет по назначению сигналов протокола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GOOSE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внутренние сигналы устройства, на данный момент не требуется, но может понадобиться в будущем).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Требования к специализированному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9376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Возможно, это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36" y="1242268"/>
            <a:ext cx="8136904" cy="41400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207568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Word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691887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PDF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LaTeX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корпоративного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портала 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472" y="2494628"/>
            <a:ext cx="7104112" cy="342668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09" y="2507596"/>
            <a:ext cx="3941995" cy="296014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901884" y="5868024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Функциональные блоки в формате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xslx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Основная база для разработки ЭД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320136" y="5844852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Пример описания функционального блока ДЗТ из портала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Confulence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 в окне браузера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</a:rPr>
              <a:t>VSDx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адаптацию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возможных альтернатив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существуют следующие системы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DITA, 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DocBook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AsciiDoc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Общий обзор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161600"/>
              </p:ext>
            </p:extLst>
          </p:nvPr>
        </p:nvGraphicFramePr>
        <p:xfrm>
          <a:off x="461372" y="1799710"/>
          <a:ext cx="11269255" cy="459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204">
                  <a:extLst>
                    <a:ext uri="{9D8B030D-6E8A-4147-A177-3AD203B41FA5}">
                      <a16:colId xmlns:a16="http://schemas.microsoft.com/office/drawing/2014/main" val="1447107596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909189492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527849958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444204663"/>
                    </a:ext>
                  </a:extLst>
                </a:gridCol>
                <a:gridCol w="2322259">
                  <a:extLst>
                    <a:ext uri="{9D8B030D-6E8A-4147-A177-3AD203B41FA5}">
                      <a16:colId xmlns:a16="http://schemas.microsoft.com/office/drawing/2014/main" val="528427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ПО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LaTeX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DITA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DocBook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AsciiDoc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797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Лицензия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 стандарт, 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Бесплатный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1276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Движок обработки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pdflatex</a:t>
                      </a:r>
                      <a:r>
                        <a:rPr lang="en-US" sz="1400" dirty="0">
                          <a:effectLst/>
                        </a:rPr>
                        <a:t>, </a:t>
                      </a:r>
                      <a:r>
                        <a:rPr lang="en-US" sz="1400" dirty="0" err="1">
                          <a:effectLst/>
                        </a:rPr>
                        <a:t>xelatex</a:t>
                      </a:r>
                      <a:endParaRPr lang="en-US" sz="1400" dirty="0"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DITA-OT (</a:t>
                      </a:r>
                      <a:r>
                        <a:rPr lang="ru-RU" sz="1400" dirty="0">
                          <a:effectLst/>
                        </a:rPr>
                        <a:t>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xsltproc, pandoc (</a:t>
                      </a:r>
                      <a:r>
                        <a:rPr lang="ru-RU" sz="140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Asciidoctor</a:t>
                      </a:r>
                      <a:r>
                        <a:rPr lang="en-US" sz="1400" dirty="0">
                          <a:effectLst/>
                        </a:rPr>
                        <a:t> (</a:t>
                      </a:r>
                      <a:r>
                        <a:rPr lang="ru-RU" sz="1400" dirty="0">
                          <a:effectLst/>
                        </a:rPr>
                        <a:t>бесплатный)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578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Редакторы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effectLst/>
                        </a:rPr>
                        <a:t>TeXstudio</a:t>
                      </a:r>
                      <a:r>
                        <a:rPr lang="en-US" sz="1400" dirty="0">
                          <a:effectLst/>
                        </a:rPr>
                        <a:t>, VS Code (</a:t>
                      </a:r>
                      <a:r>
                        <a:rPr lang="ru-RU" sz="14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Oxygen XML (платный), VS Code (бесплатный)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Oxygen XML (платный), VS Code (бесплатный)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VS </a:t>
                      </a:r>
                      <a:r>
                        <a:rPr lang="ru-RU" sz="1400" dirty="0" err="1">
                          <a:effectLst/>
                        </a:rPr>
                        <a:t>Code</a:t>
                      </a:r>
                      <a:r>
                        <a:rPr lang="ru-RU" sz="1400" dirty="0">
                          <a:effectLst/>
                        </a:rPr>
                        <a:t>, любые текстовые редакторы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361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Сложность изучения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effectLst/>
                        </a:rPr>
                        <a:t>Средняя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109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Работа с формулами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Отличная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ru-RU" sz="1400" dirty="0" err="1">
                          <a:effectLst/>
                        </a:rPr>
                        <a:t>нативный</a:t>
                      </a:r>
                      <a:r>
                        <a:rPr lang="ru-RU" sz="1400" dirty="0"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ru-RU" sz="1400" dirty="0" err="1">
                          <a:effectLst/>
                        </a:rPr>
                        <a:t>MathML</a:t>
                      </a:r>
                      <a:r>
                        <a:rPr lang="ru-RU" sz="1400" dirty="0">
                          <a:effectLst/>
                        </a:rPr>
                        <a:t>, </a:t>
                      </a:r>
                      <a:r>
                        <a:rPr lang="ru-RU" sz="1400" dirty="0" err="1">
                          <a:effectLst/>
                        </a:rPr>
                        <a:t>LaTeX</a:t>
                      </a:r>
                      <a:r>
                        <a:rPr lang="ru-RU" sz="1400" dirty="0">
                          <a:effectLst/>
                        </a:rPr>
                        <a:t> через конвертацию)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</a:t>
                      </a:r>
                      <a:r>
                        <a:rPr lang="en-US" sz="1400" dirty="0">
                          <a:effectLst/>
                        </a:rPr>
                        <a:t>MathML, </a:t>
                      </a:r>
                      <a:r>
                        <a:rPr lang="en-US" sz="1400" dirty="0" err="1">
                          <a:effectLst/>
                        </a:rPr>
                        <a:t>LaTeX</a:t>
                      </a:r>
                      <a:r>
                        <a:rPr lang="en-US" sz="1400" dirty="0"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Очень хорошая</a:t>
                      </a:r>
                      <a:r>
                        <a:rPr lang="ru-RU" sz="1400" dirty="0">
                          <a:effectLst/>
                        </a:rPr>
                        <a:t> (поддержка </a:t>
                      </a:r>
                      <a:r>
                        <a:rPr lang="ru-RU" sz="1400" dirty="0" err="1">
                          <a:effectLst/>
                        </a:rPr>
                        <a:t>LaTeX</a:t>
                      </a:r>
                      <a:r>
                        <a:rPr lang="ru-RU" sz="1400" dirty="0">
                          <a:effectLst/>
                        </a:rPr>
                        <a:t>, </a:t>
                      </a:r>
                      <a:r>
                        <a:rPr lang="ru-RU" sz="1400" dirty="0" err="1">
                          <a:effectLst/>
                        </a:rPr>
                        <a:t>AsciiMath</a:t>
                      </a:r>
                      <a:r>
                        <a:rPr lang="ru-RU" sz="1400" dirty="0">
                          <a:effectLst/>
                        </a:rPr>
                        <a:t>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7727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Работа с длинными таблицами</a:t>
                      </a:r>
                      <a:endParaRPr lang="ru-RU" sz="14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Отличная</a:t>
                      </a:r>
                      <a:r>
                        <a:rPr lang="ru-RU" sz="1400">
                          <a:effectLst/>
                        </a:rPr>
                        <a:t> (</a:t>
                      </a:r>
                      <a:r>
                        <a:rPr lang="en-US" sz="1400">
                          <a:effectLst/>
                        </a:rPr>
                        <a:t>longtable, xltabular)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Средняя</a:t>
                      </a:r>
                      <a:r>
                        <a:rPr lang="ru-RU" sz="1400">
                          <a:effectLst/>
                        </a:rPr>
                        <a:t> (требует ручной разметки)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>
                          <a:effectLst/>
                        </a:rPr>
                        <a:t>Хорошая</a:t>
                      </a:r>
                      <a:r>
                        <a:rPr lang="ru-RU" sz="1400">
                          <a:effectLst/>
                        </a:rPr>
                        <a:t> (</a:t>
                      </a:r>
                      <a:r>
                        <a:rPr lang="en-US" sz="1400">
                          <a:effectLst/>
                        </a:rPr>
                        <a:t>HTML-</a:t>
                      </a:r>
                      <a:r>
                        <a:rPr lang="ru-RU" sz="1400">
                          <a:effectLst/>
                        </a:rPr>
                        <a:t>подобные таблицы)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effectLst/>
                        </a:rPr>
                        <a:t>Хорошая</a:t>
                      </a:r>
                      <a:r>
                        <a:rPr lang="ru-RU" sz="1400" dirty="0">
                          <a:effectLst/>
                        </a:rPr>
                        <a:t> (поддержка сложных таблиц)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2428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b="1" dirty="0" smtClean="0"/>
                        <a:t>Обычное применение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научных публикаций с сложными формулами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корпоративной документации (если нужны </a:t>
                      </a:r>
                      <a:r>
                        <a:rPr lang="ru-RU" sz="14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переиспользование</a:t>
                      </a: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и управление контентом)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технической документации с формулами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Для корпоративной документации (если важна простота написания и читаемость исходника)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0104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057697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Для серьезных корпоративных решений применяются так называемые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Системы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управления компонентным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контентом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” (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CCMS). 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В большинстве своем это платные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системы (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Ixiasoft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SDL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Tridion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Docs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Vasont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,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Paligo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), но есть и открытые решения (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DITA CMS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).</a:t>
            </a:r>
          </a:p>
          <a:p>
            <a:pPr>
              <a:spcAft>
                <a:spcPts val="600"/>
              </a:spcAft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Стоимость и внедрение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Лицензии: от $50,000/год для корпоративных решений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Внедрение: 3-12 месяцев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Обучение команды: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обязательно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Вывод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CCMS — это эволюция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подхода сочетания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LaTeX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 и скриптов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Python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 до промышленного уровня.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Для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поддержки эксплуатационной документации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это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j-lt"/>
              </a:rPr>
              <a:t>означает: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✅ Централизованное хранилище всех компонентов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✅ Визуальный редактор вместо правки XML/</a:t>
            </a:r>
            <a:r>
              <a:rPr lang="ru-RU" b="1" dirty="0" err="1">
                <a:solidFill>
                  <a:schemeClr val="tx2">
                    <a:lumMod val="75000"/>
                  </a:schemeClr>
                </a:solidFill>
                <a:latin typeface="+mj-lt"/>
              </a:rPr>
              <a:t>LaTeX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✅ Автоматическое отслеживание зависимостей</a:t>
            </a:r>
          </a:p>
          <a:p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✅ Готовые отчеты по изменениям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  <a:p>
            <a:pPr>
              <a:spcAft>
                <a:spcPts val="600"/>
              </a:spcAft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CCMS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45656907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Аппаратка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 и Программная часть (класс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“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Софт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”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код заказа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ab00’,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Теперь есть возможность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90216</TotalTime>
  <Words>1985</Words>
  <Application>Microsoft Office PowerPoint</Application>
  <PresentationFormat>Широкоэкранный</PresentationFormat>
  <Paragraphs>200</Paragraphs>
  <Slides>20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3338</cp:revision>
  <cp:lastPrinted>2018-07-20T14:32:00Z</cp:lastPrinted>
  <dcterms:created xsi:type="dcterms:W3CDTF">2012-08-24T07:28:38Z</dcterms:created>
  <dcterms:modified xsi:type="dcterms:W3CDTF">2025-10-14T11:16:51Z</dcterms:modified>
</cp:coreProperties>
</file>