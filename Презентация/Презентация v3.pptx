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20"/>
  </p:notesMasterIdLst>
  <p:handoutMasterIdLst>
    <p:handoutMasterId r:id="rId21"/>
  </p:handoutMasterIdLst>
  <p:sldIdLst>
    <p:sldId id="265" r:id="rId2"/>
    <p:sldId id="638" r:id="rId3"/>
    <p:sldId id="643" r:id="rId4"/>
    <p:sldId id="656" r:id="rId5"/>
    <p:sldId id="657" r:id="rId6"/>
    <p:sldId id="648" r:id="rId7"/>
    <p:sldId id="659" r:id="rId8"/>
    <p:sldId id="644" r:id="rId9"/>
    <p:sldId id="658" r:id="rId10"/>
    <p:sldId id="646" r:id="rId11"/>
    <p:sldId id="652" r:id="rId12"/>
    <p:sldId id="654" r:id="rId13"/>
    <p:sldId id="653" r:id="rId14"/>
    <p:sldId id="650" r:id="rId15"/>
    <p:sldId id="651" r:id="rId16"/>
    <p:sldId id="660" r:id="rId17"/>
    <p:sldId id="655" r:id="rId18"/>
    <p:sldId id="284" r:id="rId19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15" autoAdjust="0"/>
    <p:restoredTop sz="86689" autoAdjust="0"/>
  </p:normalViewPr>
  <p:slideViewPr>
    <p:cSldViewPr>
      <p:cViewPr varScale="1">
        <p:scale>
          <a:sx n="115" d="100"/>
          <a:sy n="115" d="100"/>
        </p:scale>
        <p:origin x="138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20.10.2025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20.10.2025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4506880"/>
            <a:ext cx="3725352" cy="1637118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2448183"/>
            <a:ext cx="2420888" cy="242088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таких объемов данных и формирование на их основе эксплуатационной документации. Минусом ручного сопровождения является фактор человеческих ошибок, которые сложно отследить в конечном документе.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реализована автоматизированная система, которая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1. ОБЩАЯ СТРУКТУРНАЯ СХЕМА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Организация базы данных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2. ОРГАНИЗАЦИЯ БАЗЫ ДАННЫХ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0" y="1268760"/>
            <a:ext cx="9912424" cy="512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738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Система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3. СИСТЕМА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407368" y="1338662"/>
            <a:ext cx="1159328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err="1">
                <a:solidFill>
                  <a:srgbClr val="202122"/>
                </a:solidFill>
                <a:latin typeface="+mj-lt"/>
              </a:rPr>
              <a:t>LaTeX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  — наиболее популярный набор макрорасширений (или макропакет)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системы компьютерной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верстки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>
                <a:solidFill>
                  <a:srgbClr val="202122"/>
                </a:solidFill>
                <a:latin typeface="+mj-lt"/>
              </a:rPr>
              <a:t>который облегчает набор сложных документов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документации выбран движок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LuaLaTeX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,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так как он поддерживает кириллические шрифты.</a:t>
            </a:r>
          </a:p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разработки была установлена полная версия пакета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(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около 8 Гб на жестком диске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)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с редактором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TeXworks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 Работоспособность проверялась на ОС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Windows (7, 11), Ubuntu.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2815990"/>
            <a:ext cx="7394397" cy="359099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8256240" y="4085375"/>
            <a:ext cx="309634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>
                <a:solidFill>
                  <a:srgbClr val="202122"/>
                </a:solidFill>
                <a:latin typeface="+mj-lt"/>
              </a:rPr>
              <a:t>Внешний вид редактора </a:t>
            </a:r>
            <a:r>
              <a:rPr lang="en-US" sz="1600" dirty="0" err="1" smtClean="0">
                <a:solidFill>
                  <a:srgbClr val="202122"/>
                </a:solidFill>
                <a:latin typeface="+mj-lt"/>
              </a:rPr>
              <a:t>TeXworks</a:t>
            </a:r>
            <a:endParaRPr lang="en-US" sz="1600" dirty="0">
              <a:solidFill>
                <a:srgbClr val="20212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29824484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Специализированное ПО в части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616" y="2237981"/>
            <a:ext cx="7248501" cy="4226808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4. СПЕЦИАЛИЗИРОВАННОЕ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Для автоматизированного обновления данных в документе </a:t>
            </a:r>
            <a:r>
              <a:rPr lang="en-US" dirty="0" err="1" smtClean="0">
                <a:solidFill>
                  <a:srgbClr val="202122"/>
                </a:solidFill>
                <a:latin typeface="+mj-lt"/>
              </a:rPr>
              <a:t>LaTeX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 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потребовалась разработка специального программного обеспечения, которое загружает файлы базы данных и обновляет в соответствии с ними таблицы в документации. Дополнительно на основании тех же данных ПО может создавать бланки уставок для устройства в формате 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doc(x)</a:t>
            </a:r>
            <a:r>
              <a:rPr lang="ru-RU" dirty="0" smtClean="0">
                <a:solidFill>
                  <a:srgbClr val="202122"/>
                </a:solidFill>
                <a:latin typeface="+mj-lt"/>
              </a:rPr>
              <a:t>.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Возможности ПО в части автоматизации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АРХИТЕКТУРА. ЧАСТЬ 5. ВОЗМОЖНОСТИ по для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07368" y="1338662"/>
            <a:ext cx="115932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Автоматизированная сборка бланка уставок предоставляет дополнительные удобства при работе</a:t>
            </a:r>
            <a:r>
              <a:rPr lang="en-US" dirty="0" smtClean="0">
                <a:solidFill>
                  <a:srgbClr val="202122"/>
                </a:solidFill>
                <a:latin typeface="+mj-lt"/>
              </a:rPr>
              <a:t>: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Автоматическое заполнение полей бланка уставок (колонтитулы, версии). </a:t>
            </a:r>
          </a:p>
          <a:p>
            <a:pPr marL="342900" indent="-342900">
              <a:buAutoNum type="arabicPeriod"/>
            </a:pPr>
            <a:r>
              <a:rPr lang="ru-RU" dirty="0" smtClean="0">
                <a:solidFill>
                  <a:srgbClr val="202122"/>
                </a:solidFill>
                <a:latin typeface="+mj-lt"/>
              </a:rPr>
              <a:t>Возможность собрать все сигналы конкретного устройства и вывести их в выпадающий список.</a:t>
            </a:r>
            <a:endParaRPr lang="en-US" dirty="0">
              <a:latin typeface="+mj-lt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640" y="2261992"/>
            <a:ext cx="9091009" cy="404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73728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err="1" smtClean="0">
                <a:solidFill>
                  <a:prstClr val="white"/>
                </a:solidFill>
                <a:latin typeface="Arial Narrow"/>
              </a:rPr>
              <a:t>LAtex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968468"/>
              </p:ext>
            </p:extLst>
          </p:nvPr>
        </p:nvGraphicFramePr>
        <p:xfrm>
          <a:off x="191344" y="1386677"/>
          <a:ext cx="11809312" cy="4861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2688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5616624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64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841305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r>
                        <a:rPr lang="ru-RU" sz="1400" b="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рисунки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могут быть получены из различных систем создания векторной графики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Autocad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Visio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пр.).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en-US" sz="14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465596"/>
                  </a:ext>
                </a:extLst>
              </a:tr>
              <a:tr h="6490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ЗОП, имеют одинаковое описание для разных устройств). Это актуально при формировании ЭД на типовые решения ШЭТ/ОЭТ.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4567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6336841"/>
                  </a:ext>
                </a:extLst>
              </a:tr>
              <a:tr h="788851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21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071215"/>
              </p:ext>
            </p:extLst>
          </p:nvPr>
        </p:nvGraphicFramePr>
        <p:xfrm>
          <a:off x="191344" y="1386677"/>
          <a:ext cx="11809312" cy="42192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592">
                  <a:extLst>
                    <a:ext uri="{9D8B030D-6E8A-4147-A177-3AD203B41FA5}">
                      <a16:colId xmlns:a16="http://schemas.microsoft.com/office/drawing/2014/main" val="2404997460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3565552801"/>
                    </a:ext>
                  </a:extLst>
                </a:gridCol>
              </a:tblGrid>
              <a:tr h="27341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Достоинства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smtClean="0"/>
                        <a:t>Недостатки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685147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861936"/>
                  </a:ext>
                </a:extLst>
              </a:tr>
              <a:tr h="561607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79840"/>
                  </a:ext>
                </a:extLst>
              </a:tr>
              <a:tr h="464796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59741"/>
                  </a:ext>
                </a:extLst>
              </a:tr>
              <a:tr h="84757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489089"/>
                  </a:ext>
                </a:extLst>
              </a:tr>
              <a:tr h="1230343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</a:t>
                      </a:r>
                    </a:p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Также не возможно правильно выставить колонтитулы на листах ландшафтной ориентации. 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494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710610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Сочетание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добавляет возможности для улучшения внешнего вида эксплуатационной документации. Например, возможность форматирования вывода чисел в бланках уставок и таблицах РЭ. То есть, выводить количество нулей в диапазонах уставок именно таким, каким задан шаг для конкретной уставки.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636912"/>
            <a:ext cx="10561091" cy="2629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92" y="5265936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Понятно, что вручную приводить к этому виду два разных документа (БУ и РЭ) с практически одной и той же информацией никто не будет. Из-за того, что для формирования этих документов используется один источник 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 все обозначения сигналов, уставок будут ОДИНАКОВЫМИ в обоих документах</a:t>
            </a: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731300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1513636"/>
            <a:ext cx="112332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Профессиональная система вёрстки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оставаясь при этом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open-source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бесплатной, избавляет пользователя от необходимости заботиться о внешнем виде документа, поскольку решает эти задачи автоматически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без лишних проблем решает требование ГОСТ о заголовках продолжения таблиц на следующей странице. </a:t>
            </a: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212976"/>
            <a:ext cx="11246693" cy="306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22806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79376" y="836712"/>
            <a:ext cx="11233248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еще примера - вывод формул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Возможно, это мелочи, но именно из таких вот мелочей и складывается общее впечатление о документе, устройстве и его разработчиках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536" y="1242268"/>
            <a:ext cx="8136904" cy="414000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2207568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Word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691887" y="5220169"/>
            <a:ext cx="309634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Внешний вид листа с формулами документа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PDF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LaTeX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6488546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Взаимодействие с ОП Чебоксары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ОП Чебоксары предоставляет следующие данные, которые требуются для разработки РЭ и БУ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(включают в себя полное описание функционального блока, а именно – функциональный состав, входы и выходы функций, а также уставки.</a:t>
            </a:r>
          </a:p>
          <a:p>
            <a:pPr marL="457200" indent="-457200">
              <a:buAutoNum type="arabicPeriod"/>
            </a:pPr>
            <a:r>
              <a:rPr lang="ru-RU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Данные для текстового описания функций берутся из корпоративного портала </a:t>
            </a:r>
            <a:r>
              <a:rPr lang="en-US" sz="16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Confluence.</a:t>
            </a:r>
            <a:endParaRPr lang="ru-RU" sz="16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ТЕКУЩЕЕ ВЗАИМОДЕЙСТВИЕ С ОП ЧЕБОКСАРЫ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472" y="2494628"/>
            <a:ext cx="7104112" cy="3426689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09" y="2507596"/>
            <a:ext cx="3941995" cy="296014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901884" y="5868024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Функциональные блоки в формате 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xslx</a:t>
            </a:r>
            <a:r>
              <a:rPr lang="en-US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. 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Основная база для разработки ЭД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7320136" y="5844852"/>
            <a:ext cx="388843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Пример описания функционального блока ДЗТ из портала </a:t>
            </a:r>
            <a:r>
              <a:rPr lang="en-US" sz="1600" i="1" dirty="0" err="1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Confulence</a:t>
            </a:r>
            <a:r>
              <a:rPr lang="ru-RU" sz="1600" i="1" dirty="0" smtClean="0">
                <a:solidFill>
                  <a:schemeClr val="accent6">
                    <a:lumMod val="75000"/>
                  </a:schemeClr>
                </a:solidFill>
                <a:latin typeface="+mj-lt"/>
              </a:rPr>
              <a:t> в окне браузера</a:t>
            </a:r>
            <a:endParaRPr lang="en-US" sz="1600" i="1" dirty="0">
              <a:solidFill>
                <a:schemeClr val="accent6">
                  <a:lumMod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1224867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Требуемые данные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XLSX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(по аналогии с ОПЧ).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RTF, TXT, DOCX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документы с текстовым описанием разработанных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функций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описание будет переводится в разметку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DWG(DXF),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SVG, PDF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(желательно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векторный)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–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рисунков (схем логики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будет достаточно для создания руководств по эксплуатации и бланков уставок. 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Примечание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JSON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формат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для описания функций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допустим, но потребует доработки ПО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</a:rPr>
              <a:t>VSDx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для рисунков допустим, но потребует времени на адаптацию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 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ПЛАНИРУЕМОЕ ВЗАИМОДЕЙСТВИЕ ДЛЯ РАЗРАБОТКИ РЭ, БУ М500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76084346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Альтернативы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328970"/>
            <a:ext cx="11017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возможных альтернатив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возможно применение следующих систем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DITA, 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DocBook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AsciiDoc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АЛЬТЕРНАТИВЫ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Общий обзор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694508"/>
              </p:ext>
            </p:extLst>
          </p:nvPr>
        </p:nvGraphicFramePr>
        <p:xfrm>
          <a:off x="191344" y="1628800"/>
          <a:ext cx="11809312" cy="48792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8192">
                  <a:extLst>
                    <a:ext uri="{9D8B030D-6E8A-4147-A177-3AD203B41FA5}">
                      <a16:colId xmlns:a16="http://schemas.microsoft.com/office/drawing/2014/main" val="1447107596"/>
                    </a:ext>
                  </a:extLst>
                </a:gridCol>
                <a:gridCol w="2139076">
                  <a:extLst>
                    <a:ext uri="{9D8B030D-6E8A-4147-A177-3AD203B41FA5}">
                      <a16:colId xmlns:a16="http://schemas.microsoft.com/office/drawing/2014/main" val="909189492"/>
                    </a:ext>
                  </a:extLst>
                </a:gridCol>
                <a:gridCol w="2973492">
                  <a:extLst>
                    <a:ext uri="{9D8B030D-6E8A-4147-A177-3AD203B41FA5}">
                      <a16:colId xmlns:a16="http://schemas.microsoft.com/office/drawing/2014/main" val="527849958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1444204663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528427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 smtClean="0"/>
                        <a:t>ПО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LaTeX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/>
                        <a:t>DITA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DocBook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/>
                        <a:t>AsciiDoc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797949"/>
                  </a:ext>
                </a:extLst>
              </a:tr>
              <a:tr h="228600">
                <a:tc rowSpan="2">
                  <a:txBody>
                    <a:bodyPr/>
                    <a:lstStyle/>
                    <a:p>
                      <a:r>
                        <a:rPr lang="ru-RU" sz="1200" b="1" dirty="0" smtClean="0"/>
                        <a:t>Внешний вид получаемой документации</a:t>
                      </a:r>
                      <a:endParaRPr lang="en-US" sz="1200" b="1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rgbClr val="00B05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Приближен к существующим документам </a:t>
                      </a:r>
                      <a:r>
                        <a:rPr lang="en-US" sz="1200" b="0" i="0" kern="1200" dirty="0" smtClean="0">
                          <a:solidFill>
                            <a:srgbClr val="00B05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endParaRPr lang="ru-RU" sz="1200" b="0" i="0" kern="1200" dirty="0" smtClean="0">
                        <a:solidFill>
                          <a:srgbClr val="00B05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Внешний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вид будет отличаться от принятого в организации</a:t>
                      </a: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Внешний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вид будет отличаться от принятого в организации</a:t>
                      </a: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Внешний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вид будет отличаться от принятого в организации</a:t>
                      </a: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76038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Документация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будет выглядеть примерно в таком же ключе</a:t>
                      </a:r>
                      <a:r>
                        <a:rPr lang="en-US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как и руководства на устройства фирмы </a:t>
                      </a:r>
                      <a:r>
                        <a:rPr lang="en-US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ABB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Siemens </a:t>
                      </a:r>
                      <a:r>
                        <a:rPr lang="ru-RU" sz="12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пр.</a:t>
                      </a: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2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044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Редакторы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effectLst/>
                        </a:rPr>
                        <a:t>TeXstudio</a:t>
                      </a:r>
                      <a:r>
                        <a:rPr lang="en-US" sz="1200" dirty="0">
                          <a:effectLst/>
                        </a:rPr>
                        <a:t>, VS Code (</a:t>
                      </a:r>
                      <a:r>
                        <a:rPr lang="ru-RU" sz="1200" dirty="0">
                          <a:effectLst/>
                        </a:rPr>
                        <a:t>бесплатные)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 err="1">
                          <a:solidFill>
                            <a:srgbClr val="FF0000"/>
                          </a:solidFill>
                          <a:effectLst/>
                        </a:rPr>
                        <a:t>Oxygen</a:t>
                      </a:r>
                      <a:r>
                        <a:rPr lang="ru-RU" sz="1200" dirty="0">
                          <a:solidFill>
                            <a:srgbClr val="FF0000"/>
                          </a:solidFill>
                          <a:effectLst/>
                        </a:rPr>
                        <a:t> XML (платный)</a:t>
                      </a:r>
                      <a:r>
                        <a:rPr lang="ru-RU" sz="1200" dirty="0">
                          <a:effectLst/>
                        </a:rPr>
                        <a:t>, VS </a:t>
                      </a:r>
                      <a:r>
                        <a:rPr lang="ru-RU" sz="1200" dirty="0" err="1">
                          <a:effectLst/>
                        </a:rPr>
                        <a:t>Code</a:t>
                      </a:r>
                      <a:r>
                        <a:rPr lang="ru-RU" sz="1200" dirty="0">
                          <a:effectLst/>
                        </a:rPr>
                        <a:t> (бесплатный</a:t>
                      </a:r>
                      <a:r>
                        <a:rPr lang="ru-RU" sz="1200" dirty="0" smtClean="0">
                          <a:effectLst/>
                        </a:rPr>
                        <a:t>)</a:t>
                      </a:r>
                      <a:r>
                        <a:rPr lang="en-US" sz="1200" dirty="0" smtClean="0">
                          <a:effectLst/>
                        </a:rPr>
                        <a:t>.</a:t>
                      </a:r>
                      <a:r>
                        <a:rPr lang="en-US" sz="1200" baseline="0" dirty="0" smtClean="0">
                          <a:effectLst/>
                        </a:rPr>
                        <a:t> </a:t>
                      </a:r>
                      <a:r>
                        <a:rPr lang="en-US" sz="1200" baseline="0" dirty="0" err="1" smtClean="0">
                          <a:solidFill>
                            <a:srgbClr val="00B050"/>
                          </a:solidFill>
                          <a:effectLst/>
                        </a:rPr>
                        <a:t>OxygenXML</a:t>
                      </a:r>
                      <a:r>
                        <a:rPr lang="en-US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ru-RU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предоставляет редактор по типу </a:t>
                      </a:r>
                      <a:r>
                        <a:rPr lang="en-US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WYSIWYG </a:t>
                      </a:r>
                      <a:endParaRPr lang="ru-RU" sz="1200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 err="1">
                          <a:solidFill>
                            <a:srgbClr val="FF0000"/>
                          </a:solidFill>
                          <a:effectLst/>
                        </a:rPr>
                        <a:t>Oxygen</a:t>
                      </a:r>
                      <a:r>
                        <a:rPr lang="ru-RU" sz="1200" dirty="0">
                          <a:solidFill>
                            <a:srgbClr val="FF0000"/>
                          </a:solidFill>
                          <a:effectLst/>
                        </a:rPr>
                        <a:t> XML (платный</a:t>
                      </a:r>
                      <a:r>
                        <a:rPr lang="ru-RU" sz="1200" dirty="0">
                          <a:effectLst/>
                        </a:rPr>
                        <a:t>), VS </a:t>
                      </a:r>
                      <a:r>
                        <a:rPr lang="ru-RU" sz="1200" dirty="0" err="1">
                          <a:effectLst/>
                        </a:rPr>
                        <a:t>Code</a:t>
                      </a:r>
                      <a:r>
                        <a:rPr lang="ru-RU" sz="1200" dirty="0">
                          <a:effectLst/>
                        </a:rPr>
                        <a:t> (бесплатный</a:t>
                      </a:r>
                      <a:r>
                        <a:rPr lang="ru-RU" sz="1200" dirty="0" smtClean="0">
                          <a:effectLst/>
                        </a:rPr>
                        <a:t>)</a:t>
                      </a:r>
                      <a:r>
                        <a:rPr lang="en-US" sz="1200" dirty="0" smtClean="0">
                          <a:effectLst/>
                        </a:rPr>
                        <a:t>. </a:t>
                      </a:r>
                      <a:r>
                        <a:rPr lang="en-US" sz="1200" baseline="0" dirty="0" err="1" smtClean="0">
                          <a:solidFill>
                            <a:srgbClr val="00B050"/>
                          </a:solidFill>
                          <a:effectLst/>
                        </a:rPr>
                        <a:t>OxygenXML</a:t>
                      </a:r>
                      <a:r>
                        <a:rPr lang="en-US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 </a:t>
                      </a:r>
                      <a:r>
                        <a:rPr lang="ru-RU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предоставляет редактор по типу </a:t>
                      </a:r>
                      <a:r>
                        <a:rPr lang="en-US" sz="1200" baseline="0" dirty="0" smtClean="0">
                          <a:solidFill>
                            <a:srgbClr val="00B050"/>
                          </a:solidFill>
                          <a:effectLst/>
                        </a:rPr>
                        <a:t>WYSIWYG</a:t>
                      </a:r>
                      <a:endParaRPr lang="ru-RU" sz="1200" dirty="0">
                        <a:effectLst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VS </a:t>
                      </a:r>
                      <a:r>
                        <a:rPr lang="ru-RU" sz="1200" dirty="0" err="1">
                          <a:effectLst/>
                        </a:rPr>
                        <a:t>Code</a:t>
                      </a:r>
                      <a:r>
                        <a:rPr lang="ru-RU" sz="1200" dirty="0">
                          <a:effectLst/>
                        </a:rPr>
                        <a:t>, любые текстовые редакторы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157894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Работа с формулами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rgbClr val="00B050"/>
                          </a:solidFill>
                          <a:effectLst/>
                        </a:rPr>
                        <a:t>Отличная</a:t>
                      </a:r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 (</a:t>
                      </a:r>
                      <a:r>
                        <a:rPr lang="ru-RU" sz="1200" dirty="0" err="1">
                          <a:solidFill>
                            <a:srgbClr val="00B050"/>
                          </a:solidFill>
                          <a:effectLst/>
                        </a:rPr>
                        <a:t>нативный</a:t>
                      </a:r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 синтаксис)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Хорошая</a:t>
                      </a:r>
                      <a:r>
                        <a:rPr lang="ru-RU" sz="1200" dirty="0">
                          <a:effectLst/>
                        </a:rPr>
                        <a:t> (</a:t>
                      </a:r>
                      <a:r>
                        <a:rPr lang="ru-RU" sz="1200" dirty="0" err="1">
                          <a:effectLst/>
                        </a:rPr>
                        <a:t>MathML</a:t>
                      </a:r>
                      <a:r>
                        <a:rPr lang="ru-RU" sz="1200" dirty="0">
                          <a:effectLst/>
                        </a:rPr>
                        <a:t>, </a:t>
                      </a:r>
                      <a:r>
                        <a:rPr lang="ru-RU" sz="1200" dirty="0" err="1">
                          <a:effectLst/>
                        </a:rPr>
                        <a:t>LaTeX</a:t>
                      </a:r>
                      <a:r>
                        <a:rPr lang="ru-RU" sz="1200" dirty="0">
                          <a:effectLst/>
                        </a:rPr>
                        <a:t> через конвертацию)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Хорошая</a:t>
                      </a:r>
                      <a:r>
                        <a:rPr lang="ru-RU" sz="1200" dirty="0">
                          <a:effectLst/>
                        </a:rPr>
                        <a:t> (</a:t>
                      </a:r>
                      <a:r>
                        <a:rPr lang="en-US" sz="1200" dirty="0">
                          <a:effectLst/>
                        </a:rPr>
                        <a:t>MathML, </a:t>
                      </a:r>
                      <a:r>
                        <a:rPr lang="en-US" sz="1200" dirty="0" err="1">
                          <a:effectLst/>
                        </a:rPr>
                        <a:t>LaTeX</a:t>
                      </a:r>
                      <a:r>
                        <a:rPr lang="en-US" sz="1200" dirty="0">
                          <a:effectLst/>
                        </a:rPr>
                        <a:t>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Очень хорошая</a:t>
                      </a:r>
                      <a:r>
                        <a:rPr lang="ru-RU" sz="1200" dirty="0">
                          <a:effectLst/>
                        </a:rPr>
                        <a:t> (поддержка </a:t>
                      </a:r>
                      <a:r>
                        <a:rPr lang="ru-RU" sz="1200" dirty="0" err="1">
                          <a:effectLst/>
                        </a:rPr>
                        <a:t>LaTeX</a:t>
                      </a:r>
                      <a:r>
                        <a:rPr lang="ru-RU" sz="1200" dirty="0">
                          <a:effectLst/>
                        </a:rPr>
                        <a:t>, </a:t>
                      </a:r>
                      <a:r>
                        <a:rPr lang="ru-RU" sz="1200" dirty="0" err="1">
                          <a:effectLst/>
                        </a:rPr>
                        <a:t>AsciiMath</a:t>
                      </a:r>
                      <a:r>
                        <a:rPr lang="ru-RU" sz="1200" dirty="0">
                          <a:effectLst/>
                        </a:rPr>
                        <a:t>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361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Работа с длинными таблицами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rgbClr val="00B050"/>
                          </a:solidFill>
                          <a:effectLst/>
                        </a:rPr>
                        <a:t>Отличная</a:t>
                      </a:r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 (</a:t>
                      </a:r>
                      <a:r>
                        <a:rPr lang="en-US" sz="1200" dirty="0" err="1">
                          <a:solidFill>
                            <a:srgbClr val="00B050"/>
                          </a:solidFill>
                          <a:effectLst/>
                        </a:rPr>
                        <a:t>longtable</a:t>
                      </a:r>
                      <a:r>
                        <a:rPr lang="en-US" sz="1200" dirty="0">
                          <a:solidFill>
                            <a:srgbClr val="00B050"/>
                          </a:solidFill>
                          <a:effectLst/>
                        </a:rPr>
                        <a:t>, </a:t>
                      </a:r>
                      <a:r>
                        <a:rPr lang="en-US" sz="1200" dirty="0" err="1">
                          <a:solidFill>
                            <a:srgbClr val="00B050"/>
                          </a:solidFill>
                          <a:effectLst/>
                        </a:rPr>
                        <a:t>xltabular</a:t>
                      </a:r>
                      <a:r>
                        <a:rPr lang="en-US" sz="1200" dirty="0">
                          <a:solidFill>
                            <a:srgbClr val="00B050"/>
                          </a:solidFill>
                          <a:effectLst/>
                        </a:rPr>
                        <a:t>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solidFill>
                            <a:srgbClr val="FF0000"/>
                          </a:solidFill>
                          <a:effectLst/>
                        </a:rPr>
                        <a:t>Средняя</a:t>
                      </a:r>
                      <a:r>
                        <a:rPr lang="ru-RU" sz="1200" dirty="0">
                          <a:solidFill>
                            <a:srgbClr val="FF0000"/>
                          </a:solidFill>
                          <a:effectLst/>
                        </a:rPr>
                        <a:t> (требует ручной разметки)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Хорошая</a:t>
                      </a:r>
                      <a:r>
                        <a:rPr lang="ru-RU" sz="1200" dirty="0">
                          <a:effectLst/>
                        </a:rPr>
                        <a:t> (</a:t>
                      </a:r>
                      <a:r>
                        <a:rPr lang="en-US" sz="1200" dirty="0">
                          <a:effectLst/>
                        </a:rPr>
                        <a:t>HTML-</a:t>
                      </a:r>
                      <a:r>
                        <a:rPr lang="ru-RU" sz="1200" dirty="0">
                          <a:effectLst/>
                        </a:rPr>
                        <a:t>подобные таблицы)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Хорошая</a:t>
                      </a:r>
                      <a:r>
                        <a:rPr lang="ru-RU" sz="1200" dirty="0">
                          <a:effectLst/>
                        </a:rPr>
                        <a:t> (поддержка сложных таблиц)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110993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 smtClean="0">
                          <a:effectLst/>
                        </a:rPr>
                        <a:t>Работа</a:t>
                      </a:r>
                      <a:r>
                        <a:rPr lang="ru-RU" sz="1200" b="1" baseline="0" dirty="0" smtClean="0">
                          <a:effectLst/>
                        </a:rPr>
                        <a:t> с векторными рисунками </a:t>
                      </a:r>
                      <a:r>
                        <a:rPr lang="en-US" sz="1200" b="1" baseline="0" dirty="0" smtClean="0">
                          <a:effectLst/>
                        </a:rPr>
                        <a:t>pdf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 smtClean="0">
                          <a:solidFill>
                            <a:srgbClr val="00B050"/>
                          </a:solidFill>
                          <a:effectLst/>
                        </a:rPr>
                        <a:t>Отличная</a:t>
                      </a:r>
                      <a:r>
                        <a:rPr lang="ru-RU" sz="1200" dirty="0" smtClean="0">
                          <a:solidFill>
                            <a:srgbClr val="00B050"/>
                          </a:solidFill>
                          <a:effectLst/>
                        </a:rPr>
                        <a:t> (</a:t>
                      </a:r>
                      <a:r>
                        <a:rPr lang="ru-RU" sz="1200" dirty="0" err="1" smtClean="0">
                          <a:solidFill>
                            <a:srgbClr val="00B050"/>
                          </a:solidFill>
                          <a:effectLst/>
                        </a:rPr>
                        <a:t>нативный</a:t>
                      </a:r>
                      <a:r>
                        <a:rPr lang="ru-RU" sz="1200" dirty="0" smtClean="0">
                          <a:solidFill>
                            <a:srgbClr val="00B050"/>
                          </a:solidFill>
                          <a:effectLst/>
                        </a:rPr>
                        <a:t> синтаксис)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dirty="0" smtClean="0">
                          <a:solidFill>
                            <a:srgbClr val="00B050"/>
                          </a:solidFill>
                          <a:effectLst/>
                        </a:rPr>
                        <a:t>Отличная</a:t>
                      </a:r>
                      <a:r>
                        <a:rPr lang="ru-RU" sz="1200" dirty="0" smtClean="0">
                          <a:solidFill>
                            <a:srgbClr val="00B050"/>
                          </a:solidFill>
                          <a:effectLst/>
                        </a:rPr>
                        <a:t> (</a:t>
                      </a:r>
                      <a:r>
                        <a:rPr lang="ru-RU" sz="1200" dirty="0" err="1" smtClean="0">
                          <a:solidFill>
                            <a:srgbClr val="00B050"/>
                          </a:solidFill>
                          <a:effectLst/>
                        </a:rPr>
                        <a:t>нативный</a:t>
                      </a:r>
                      <a:r>
                        <a:rPr lang="ru-RU" sz="1200" dirty="0" smtClean="0">
                          <a:solidFill>
                            <a:srgbClr val="00B050"/>
                          </a:solidFill>
                          <a:effectLst/>
                        </a:rPr>
                        <a:t> синтаксис)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77270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Сложность изучения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Высокая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Средняя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24280752"/>
                  </a:ext>
                </a:extLst>
              </a:tr>
              <a:tr h="439326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Движок обработки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effectLst/>
                        </a:rPr>
                        <a:t>pdflatex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 smtClean="0">
                          <a:effectLst/>
                        </a:rPr>
                        <a:t>xelatex</a:t>
                      </a:r>
                      <a:r>
                        <a:rPr lang="ru-RU" sz="1200" dirty="0" smtClean="0">
                          <a:effectLst/>
                        </a:rPr>
                        <a:t> </a:t>
                      </a:r>
                      <a:r>
                        <a:rPr lang="en-US" sz="1200" dirty="0" smtClean="0">
                          <a:effectLst/>
                        </a:rPr>
                        <a:t>(</a:t>
                      </a:r>
                      <a:r>
                        <a:rPr lang="ru-RU" sz="1200" dirty="0" smtClean="0">
                          <a:effectLst/>
                        </a:rPr>
                        <a:t>бесплатный)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DITA-OT (</a:t>
                      </a:r>
                      <a:r>
                        <a:rPr lang="ru-RU" sz="1200" dirty="0">
                          <a:effectLst/>
                        </a:rPr>
                        <a:t>бесплатный)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effectLst/>
                        </a:rPr>
                        <a:t>xsltproc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en-US" sz="1200" dirty="0" err="1">
                          <a:effectLst/>
                        </a:rPr>
                        <a:t>pandoc</a:t>
                      </a:r>
                      <a:r>
                        <a:rPr lang="en-US" sz="1200" dirty="0">
                          <a:effectLst/>
                        </a:rPr>
                        <a:t> (</a:t>
                      </a:r>
                      <a:r>
                        <a:rPr lang="ru-RU" sz="1200" dirty="0">
                          <a:effectLst/>
                        </a:rPr>
                        <a:t>бесплатные)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effectLst/>
                        </a:rPr>
                        <a:t>Asciidoctor</a:t>
                      </a:r>
                      <a:r>
                        <a:rPr lang="en-US" sz="1200" dirty="0">
                          <a:effectLst/>
                        </a:rPr>
                        <a:t> (</a:t>
                      </a:r>
                      <a:r>
                        <a:rPr lang="ru-RU" sz="1200" dirty="0">
                          <a:effectLst/>
                        </a:rPr>
                        <a:t>бесплатный)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1001045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ru-RU" sz="1200" b="1" dirty="0">
                          <a:effectLst/>
                        </a:rPr>
                        <a:t>Лицензия</a:t>
                      </a:r>
                      <a:endParaRPr lang="ru-RU" sz="1200" dirty="0">
                        <a:effectLst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Бесплатный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Бесплатный стандарт, </a:t>
                      </a:r>
                      <a:r>
                        <a:rPr lang="ru-RU" sz="1200" dirty="0">
                          <a:solidFill>
                            <a:srgbClr val="FF0000"/>
                          </a:solidFill>
                          <a:effectLst/>
                        </a:rPr>
                        <a:t>платные инструменты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Бесплатный стандарт, </a:t>
                      </a:r>
                      <a:r>
                        <a:rPr lang="ru-RU" sz="1200" dirty="0">
                          <a:solidFill>
                            <a:srgbClr val="FF0000"/>
                          </a:solidFill>
                          <a:effectLst/>
                        </a:rPr>
                        <a:t>платные инструменты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B050"/>
                          </a:solidFill>
                          <a:effectLst/>
                        </a:rPr>
                        <a:t>Бесплатный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921116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0576977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ВЫВОДЫ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Итоги внедрения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9356" y="1340503"/>
            <a:ext cx="1158527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1. Разработан и проверен в работе комплекс автоматизированного создания эксплуатационной документации по МП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устройствам релейной защиты с применением программных продуктов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b="1" dirty="0" err="1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и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Python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2. Создана и заполнена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база данных для автоматического обновления РЭ и БУ для устройств серии ЮНИТ-М300(ОЛ, ВВ, СВ, ТН, ДЗТ2, Т, Т2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3. В процессе работы система показала отличную гибкость, хорошую масштабируемость и высокую скорость при внесении изменений и при возникающих в процессе разработки требований к корректировки шаблонов РЭ и БУ.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336" y="3573016"/>
            <a:ext cx="11449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solidFill>
                  <a:srgbClr val="00B050"/>
                </a:solidFill>
                <a:latin typeface="+mn-lt"/>
              </a:rPr>
              <a:t>Ключевые </a:t>
            </a:r>
            <a:r>
              <a:rPr lang="ru-RU" b="1" dirty="0">
                <a:solidFill>
                  <a:srgbClr val="00B050"/>
                </a:solidFill>
                <a:latin typeface="+mn-lt"/>
              </a:rPr>
              <a:t>результаты:</a:t>
            </a:r>
          </a:p>
          <a:p>
            <a:pPr lvl="1"/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✅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Автоматизация обновления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РЭ и БУ для 7 типов устройств серии ЮНИТ-М300 (ОЛ, ВВ, СВ, ТН, ДЗТ2, Т, Т2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lvl="1"/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✅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Внесение изменений в уже созданную документацию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сокращено с дней до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часов.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lvl="1"/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✅ Обеспечена 100% стандартизация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оформления.</a:t>
            </a: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4505152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90493</TotalTime>
  <Words>1854</Words>
  <Application>Microsoft Office PowerPoint</Application>
  <PresentationFormat>Широкоэкранный</PresentationFormat>
  <Paragraphs>186</Paragraphs>
  <Slides>18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Arial Narrow</vt:lpstr>
      <vt:lpstr>Calibri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3359</cp:revision>
  <cp:lastPrinted>2018-07-20T14:32:00Z</cp:lastPrinted>
  <dcterms:created xsi:type="dcterms:W3CDTF">2012-08-24T07:28:38Z</dcterms:created>
  <dcterms:modified xsi:type="dcterms:W3CDTF">2025-10-20T05:24:35Z</dcterms:modified>
</cp:coreProperties>
</file>