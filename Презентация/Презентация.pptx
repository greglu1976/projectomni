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852" r:id="rId1"/>
  </p:sldMasterIdLst>
  <p:notesMasterIdLst>
    <p:notesMasterId r:id="rId18"/>
  </p:notesMasterIdLst>
  <p:handoutMasterIdLst>
    <p:handoutMasterId r:id="rId19"/>
  </p:handoutMasterIdLst>
  <p:sldIdLst>
    <p:sldId id="265" r:id="rId2"/>
    <p:sldId id="638" r:id="rId3"/>
    <p:sldId id="643" r:id="rId4"/>
    <p:sldId id="644" r:id="rId5"/>
    <p:sldId id="645" r:id="rId6"/>
    <p:sldId id="649" r:id="rId7"/>
    <p:sldId id="646" r:id="rId8"/>
    <p:sldId id="652" r:id="rId9"/>
    <p:sldId id="654" r:id="rId10"/>
    <p:sldId id="653" r:id="rId11"/>
    <p:sldId id="648" r:id="rId12"/>
    <p:sldId id="647" r:id="rId13"/>
    <p:sldId id="650" r:id="rId14"/>
    <p:sldId id="651" r:id="rId15"/>
    <p:sldId id="655" r:id="rId16"/>
    <p:sldId id="284" r:id="rId17"/>
  </p:sldIdLst>
  <p:sldSz cx="12192000" cy="6858000"/>
  <p:notesSz cx="7099300" cy="10234613"/>
  <p:defaultTextStyle>
    <a:defPPr>
      <a:defRPr lang="ru-RU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14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29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435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581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572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6pPr>
    <a:lvl7pPr marL="274287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7pPr>
    <a:lvl8pPr marL="3200016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8pPr>
    <a:lvl9pPr marL="3657161" algn="l" defTabSz="914290" rtl="0" eaLnBrk="1" latinLnBrk="0" hangingPunct="1">
      <a:defRPr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Жуков Алексей" initials="ЖА" lastIdx="1" clrIdx="0">
    <p:extLst>
      <p:ext uri="{19B8F6BF-5375-455C-9EA6-DF929625EA0E}">
        <p15:presenceInfo xmlns:p15="http://schemas.microsoft.com/office/powerpoint/2012/main" userId="S-1-5-21-3204257377-612078318-1080328176-1599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DCE6F2"/>
    <a:srgbClr val="EF8637"/>
    <a:srgbClr val="F28838"/>
    <a:srgbClr val="F18738"/>
    <a:srgbClr val="F39200"/>
    <a:srgbClr val="AFBFD5"/>
    <a:srgbClr val="234672"/>
    <a:srgbClr val="54749E"/>
    <a:srgbClr val="95B3D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Светлый стиль 2 - акцент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3B4B98B0-60AC-42C2-AFA5-B58CD77FA1E5}" styleName="Светлый стиль 1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Средний стиль 1 — акцент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Средний стиль 1 — акцент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BC89EF96-8CEA-46FF-86C4-4CE0E7609802}" styleName="Светлый стиль 3 — акцент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115" autoAdjust="0"/>
    <p:restoredTop sz="86689" autoAdjust="0"/>
  </p:normalViewPr>
  <p:slideViewPr>
    <p:cSldViewPr>
      <p:cViewPr varScale="1">
        <p:scale>
          <a:sx n="115" d="100"/>
          <a:sy n="115" d="100"/>
        </p:scale>
        <p:origin x="138" y="8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79" d="100"/>
          <a:sy n="79" d="100"/>
        </p:scale>
        <p:origin x="3882" y="120"/>
      </p:cViewPr>
      <p:guideLst>
        <p:guide orient="horz" pos="3224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quarter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>
              <a:defRPr sz="1200"/>
            </a:lvl1pPr>
          </a:lstStyle>
          <a:p>
            <a:fld id="{44B3FC41-904A-4A14-BC0C-3259396BEE22}" type="datetimeFigureOut">
              <a:rPr lang="ru-RU" smtClean="0"/>
              <a:pPr/>
              <a:t>26.09.2025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3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>
              <a:defRPr sz="1200"/>
            </a:lvl1pPr>
          </a:lstStyle>
          <a:p>
            <a:fld id="{48F06AD2-50A3-411B-A8D1-560CA9D9A84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944965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4021296" y="3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8586EEBF-9171-4376-91FC-87252248866B}" type="datetimeFigureOut">
              <a:rPr lang="ru-RU"/>
              <a:pPr>
                <a:defRPr/>
              </a:pPr>
              <a:t>26.09.2025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9938"/>
            <a:ext cx="6819900" cy="3835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31" tIns="49515" rIns="99031" bIns="49515" rtlCol="0" anchor="ctr"/>
          <a:lstStyle/>
          <a:p>
            <a:pPr lvl="0"/>
            <a:endParaRPr lang="ru-RU" noProof="0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709931" y="4861442"/>
            <a:ext cx="5679440" cy="4605576"/>
          </a:xfrm>
          <a:prstGeom prst="rect">
            <a:avLst/>
          </a:prstGeom>
        </p:spPr>
        <p:txBody>
          <a:bodyPr vert="horz" lIns="99031" tIns="49515" rIns="99031" bIns="49515" rtlCol="0"/>
          <a:lstStyle/>
          <a:p>
            <a:pPr lvl="0"/>
            <a:r>
              <a:rPr lang="ru-RU" noProof="0"/>
              <a:t>Образец текста</a:t>
            </a:r>
          </a:p>
          <a:p>
            <a:pPr lvl="1"/>
            <a:r>
              <a:rPr lang="ru-RU" noProof="0"/>
              <a:t>Второй уровень</a:t>
            </a:r>
          </a:p>
          <a:p>
            <a:pPr lvl="2"/>
            <a:r>
              <a:rPr lang="ru-RU" noProof="0"/>
              <a:t>Третий уровень</a:t>
            </a:r>
          </a:p>
          <a:p>
            <a:pPr lvl="3"/>
            <a:r>
              <a:rPr lang="ru-RU" noProof="0"/>
              <a:t>Четвертый уровень</a:t>
            </a:r>
          </a:p>
          <a:p>
            <a:pPr lvl="4"/>
            <a:r>
              <a:rPr lang="ru-RU" noProof="0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cs typeface="+mn-cs"/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4021296" y="9721108"/>
            <a:ext cx="3076363" cy="511730"/>
          </a:xfrm>
          <a:prstGeom prst="rect">
            <a:avLst/>
          </a:prstGeom>
        </p:spPr>
        <p:txBody>
          <a:bodyPr vert="horz" lIns="99031" tIns="49515" rIns="99031" bIns="49515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  <a:cs typeface="+mn-cs"/>
              </a:defRPr>
            </a:lvl1pPr>
          </a:lstStyle>
          <a:p>
            <a:pPr>
              <a:defRPr/>
            </a:pPr>
            <a:fld id="{33BE8861-76DE-4716-B3B2-EB4CCB0924A2}" type="slidenum">
              <a:rPr lang="ru-RU"/>
              <a:pPr>
                <a:defRPr/>
              </a:pPr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7506481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4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29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435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581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72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287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016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161" algn="l" defTabSz="91429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39700" y="769938"/>
            <a:ext cx="6819900" cy="38354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33BE8861-76DE-4716-B3B2-EB4CCB0924A2}" type="slidenum">
              <a:rPr lang="ru-RU" smtClean="0"/>
              <a:pPr>
                <a:defRPr/>
              </a:pPr>
              <a:t>1</a:t>
            </a:fld>
            <a:endParaRPr lang="ru-RU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Образ слайда 1"/>
          <p:cNvSpPr>
            <a:spLocks noGrp="1" noRot="1" noChangeAspect="1" noTextEdit="1"/>
          </p:cNvSpPr>
          <p:nvPr>
            <p:ph type="sldImg"/>
          </p:nvPr>
        </p:nvSpPr>
        <p:spPr bwMode="auto">
          <a:xfrm>
            <a:off x="139700" y="769938"/>
            <a:ext cx="6819900" cy="38354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20483" name="Заметки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ru-RU"/>
          </a:p>
        </p:txBody>
      </p:sp>
      <p:sp>
        <p:nvSpPr>
          <p:cNvPr id="20484" name="Номер слайда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fld id="{D9EB4278-94E5-4403-BAE8-A6C2782F81E8}" type="slidenum">
              <a:rPr lang="ru-RU"/>
              <a:pPr fontAlgn="base">
                <a:spcBef>
                  <a:spcPct val="0"/>
                </a:spcBef>
                <a:spcAft>
                  <a:spcPct val="0"/>
                </a:spcAft>
              </a:pPr>
              <a:t>16</a:t>
            </a:fld>
            <a:endParaRPr lang="ru-RU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иний фо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3800"/>
          <a:stretch/>
        </p:blipFill>
        <p:spPr>
          <a:xfrm>
            <a:off x="0" y="764703"/>
            <a:ext cx="12192000" cy="5829471"/>
          </a:xfrm>
          <a:prstGeom prst="rect">
            <a:avLst/>
          </a:prstGeom>
        </p:spPr>
      </p:pic>
      <p:sp>
        <p:nvSpPr>
          <p:cNvPr id="14" name="Прямоугольник 13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17" name="Номер слайда 3"/>
          <p:cNvSpPr txBox="1">
            <a:spLocks/>
          </p:cNvSpPr>
          <p:nvPr userDrawn="1"/>
        </p:nvSpPr>
        <p:spPr>
          <a:xfrm>
            <a:off x="10205263" y="6597355"/>
            <a:ext cx="1651377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11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cxnSp>
        <p:nvCxnSpPr>
          <p:cNvPr id="15" name="Прямая соединительная линия 14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/>
          <p:cNvCxnSpPr/>
          <p:nvPr userDrawn="1"/>
        </p:nvCxnSpPr>
        <p:spPr>
          <a:xfrm>
            <a:off x="0" y="6525344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026" name="Picture 2" descr="E:\Archive\2024\4. NEC_UNITEL\JPG\Logo_01.jp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04256" cy="470917"/>
          </a:xfrm>
          <a:prstGeom prst="rect">
            <a:avLst/>
          </a:prstGeom>
          <a:noFill/>
        </p:spPr>
      </p:pic>
      <p:pic>
        <p:nvPicPr>
          <p:cNvPr id="2" name="Picture 2" descr="C:\Users\e.minchenkova\Desktop\НЭК (1)\НЭК\НЭК\НЭК (Национальная Энергетическая Компания)\Логотип\PNG\1.png"/>
          <p:cNvPicPr>
            <a:picLocks noChangeAspect="1" noChangeArrowheads="1"/>
          </p:cNvPicPr>
          <p:nvPr userDrawn="1"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26704" y="144885"/>
            <a:ext cx="2184920" cy="51728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3164872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3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5064"/>
          <a:stretch/>
        </p:blipFill>
        <p:spPr>
          <a:xfrm>
            <a:off x="-2966" y="7168"/>
            <a:ext cx="12203330" cy="901552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4177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9552385" y="6597355"/>
            <a:ext cx="2304255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pic>
        <p:nvPicPr>
          <p:cNvPr id="18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736193330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2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/>
          <p:cNvSpPr/>
          <p:nvPr userDrawn="1"/>
        </p:nvSpPr>
        <p:spPr>
          <a:xfrm>
            <a:off x="3143672" y="761531"/>
            <a:ext cx="9048328" cy="583582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pic>
        <p:nvPicPr>
          <p:cNvPr id="13" name="Рисунок 12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512288553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056440" y="6597355"/>
            <a:ext cx="1800201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192000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4161511828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9_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/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88" b="86192"/>
          <a:stretch/>
        </p:blipFill>
        <p:spPr>
          <a:xfrm>
            <a:off x="-1483" y="0"/>
            <a:ext cx="12192000" cy="908719"/>
          </a:xfrm>
          <a:prstGeom prst="rect">
            <a:avLst/>
          </a:prstGeom>
        </p:spPr>
      </p:pic>
      <p:sp>
        <p:nvSpPr>
          <p:cNvPr id="11" name="Прямоугольник 10"/>
          <p:cNvSpPr/>
          <p:nvPr userDrawn="1"/>
        </p:nvSpPr>
        <p:spPr>
          <a:xfrm flipV="1">
            <a:off x="0" y="6597354"/>
            <a:ext cx="12192000" cy="26382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29" tIns="45715" rIns="91429" bIns="45715"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ru-RU" dirty="0"/>
          </a:p>
        </p:txBody>
      </p:sp>
      <p:sp>
        <p:nvSpPr>
          <p:cNvPr id="7" name="Номер слайда 3"/>
          <p:cNvSpPr txBox="1">
            <a:spLocks/>
          </p:cNvSpPr>
          <p:nvPr userDrawn="1"/>
        </p:nvSpPr>
        <p:spPr>
          <a:xfrm>
            <a:off x="47328" y="6597353"/>
            <a:ext cx="1016000" cy="263822"/>
          </a:xfrm>
          <a:prstGeom prst="rect">
            <a:avLst/>
          </a:prstGeom>
          <a:noFill/>
        </p:spPr>
        <p:txBody>
          <a:bodyPr lIns="91429" tIns="45715" rIns="91429" bIns="45715"/>
          <a:lstStyle>
            <a:defPPr>
              <a:defRPr lang="ru-RU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D1F54C8A-BE1A-4E49-933E-E45F2257744C}" type="slidenum">
              <a:rPr lang="ru-RU" sz="1200" b="1" smtClean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cs typeface="Arial" pitchFamily="34" charset="0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ru-RU" sz="1200" b="1" dirty="0">
              <a:solidFill>
                <a:schemeClr val="tx1">
                  <a:lumMod val="65000"/>
                  <a:lumOff val="35000"/>
                </a:schemeClr>
              </a:solidFill>
              <a:latin typeface="+mn-lt"/>
              <a:cs typeface="Arial" pitchFamily="34" charset="0"/>
            </a:endParaRPr>
          </a:p>
        </p:txBody>
      </p:sp>
      <p:sp>
        <p:nvSpPr>
          <p:cNvPr id="8" name="Номер слайда 3"/>
          <p:cNvSpPr txBox="1">
            <a:spLocks/>
          </p:cNvSpPr>
          <p:nvPr userDrawn="1"/>
        </p:nvSpPr>
        <p:spPr>
          <a:xfrm>
            <a:off x="10128449" y="6597355"/>
            <a:ext cx="1728192" cy="260649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200" kern="0" dirty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itchFamily="34" charset="0"/>
                <a:cs typeface="Arial" pitchFamily="34" charset="0"/>
              </a:rPr>
              <a:t>www.uni-eng.ru</a:t>
            </a:r>
            <a:endParaRPr lang="ru-RU" sz="1200" kern="0" dirty="0">
              <a:solidFill>
                <a:schemeClr val="tx1">
                  <a:lumMod val="65000"/>
                  <a:lumOff val="35000"/>
                </a:schemeClr>
              </a:solidFill>
              <a:latin typeface="Arial Narrow" pitchFamily="34" charset="0"/>
              <a:cs typeface="Arial" pitchFamily="34" charset="0"/>
            </a:endParaRPr>
          </a:p>
        </p:txBody>
      </p:sp>
      <p:sp>
        <p:nvSpPr>
          <p:cNvPr id="9" name="Номер слайда 3"/>
          <p:cNvSpPr txBox="1">
            <a:spLocks/>
          </p:cNvSpPr>
          <p:nvPr userDrawn="1"/>
        </p:nvSpPr>
        <p:spPr>
          <a:xfrm>
            <a:off x="1583502" y="6597352"/>
            <a:ext cx="2823633" cy="260648"/>
          </a:xfrm>
          <a:prstGeom prst="rect">
            <a:avLst/>
          </a:prstGeom>
          <a:noFill/>
        </p:spPr>
        <p:txBody>
          <a:bodyPr lIns="0" tIns="45715" rIns="0" bIns="45715" anchor="b"/>
          <a:lstStyle>
            <a:defPPr>
              <a:defRPr lang="ru-RU"/>
            </a:defPPr>
            <a:lvl1pPr marL="0" algn="r" defTabSz="914400" rtl="0" eaLnBrk="1" latinLnBrk="0" hangingPunct="1">
              <a:defRPr kumimoji="0" sz="1200" kern="1200">
                <a:solidFill>
                  <a:schemeClr val="tx1">
                    <a:shade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ООО 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«</a:t>
            </a:r>
            <a:r>
              <a:rPr lang="ru-RU" sz="1200" dirty="0" err="1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Юнител</a:t>
            </a:r>
            <a:r>
              <a:rPr lang="ru-RU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 Инжиниринг</a:t>
            </a:r>
            <a:r>
              <a:rPr 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</a:rPr>
              <a:t>»</a:t>
            </a:r>
            <a:endParaRPr lang="ru-RU" sz="1200" dirty="0">
              <a:solidFill>
                <a:schemeClr val="tx1">
                  <a:lumMod val="65000"/>
                  <a:lumOff val="35000"/>
                </a:schemeClr>
              </a:solidFill>
              <a:latin typeface="+mj-lt"/>
            </a:endParaRPr>
          </a:p>
        </p:txBody>
      </p:sp>
      <p:cxnSp>
        <p:nvCxnSpPr>
          <p:cNvPr id="3" name="Прямая соединительная линия 2"/>
          <p:cNvCxnSpPr/>
          <p:nvPr userDrawn="1"/>
        </p:nvCxnSpPr>
        <p:spPr>
          <a:xfrm>
            <a:off x="0" y="6597352"/>
            <a:ext cx="12192000" cy="0"/>
          </a:xfrm>
          <a:prstGeom prst="line">
            <a:avLst/>
          </a:prstGeom>
          <a:ln w="12700">
            <a:solidFill>
              <a:srgbClr val="23467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/>
          <p:cNvCxnSpPr/>
          <p:nvPr userDrawn="1"/>
        </p:nvCxnSpPr>
        <p:spPr>
          <a:xfrm>
            <a:off x="0" y="836712"/>
            <a:ext cx="12311336" cy="0"/>
          </a:xfrm>
          <a:prstGeom prst="line">
            <a:avLst/>
          </a:prstGeom>
          <a:ln w="19050">
            <a:solidFill>
              <a:srgbClr val="F392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2" descr="C:\Users\e.minchenkova\Desktop\Маркетинг Юнител\Логотипы\4. NEC_UNITEL ◉\PNG\Logo_09.png"/>
          <p:cNvPicPr>
            <a:picLocks noChangeAspect="1" noChangeArrowheads="1"/>
          </p:cNvPicPr>
          <p:nvPr userDrawn="1"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9552384" y="188640"/>
            <a:ext cx="2333059" cy="48605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678921172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06" r:id="rId2"/>
    <p:sldLayoutId id="2147483904" r:id="rId3"/>
    <p:sldLayoutId id="2147483900" r:id="rId4"/>
    <p:sldLayoutId id="2147483905" r:id="rId5"/>
  </p:sldLayoutIdLst>
  <p:hf hdr="0" ftr="0" dt="0"/>
  <p:txStyles>
    <p:titleStyle>
      <a:lvl1pPr algn="ctr" rtl="0" fontAlgn="base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14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29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435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581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859" indent="-342859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61" indent="-285716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6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08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53" indent="-228573" algn="l" rtl="0" fontAlgn="base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298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43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589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734" indent="-228573" algn="l" defTabSz="91429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4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90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35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8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2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7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16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161" algn="l" defTabSz="91429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2224" y="4506880"/>
            <a:ext cx="3725352" cy="1637118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24392" y="2448183"/>
            <a:ext cx="2420888" cy="2420888"/>
          </a:xfrm>
          <a:prstGeom prst="rect">
            <a:avLst/>
          </a:prstGeom>
        </p:spPr>
      </p:pic>
      <p:sp>
        <p:nvSpPr>
          <p:cNvPr id="3" name="Прямоугольник 2"/>
          <p:cNvSpPr/>
          <p:nvPr/>
        </p:nvSpPr>
        <p:spPr>
          <a:xfrm>
            <a:off x="1271464" y="1124744"/>
            <a:ext cx="12192000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Автоматизированное формирование</a:t>
            </a:r>
          </a:p>
          <a:p>
            <a:pPr lvl="0" algn="ctr"/>
            <a:r>
              <a:rPr lang="ru-RU" sz="4000" dirty="0" smtClean="0">
                <a:solidFill>
                  <a:prstClr val="white"/>
                </a:solidFill>
                <a:latin typeface="Arial Narrow"/>
              </a:rPr>
              <a:t> эксплуатационной документации</a:t>
            </a:r>
          </a:p>
        </p:txBody>
      </p:sp>
      <p:pic>
        <p:nvPicPr>
          <p:cNvPr id="4" name="Рисунок 3" descr="C:\Users\n.kolobrodov\Documents\Выставки\Промосайт ЮНИТ-М300\ЮНИТ-М300.png"/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9336" y="2132856"/>
            <a:ext cx="5184576" cy="40206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32534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ВВЕДЕНИЕ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91344" y="980728"/>
            <a:ext cx="11809312" cy="49398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Автоматизированное формирование эксплуатационной документации: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В процессе разработки МП устройств требуется оперативное и безошибочное сопровождение большого объема (в связи со сложностью и многообразием устройств и функций в составе этих устройств) однотипных данных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Функциональные описания логических схем устройства (дискретные входные и выходные сигналы, уставки)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Аппаратные спецификации устройств (модули входных и выходных сигналов, измерительные модули и пр.).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	Ручное сопровождение таких данных и формирование на их основе бланков уставок и руководств по эксплуатации процесс ресурсоемкий</a:t>
            </a:r>
            <a:r>
              <a:rPr lang="ru-RU" b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ru-RU" b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подвержено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человеческим ошибкам и все это затрудняет актуализацию при внесении каких-либо изменений в описание функций и пр.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решения этой задачи реализован автоматизированный конвейер, который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Считывает структурированные данные из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спецификаций по функциональным блокам.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Обрабатывает их в соответствии с требованиями нормативной документации.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Генерирует бланки уставок и руководства по эксплуатации в стандартизированной форме.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91344" y="4974129"/>
            <a:ext cx="11809312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algn="ctr">
              <a:spcAft>
                <a:spcPts val="600"/>
              </a:spcAft>
            </a:pPr>
            <a:r>
              <a:rPr lang="ru-RU" sz="24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Данная презентация демонстрирует логику работы решения, организация структуры проекта, его архитектуры и практическую пользу. 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3120405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9416" y="1340502"/>
            <a:ext cx="10967786" cy="518484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Структурная схема организации процесса сборки эксплуатационной документации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АРХИТЕКТУРА 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10266040"/>
      </p:ext>
    </p:ext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1152787"/>
              </p:ext>
            </p:extLst>
          </p:nvPr>
        </p:nvGraphicFramePr>
        <p:xfrm>
          <a:off x="551384" y="1484784"/>
          <a:ext cx="11449272" cy="4328160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5832648">
                  <a:extLst>
                    <a:ext uri="{9D8B030D-6E8A-4147-A177-3AD203B41FA5}">
                      <a16:colId xmlns:a16="http://schemas.microsoft.com/office/drawing/2014/main" val="3609670059"/>
                    </a:ext>
                  </a:extLst>
                </a:gridCol>
                <a:gridCol w="5616624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</a:tblGrid>
              <a:tr h="240000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Достоинства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Недостатки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 в ОС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(Ubuntu)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Получаемый файл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абсолютно идентичен вне зависимости от операционной системы.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Достаточно высокий порог вхождения, что впрочем, компенсируется уже наработанным шаблоном для оформления РЭ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и подробной документацией онлайн и систем ИИ (которые обладают достаточно глубокими знаниями по данному продукту).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Современный вид получаемой документации. (Система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была разработана специально для верстки научных книг, то есть обладает инструментами для отображения формул, правильным переносом длинных таблиц по ГОСТу и пр.).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Трудности в получении редактируемого файла в формате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WORD.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Сам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поддерживает прямую генерацию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документа в формат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WORD)</a:t>
                      </a: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001780"/>
                  </a:ext>
                </a:extLst>
              </a:tr>
              <a:tr h="380000">
                <a:tc>
                  <a:txBody>
                    <a:bodyPr/>
                    <a:lstStyle/>
                    <a:p>
                      <a:pPr marL="0" marR="0" lvl="0" indent="8890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Простота вставки векторных рисунков в РЭ (можно вставлять прямо рисунке в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PDF,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который получен из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DWG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имеет данной возможности.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отличии от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Word,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этот редактор не является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 есть документ должен быть собран, перед тем как увидеть изменения.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11250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Возможность </a:t>
                      </a:r>
                      <a:r>
                        <a:rPr lang="ru-RU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переиспользования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одной уже описанной функции в разных РЭ (например, функции КРВ, ЗОП и пр. имеют одинаковое описание для разных устройств).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Сложность работы с таблицами. Данный недостаток нивелируется автоматизированным заполнением таблиц  РЭ и БУ посредством разработанного ПО.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53819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Легкость автоматизации (так как документ написан в текстовом формате, его легко править автоматизированным путем).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978124"/>
                  </a:ext>
                </a:extLst>
              </a:tr>
              <a:tr h="220000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требуется какого- либо дополнительного ПО для редактирования файлов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принципе, достаточно простого текстового редактора, типа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notepad++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лучше с подсветкой синтаксиса </a:t>
                      </a:r>
                      <a:r>
                        <a:rPr lang="en-US" sz="1400" b="1" kern="1200" baseline="0" dirty="0" err="1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LaTeX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baseline="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5891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LATEX.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750604859"/>
      </p:ext>
    </p:extLst>
  </p:cSld>
  <p:clrMapOvr>
    <a:masterClrMapping/>
  </p:clrMapOvr>
  <p:transition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Достоинства и недостатки системы верстки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Word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F501C97A-8071-469B-9F96-8331AF614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3648470"/>
              </p:ext>
            </p:extLst>
          </p:nvPr>
        </p:nvGraphicFramePr>
        <p:xfrm>
          <a:off x="551384" y="1484785"/>
          <a:ext cx="11449272" cy="4772923"/>
        </p:xfrm>
        <a:graphic>
          <a:graphicData uri="http://schemas.openxmlformats.org/drawingml/2006/table">
            <a:tbl>
              <a:tblPr bandRow="1">
                <a:tableStyleId>{1FECB4D8-DB02-4DC6-A0A2-4F2EBAE1DC90}</a:tableStyleId>
              </a:tblPr>
              <a:tblGrid>
                <a:gridCol w="4968552">
                  <a:extLst>
                    <a:ext uri="{9D8B030D-6E8A-4147-A177-3AD203B41FA5}">
                      <a16:colId xmlns:a16="http://schemas.microsoft.com/office/drawing/2014/main" val="3609670059"/>
                    </a:ext>
                  </a:extLst>
                </a:gridCol>
                <a:gridCol w="6480720">
                  <a:extLst>
                    <a:ext uri="{9D8B030D-6E8A-4147-A177-3AD203B41FA5}">
                      <a16:colId xmlns:a16="http://schemas.microsoft.com/office/drawing/2014/main" val="1989351877"/>
                    </a:ext>
                  </a:extLst>
                </a:gridCol>
              </a:tblGrid>
              <a:tr h="346595"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Достоинства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800" b="1" kern="1200" dirty="0" smtClean="0">
                          <a:solidFill>
                            <a:sysClr val="windowText" lastClr="000000"/>
                          </a:solidFill>
                          <a:latin typeface="Arial Narrow" panose="020B0606020202030204" pitchFamily="34" charset="0"/>
                          <a:ea typeface="+mn-ea"/>
                          <a:cs typeface="+mn-cs"/>
                        </a:rPr>
                        <a:t>Недостатки</a:t>
                      </a:r>
                      <a:endParaRPr lang="ru-RU" sz="1800" b="1" kern="1200" dirty="0">
                        <a:solidFill>
                          <a:sysClr val="windowText" lastClr="000000"/>
                        </a:solidFill>
                        <a:latin typeface="Arial Narrow" panose="020B0606020202030204" pitchFamily="34" charset="0"/>
                        <a:ea typeface="+mn-ea"/>
                        <a:cs typeface="+mn-cs"/>
                      </a:endParaRPr>
                    </a:p>
                  </a:txBody>
                  <a:tcPr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149791"/>
                  </a:ext>
                </a:extLst>
              </a:tr>
              <a:tr h="483418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Достаточная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простота работы с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низкий порог вхождения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Работа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только в ОС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Windows.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(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Хотя для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Linux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есть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OpenOffice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, но это немного уже другое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4439897"/>
                  </a:ext>
                </a:extLst>
              </a:tr>
              <a:tr h="491009"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Визуальный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редактор, т.е.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WYSIWYG. 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Что вижу, то и получаю.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Чрезвычайно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усложненный процесс вставки рисунков, приходится вставлять в растровом формате, что утяжеляет документ </a:t>
                      </a:r>
                      <a:r>
                        <a:rPr lang="en-US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и затрудняет работу с ним.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69001780"/>
                  </a:ext>
                </a:extLst>
              </a:tr>
              <a:tr h="404361">
                <a:tc>
                  <a:txBody>
                    <a:bodyPr/>
                    <a:lstStyle/>
                    <a:p>
                      <a:pPr marL="0" marR="0" lvl="0" indent="8890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Корявый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вид полученного документа, как будто студенческая курсовая работа на тройку.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112504"/>
                  </a:ext>
                </a:extLst>
              </a:tr>
              <a:tr h="404361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 связи с тем, что в документе вставлены растровые рисунки (а их в РЭ очень много) большой размер выходного файла РЭ,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что также усложняет работу с этим документом.</a:t>
                      </a:r>
                      <a:endParaRPr lang="ru-RU" sz="1400" b="1" kern="1200" dirty="0" smtClean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86538194"/>
                  </a:ext>
                </a:extLst>
              </a:tr>
              <a:tr h="597163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Необходимость правки одинаковых функций в каждом руководстве по эксплуатации, если было внесено какое-либо изменение</a:t>
                      </a: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978124"/>
                  </a:ext>
                </a:extLst>
              </a:tr>
              <a:tr h="740258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Трудность автоматизации (невозможность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?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вставки перекрестных ссылок автоматизированным путем, что практически сразу перечеркивает возможность его применения для целей автоматизации руководства по эксплуатации. Для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бланка уставок это некритично.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965891"/>
                  </a:ext>
                </a:extLst>
              </a:tr>
              <a:tr h="925323">
                <a:tc>
                  <a:txBody>
                    <a:bodyPr/>
                    <a:lstStyle/>
                    <a:p>
                      <a:pPr marL="8890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29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Невозможность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следования некоторым требованиям ГОСТ по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оформлению, например </a:t>
                      </a:r>
                      <a:r>
                        <a:rPr lang="en-US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Word </a:t>
                      </a:r>
                      <a:r>
                        <a:rPr lang="ru-RU" sz="1400" b="1" kern="120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не может перенести таблицу на другую страницу и при этом вверху указать , что это продолжение таблицы. Требование, впрочем, не критичное. Влияет</a:t>
                      </a:r>
                      <a:r>
                        <a:rPr lang="ru-RU" sz="1400" b="1" kern="1200" baseline="0" dirty="0" smtClean="0">
                          <a:solidFill>
                            <a:sysClr val="windowText" lastClr="000000"/>
                          </a:solidFill>
                          <a:latin typeface="+mn-lt"/>
                          <a:ea typeface="+mn-ea"/>
                          <a:cs typeface="+mn-cs"/>
                        </a:rPr>
                        <a:t> на общее восприятие документа (смогли или нет выполнить). Не возможно правильно выставить колонтитулы на листах ландшафтной ориентации. </a:t>
                      </a:r>
                      <a:endParaRPr lang="ru-RU" sz="1400" b="1" kern="1200" dirty="0">
                        <a:solidFill>
                          <a:sysClr val="windowText" lastClr="00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277680"/>
                  </a:ext>
                </a:extLst>
              </a:tr>
            </a:tbl>
          </a:graphicData>
        </a:graphic>
      </p:graphicFrame>
      <p:sp>
        <p:nvSpPr>
          <p:cNvPr id="4" name="Прямоугольник 3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WORD.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ДОСТОИНСТВА И НЕДОСТАТКИ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677957689"/>
      </p:ext>
    </p:extLst>
  </p:cSld>
  <p:clrMapOvr>
    <a:masterClrMapping/>
  </p:clrMapOvr>
  <p:transition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980728"/>
            <a:ext cx="11809312" cy="29700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Требования к создаваемому ПО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Работа в ОС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Linux.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Низкий порог вхождения, желательно запуск одного исполняемого файла и нажатие одной кнопки для достижения результата.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Масштабируемость.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Применение открытых бесплатных библиотек.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522675467"/>
      </p:ext>
    </p:extLst>
  </p:cSld>
  <p:clrMapOvr>
    <a:masterClrMapping/>
  </p:clrMapOvr>
  <p:transition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088" y="1916832"/>
            <a:ext cx="3501008" cy="3501008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Программное обеспечение для автоматизированной генерации отчетов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7632848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создания программного обеспечения был выбран язык программирования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 было обусловлено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Низким порогом входа в данный язык программирования (в отличии от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например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Быстротой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 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(можно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быстро тестировать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алгоритмы)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Широким распространением и, следовательно, наличием огромного множества различных бесплатных библиотек, необходимых для работы с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pdf, txt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</a:t>
            </a:r>
            <a:r>
              <a:rPr lang="en-US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json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Простотой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интеграции - с базами данных,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веб-интерфейсами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Хорошая (относительно)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производительность -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выполнения поставленных задач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Запуск кода в системах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Windows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Ubuntu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без внесения каких либо изменений в код.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ПРОТОТИПИРОВАНИЕ ЗАДАЧИ НА </a:t>
            </a:r>
            <a:r>
              <a:rPr lang="en-US" sz="2000" b="1" cap="all" dirty="0" smtClean="0">
                <a:solidFill>
                  <a:prstClr val="white"/>
                </a:solidFill>
                <a:latin typeface="Arial Narrow"/>
              </a:rPr>
              <a:t>PYTHON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4069774677"/>
      </p:ext>
    </p:extLst>
  </p:cSld>
  <p:clrMapOvr>
    <a:masterClrMapping/>
  </p:clrMapOvr>
  <p:transition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3392" y="1340504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Сочетание 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добавляет дополнительные возможности для улучшения внешнего вида эксплуатационной документации. Например, возможность форматирования вывода чисел в бланках уставок и таблицах РЭ. То есть, выводить количество нулей в диапазонах уставок именно таким, каким задан шаг для конкретной уставки.</a:t>
            </a: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5400" y="2636912"/>
            <a:ext cx="10561091" cy="26290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3392" y="5265936"/>
            <a:ext cx="11233248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Понятно, что вручную приводить к этому виду два разных документа (БУ и РЭ) с практически одной и той же информацией никто не будет. Из-за того, что для формирования этих документов используется один источник (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 все обозначения сигналов, уставок будут ОДИНАКОВЫМИ в обоих документах</a:t>
            </a: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767313003"/>
      </p:ext>
    </p:extLst>
  </p:cSld>
  <p:clrMapOvr>
    <a:masterClrMapping/>
  </p:clrMapOvr>
  <p:transition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1513636"/>
            <a:ext cx="11233248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Профессиональная система вёрстки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, оставаясь при этом </a:t>
            </a:r>
            <a:r>
              <a:rPr lang="ru-RU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open-source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и бесплатной, избавляет пользователя от необходимости заботиться о внешнем виде документа, поскольку решает эти задачи автоматически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без лишних проблем решает требование ГОСТ о заголовках продолжения таблиц на следующей странице. </a:t>
            </a: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Дополнительные возможности </a:t>
            </a:r>
            <a:r>
              <a:rPr lang="en-US" sz="2400" b="1" u="sng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92" y="3212976"/>
            <a:ext cx="11246693" cy="3064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1522806"/>
      </p:ext>
    </p:extLst>
  </p:cSld>
  <p:clrMapOvr>
    <a:masterClrMapping/>
  </p:clrMapOvr>
  <p:transition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ДОПОЛНИТЕЛЬНЫЕ ПЛЮСЫ АВТОМАТИЗАЦИИ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07368" y="836712"/>
            <a:ext cx="11233248" cy="68941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качестве еще примера - вывод формул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Word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 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Казалось бы это мелочи, но именно из таких вот мелочей и складывается общее впечатление о документе, устройстве и его разработчиках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11" name="Рисунок 1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9456" y="1268760"/>
            <a:ext cx="8928992" cy="45430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885460"/>
      </p:ext>
    </p:extLst>
  </p:cSld>
  <p:clrMapOvr>
    <a:masterClrMapping/>
  </p:clrMapOvr>
  <p:transition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Основные возможности ПО на данный момент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496" y="1364712"/>
            <a:ext cx="8976693" cy="5234566"/>
          </a:xfrm>
          <a:prstGeom prst="rect">
            <a:avLst/>
          </a:prstGeom>
        </p:spPr>
      </p:pic>
      <p:sp>
        <p:nvSpPr>
          <p:cNvPr id="4" name="Прямоугольник 3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ОСНОВНЫЕ ВОЗМОЖНОСТИ ПО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893550396"/>
      </p:ext>
    </p:extLst>
  </p:cSld>
  <p:clrMapOvr>
    <a:masterClrMapping/>
  </p:clrMapOvr>
  <p:transition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Перспективы дальнейшей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22775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фактически архитектура представляет собой следующее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ПО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-&gt; TEX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описания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-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&gt;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верстка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 -&gt; PDF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(РЭ)</a:t>
            </a:r>
            <a:endParaRPr lang="en-US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XLSX файлы с данными -&gt; ПО </a:t>
            </a:r>
            <a:r>
              <a:rPr lang="ru-RU" sz="2000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-&gt;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DOCX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(Бланк уставок)  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ПЕРСПЕКТИВЫ ДАЛЬНЕЙШЕГО РАЗВИТИЯ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95400" y="2996952"/>
            <a:ext cx="1101722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Дальнейшее развитие ПО видится как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Переход от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прототипирования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к созданию полноценного </a:t>
            </a:r>
            <a:r>
              <a:rPr lang="ru-RU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десктопного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приложения под платформу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C# .NET.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(Здесь уже появляется современный интерфейс – например, на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Avalonia,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 так же приложения под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.NET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являются кроссплатформенными).</a:t>
            </a:r>
          </a:p>
          <a:p>
            <a:pPr marL="342900" indent="-342900">
              <a:buAutoNum type="arabicPeriod"/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Перенос данных из файлов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базу данных типа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SQL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(Здесь уже точно определяются типы данных, при работе с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таблицами посредством библиотеки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pandas python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возникают артефакты, т.к. 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Excel 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может по разному трактовать данные в ячейках. Это приводит к усложнению кода).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576594763"/>
      </p:ext>
    </p:extLst>
  </p:cSld>
  <p:clrMapOvr>
    <a:masterClrMapping/>
  </p:clrMapOvr>
  <p:transition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Взаимодействие с ОП Чебоксары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На данный момент ОП Чебоксары предоставляет следующие данные, которые требуются для разработки РЭ и БУ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</a:p>
          <a:p>
            <a:pPr marL="457200" indent="-457200">
              <a:buAutoNum type="arabicPeriod"/>
            </a:pP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XLSX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(включают в себя полное описание функционального блока, а именно – функциональный состав, входы и выходы функций, а также уставки.</a:t>
            </a:r>
          </a:p>
          <a:p>
            <a:pPr marL="457200" indent="-457200">
              <a:buAutoNum type="arabicPeriod"/>
            </a:pP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Данные для текстового описания функций берутся из портала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Confluence.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достаточно для создания руководств по эксплуатации и бланков уставок. </a:t>
            </a:r>
          </a:p>
          <a:p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В процессе формирования РЭ и БУ информация дополнительно проверяется на возможные ошибки.</a:t>
            </a:r>
          </a:p>
          <a:p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02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ТЕКУЩЕЕ ВЗАИМОДЕЙСТВИЕ С ОП ЧЕБОКСАРЫ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3812248677"/>
      </p:ext>
    </p:extLst>
  </p:cSld>
  <p:clrMapOvr>
    <a:masterClrMapping/>
  </p:clrMapOvr>
  <p:transition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Требуемые данные для формирования эксплуатационной документации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67408" y="1430378"/>
            <a:ext cx="11017224" cy="39549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XLSX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файлы с данными описания функциональных блоков (по аналогии с ОПЧ).</a:t>
            </a: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RTF, TXT, DOCX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документы с текстовым описанием разработанных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функций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описание будет переводится в разметку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LaTeX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457200" indent="-457200"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DWG(DXF), 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</a:rPr>
              <a:t>PDF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(желательно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векторный)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–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рисунков (схем логики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).</a:t>
            </a:r>
          </a:p>
          <a:p>
            <a:pPr marL="457200" indent="-457200">
              <a:buAutoNum type="arabicPeriod"/>
            </a:pP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Этой информации будет достаточно для создания руководств по эксплуатации и бланков уставок. </a:t>
            </a:r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endParaRPr lang="en-US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Примечание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JSON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формат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данных для описания функций </a:t>
            </a:r>
            <a:r>
              <a:rPr lang="ru-RU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допустим, но потребует доработки ПО </a:t>
            </a:r>
            <a:r>
              <a:rPr lang="en-US" sz="2000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python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  <a:endParaRPr lang="ru-RU" sz="2000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2000" b="1" dirty="0">
                <a:solidFill>
                  <a:schemeClr val="tx2">
                    <a:lumMod val="75000"/>
                  </a:schemeClr>
                </a:solidFill>
              </a:rPr>
              <a:t>VSD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(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ms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en-US" sz="2000" b="1" dirty="0" err="1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visio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en-US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r>
              <a:rPr lang="ru-RU" sz="2000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для рисунков допустим, но потребует времени на адаптацию.</a:t>
            </a:r>
            <a:endParaRPr lang="ru-RU" sz="2000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ПЛАНИРУЕМОЕ ВЗАИМОДЕЙСТВИЕ ДЛЯ РАЗРАБОТКИ РЭ, БУ М500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</p:spTree>
    <p:extLst>
      <p:ext uri="{BB962C8B-B14F-4D97-AF65-F5344CB8AC3E}">
        <p14:creationId xmlns:p14="http://schemas.microsoft.com/office/powerpoint/2010/main" val="1076084346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0" y="188640"/>
            <a:ext cx="9462539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hangingPunct="0">
              <a:lnSpc>
                <a:spcPct val="110000"/>
              </a:lnSpc>
              <a:defRPr/>
            </a:pPr>
            <a:r>
              <a:rPr lang="ru-RU" sz="2000" b="1" cap="all" dirty="0">
                <a:solidFill>
                  <a:prstClr val="white"/>
                </a:solidFill>
                <a:latin typeface="Arial Narrow"/>
              </a:rPr>
              <a:t>ПРЕДЛАГАЕМАЯ КОНЦЕПЦИЯ МОДЕЛИ </a:t>
            </a:r>
            <a:r>
              <a:rPr lang="ru-RU" sz="2000" b="1" cap="all" dirty="0" smtClean="0">
                <a:solidFill>
                  <a:prstClr val="white"/>
                </a:solidFill>
                <a:latin typeface="Arial Narrow"/>
              </a:rPr>
              <a:t>УСТРОЙСТВА ДЛЯ ДАЛЬНЕЙШЕЙ РАЗРАБОТКИ</a:t>
            </a:r>
            <a:endParaRPr lang="en-US" sz="2000" b="1" cap="all" dirty="0">
              <a:solidFill>
                <a:prstClr val="white"/>
              </a:solidFill>
              <a:latin typeface="Arial Narrow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9936" y="1340503"/>
            <a:ext cx="6606044" cy="516422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91344" y="764704"/>
            <a:ext cx="11809312" cy="5757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ru-RU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Укрупненная диаграмма классов для разработки ПО </a:t>
            </a:r>
            <a:r>
              <a:rPr lang="en-US" sz="2400" b="1" u="sng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</a:t>
            </a:r>
            <a:endParaRPr lang="ru-RU" sz="2400" b="1" u="sng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99356" y="1340503"/>
            <a:ext cx="5171195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устройства достаточно собрать объект классов Аппаратная часть и Программная часть.</a:t>
            </a:r>
          </a:p>
          <a:p>
            <a:pPr>
              <a:spcAft>
                <a:spcPts val="600"/>
              </a:spcAft>
            </a:pP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То есть, фактически необходим только КОД ЗАКАЗА устройства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 (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и, естественно, заполненная база данных с инфо по модулям и функциональным блокам</a:t>
            </a:r>
            <a:r>
              <a:rPr lang="en-US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)</a:t>
            </a:r>
            <a:r>
              <a:rPr lang="ru-RU" b="1" dirty="0" smtClean="0">
                <a:solidFill>
                  <a:schemeClr val="tx2">
                    <a:lumMod val="75000"/>
                  </a:schemeClr>
                </a:solidFill>
                <a:latin typeface="+mn-lt"/>
              </a:rPr>
              <a:t>.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Например, вида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ЮНИТ-М314-ДЗТ2-Р02с-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x-K002-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-B021-B0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0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1-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х-С01.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-2.1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Из этого кода заказа получаем список модулей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[‘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Р02с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‘K002’, ‘B021’,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В001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М090.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ab00-’, 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С01.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a0’] 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для описания аппаратной части и </a:t>
            </a:r>
          </a:p>
          <a:p>
            <a:pPr marL="0" indent="0">
              <a:buNone/>
            </a:pP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получаем версию ФСУ 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‘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ДЗТ2-2.1</a:t>
            </a:r>
            <a:r>
              <a:rPr lang="en-US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’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, зная версию ФСУ из БД мы получим ее функциональный состав. И все … </a:t>
            </a:r>
            <a:r>
              <a:rPr lang="ru-RU" b="1" dirty="0" err="1">
                <a:solidFill>
                  <a:schemeClr val="tx2">
                    <a:lumMod val="75000"/>
                  </a:schemeClr>
                </a:solidFill>
                <a:latin typeface="+mn-lt"/>
              </a:rPr>
              <a:t>вуаля</a:t>
            </a:r>
            <a:r>
              <a:rPr lang="ru-RU" b="1" dirty="0">
                <a:solidFill>
                  <a:schemeClr val="tx2">
                    <a:lumMod val="75000"/>
                  </a:schemeClr>
                </a:solidFill>
                <a:latin typeface="+mn-lt"/>
              </a:rPr>
              <a:t>! Можем создать объект Устройство и передать его в класс Руководство по эксплуатации. </a:t>
            </a:r>
          </a:p>
          <a:p>
            <a:pPr marL="0" indent="0">
              <a:buNone/>
            </a:pPr>
            <a:endParaRPr lang="ru-RU" b="1" dirty="0">
              <a:solidFill>
                <a:schemeClr val="tx2">
                  <a:lumMod val="75000"/>
                </a:schemeClr>
              </a:solidFill>
              <a:latin typeface="+mn-lt"/>
            </a:endParaRPr>
          </a:p>
          <a:p>
            <a:pPr>
              <a:spcAft>
                <a:spcPts val="600"/>
              </a:spcAft>
            </a:pPr>
            <a:endParaRPr lang="ru-RU" b="1" dirty="0" smtClean="0">
              <a:solidFill>
                <a:schemeClr val="tx2">
                  <a:lumMod val="75000"/>
                </a:schemeClr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064505152"/>
      </p:ext>
    </p:extLst>
  </p:cSld>
  <p:clrMapOvr>
    <a:masterClrMapping/>
  </p:clrMapOvr>
  <p:transition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/>
          <p:cNvSpPr txBox="1">
            <a:spLocks/>
          </p:cNvSpPr>
          <p:nvPr/>
        </p:nvSpPr>
        <p:spPr>
          <a:xfrm>
            <a:off x="511085" y="2923765"/>
            <a:ext cx="2880320" cy="1296144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/>
              <a:t>Производство г</a:t>
            </a:r>
            <a:r>
              <a:rPr lang="ru-RU" sz="1800" b="1" cap="none" dirty="0" smtClean="0"/>
              <a:t>. Москва</a:t>
            </a:r>
            <a:r>
              <a:rPr lang="ru-RU" sz="1800" b="1" cap="none" dirty="0">
                <a:latin typeface="+mn-lt"/>
              </a:rPr>
              <a:t>: </a:t>
            </a:r>
          </a:p>
          <a:p>
            <a:pPr>
              <a:defRPr/>
            </a:pPr>
            <a:r>
              <a:rPr lang="ru-RU" sz="1200" cap="none" dirty="0"/>
              <a:t>111024, Москва, ул. 2-ая Кабельная д.2 стр.1,</a:t>
            </a:r>
            <a:br>
              <a:rPr lang="ru-RU" sz="1200" cap="none" dirty="0"/>
            </a:br>
            <a:r>
              <a:rPr lang="ru-RU" sz="1200" cap="none" dirty="0"/>
              <a:t>Территория </a:t>
            </a:r>
            <a:r>
              <a:rPr lang="ru-RU" sz="1200" cap="none" dirty="0">
                <a:latin typeface="+mn-lt"/>
              </a:rPr>
              <a:t>завода</a:t>
            </a:r>
            <a:r>
              <a:rPr lang="ru-RU" sz="1200" cap="none" dirty="0"/>
              <a:t> МКМ </a:t>
            </a:r>
            <a:br>
              <a:rPr lang="ru-RU" sz="1200" cap="none" dirty="0"/>
            </a:br>
            <a:r>
              <a:rPr lang="ru-RU" sz="1200" cap="none" dirty="0"/>
              <a:t>Телефон: +7 (495) 651-99-98</a:t>
            </a:r>
            <a:br>
              <a:rPr lang="ru-RU" sz="1200" cap="none" dirty="0"/>
            </a:br>
            <a:r>
              <a:rPr lang="ru-RU" sz="1200" cap="none" dirty="0" err="1"/>
              <a:t>E-mail</a:t>
            </a:r>
            <a:r>
              <a:rPr lang="ru-RU" sz="1200" cap="none" dirty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/>
          </a:p>
          <a:p>
            <a:pPr>
              <a:defRPr/>
            </a:pPr>
            <a:endParaRPr lang="ru-RU" sz="1200" cap="none" dirty="0"/>
          </a:p>
        </p:txBody>
      </p:sp>
      <p:sp>
        <p:nvSpPr>
          <p:cNvPr id="8" name="Заголовок 1"/>
          <p:cNvSpPr txBox="1">
            <a:spLocks/>
          </p:cNvSpPr>
          <p:nvPr/>
        </p:nvSpPr>
        <p:spPr>
          <a:xfrm>
            <a:off x="511085" y="1412776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>
                <a:latin typeface="+mn-lt"/>
              </a:rPr>
              <a:t>Офис: </a:t>
            </a:r>
          </a:p>
          <a:p>
            <a:pPr>
              <a:defRPr/>
            </a:pPr>
            <a:r>
              <a:rPr lang="ru-RU" sz="1200" cap="none" dirty="0">
                <a:latin typeface="+mn-lt"/>
              </a:rPr>
              <a:t>111024, Москва, ул. 2-ая Кабельная д.2 стр.1,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Территория завода МКМ 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Телефон: +7 (495) 651-99-98</a:t>
            </a:r>
            <a:br>
              <a:rPr lang="ru-RU" sz="1200" cap="none" dirty="0">
                <a:latin typeface="+mn-lt"/>
              </a:rPr>
            </a:br>
            <a:r>
              <a:rPr lang="ru-RU" sz="1200" cap="none" dirty="0">
                <a:latin typeface="+mn-lt"/>
              </a:rPr>
              <a:t>E-</a:t>
            </a:r>
            <a:r>
              <a:rPr lang="ru-RU" sz="1200" cap="none" dirty="0" err="1">
                <a:latin typeface="+mn-lt"/>
              </a:rPr>
              <a:t>mail</a:t>
            </a:r>
            <a:r>
              <a:rPr lang="ru-RU" sz="1200" cap="none" dirty="0">
                <a:latin typeface="+mn-lt"/>
              </a:rPr>
              <a:t>: info@uni-eng.ru</a:t>
            </a:r>
            <a:endParaRPr lang="ru-RU" sz="2400" cap="none" dirty="0">
              <a:latin typeface="+mn-lt"/>
            </a:endParaRPr>
          </a:p>
        </p:txBody>
      </p:sp>
      <p:pic>
        <p:nvPicPr>
          <p:cNvPr id="3075" name="Picture 3" descr="C:\Users\a.sofiysky\Desktop\ПРезентация\qrcode (1)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16080" y="1268760"/>
            <a:ext cx="5040560" cy="4320480"/>
          </a:xfrm>
          <a:prstGeom prst="rect">
            <a:avLst/>
          </a:prstGeom>
          <a:noFill/>
        </p:spPr>
      </p:pic>
      <p:sp>
        <p:nvSpPr>
          <p:cNvPr id="11" name="Заголовок 1"/>
          <p:cNvSpPr txBox="1">
            <a:spLocks/>
          </p:cNvSpPr>
          <p:nvPr/>
        </p:nvSpPr>
        <p:spPr>
          <a:xfrm>
            <a:off x="495533" y="4437112"/>
            <a:ext cx="2880320" cy="1420820"/>
          </a:xfrm>
          <a:prstGeom prst="rect">
            <a:avLst/>
          </a:prstGeom>
        </p:spPr>
        <p:txBody>
          <a:bodyPr lIns="89989" tIns="46794" rIns="89989" bIns="46794" numCol="1" spcCol="359957"/>
          <a:lstStyle>
            <a:lvl1pPr algn="l" rtl="0" fontAlgn="base">
              <a:lnSpc>
                <a:spcPct val="110000"/>
              </a:lnSpc>
              <a:spcBef>
                <a:spcPct val="0"/>
              </a:spcBef>
              <a:spcAft>
                <a:spcPct val="0"/>
              </a:spcAft>
              <a:defRPr sz="2800" kern="1200" cap="all" baseline="0">
                <a:solidFill>
                  <a:schemeClr val="bg1"/>
                </a:solidFill>
                <a:latin typeface="Arial Narrow" pitchFamily="34" charset="0"/>
                <a:ea typeface="+mj-ea"/>
                <a:cs typeface="+mj-cs"/>
              </a:defRPr>
            </a:lvl1pPr>
            <a:lvl2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2pPr>
            <a:lvl3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3pPr>
            <a:lvl4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4pPr>
            <a:lvl5pPr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5pPr>
            <a:lvl6pPr marL="4572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6pPr>
            <a:lvl7pPr marL="9144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7pPr>
            <a:lvl8pPr marL="13716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8pPr>
            <a:lvl9pPr marL="1828800" algn="ctr" rtl="0" fontAlgn="base"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ru-RU" sz="1800" b="1" cap="none" dirty="0" smtClean="0">
                <a:latin typeface="+mn-lt"/>
              </a:rPr>
              <a:t>Производство г. Чебоксары: </a:t>
            </a:r>
          </a:p>
          <a:p>
            <a:pPr>
              <a:defRPr/>
            </a:pPr>
            <a:r>
              <a:rPr lang="ru-RU" sz="1200" cap="none" dirty="0" smtClean="0"/>
              <a:t>428019, </a:t>
            </a:r>
            <a:r>
              <a:rPr lang="ru-RU" sz="1200" cap="none" dirty="0" smtClean="0">
                <a:latin typeface="+mn-lt"/>
              </a:rPr>
              <a:t>Чебоксары</a:t>
            </a:r>
            <a:r>
              <a:rPr lang="ru-RU" sz="1200" cap="none" dirty="0" smtClean="0"/>
              <a:t>, ул. Пристанционная, д. 1</a:t>
            </a:r>
          </a:p>
          <a:p>
            <a:pPr>
              <a:defRPr/>
            </a:pPr>
            <a:r>
              <a:rPr lang="ru-RU" sz="1200" cap="none" dirty="0" smtClean="0"/>
              <a:t>Телефон: +7 (495) 651-99-98</a:t>
            </a:r>
            <a:br>
              <a:rPr lang="ru-RU" sz="1200" cap="none" dirty="0" smtClean="0"/>
            </a:br>
            <a:r>
              <a:rPr lang="ru-RU" sz="1200" cap="none" dirty="0" err="1" smtClean="0"/>
              <a:t>E-mail</a:t>
            </a:r>
            <a:r>
              <a:rPr lang="ru-RU" sz="1200" cap="none" dirty="0" smtClean="0"/>
              <a:t>: </a:t>
            </a:r>
            <a:r>
              <a:rPr lang="ru-RU" sz="1200" cap="none" dirty="0" err="1" smtClean="0"/>
              <a:t>info@uni-eng.ru</a:t>
            </a:r>
            <a:endParaRPr lang="ru-RU" sz="1200" cap="none" dirty="0" smtClean="0"/>
          </a:p>
          <a:p>
            <a:pPr>
              <a:defRPr/>
            </a:pPr>
            <a:endParaRPr lang="ru-RU" sz="1200" cap="none" dirty="0" smtClean="0">
              <a:latin typeface="+mn-lt"/>
            </a:endParaRPr>
          </a:p>
          <a:p>
            <a:pPr>
              <a:defRPr/>
            </a:pPr>
            <a:endParaRPr lang="ru-RU" sz="2400" cap="none" dirty="0">
              <a:latin typeface="+mn-lt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ЮНИТЕЛ-2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Горизонт">
      <a:maj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Arial Narrow"/>
        <a:ea typeface=""/>
        <a:cs typeface=""/>
        <a:font script="Jpan" typeface="HGｺﾞｼｯｸM"/>
        <a:font script="Hang" typeface="HY얕은샘물M"/>
        <a:font script="Hans" typeface="方正姚体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ЮНИТЕЛ-2</Template>
  <TotalTime>89839</TotalTime>
  <Words>1583</Words>
  <Application>Microsoft Office PowerPoint</Application>
  <PresentationFormat>Широкоэкранный</PresentationFormat>
  <Paragraphs>144</Paragraphs>
  <Slides>16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16</vt:i4>
      </vt:variant>
    </vt:vector>
  </HeadingPairs>
  <TitlesOfParts>
    <vt:vector size="20" baseType="lpstr">
      <vt:lpstr>Arial</vt:lpstr>
      <vt:lpstr>Arial Narrow</vt:lpstr>
      <vt:lpstr>Calibri</vt:lpstr>
      <vt:lpstr>ЮНИТЕЛ-2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Designer1</dc:creator>
  <cp:lastModifiedBy>Лубов Григорий</cp:lastModifiedBy>
  <cp:revision>3297</cp:revision>
  <cp:lastPrinted>2018-07-20T14:32:00Z</cp:lastPrinted>
  <dcterms:created xsi:type="dcterms:W3CDTF">2012-08-24T07:28:38Z</dcterms:created>
  <dcterms:modified xsi:type="dcterms:W3CDTF">2025-09-26T12:16:14Z</dcterms:modified>
</cp:coreProperties>
</file>