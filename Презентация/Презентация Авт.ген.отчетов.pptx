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52" r:id="rId1"/>
  </p:sldMasterIdLst>
  <p:notesMasterIdLst>
    <p:notesMasterId r:id="rId15"/>
  </p:notesMasterIdLst>
  <p:handoutMasterIdLst>
    <p:handoutMasterId r:id="rId16"/>
  </p:handoutMasterIdLst>
  <p:sldIdLst>
    <p:sldId id="265" r:id="rId2"/>
    <p:sldId id="638" r:id="rId3"/>
    <p:sldId id="643" r:id="rId4"/>
    <p:sldId id="644" r:id="rId5"/>
    <p:sldId id="645" r:id="rId6"/>
    <p:sldId id="649" r:id="rId7"/>
    <p:sldId id="646" r:id="rId8"/>
    <p:sldId id="648" r:id="rId9"/>
    <p:sldId id="647" r:id="rId10"/>
    <p:sldId id="628" r:id="rId11"/>
    <p:sldId id="629" r:id="rId12"/>
    <p:sldId id="639" r:id="rId13"/>
    <p:sldId id="284" r:id="rId14"/>
  </p:sldIdLst>
  <p:sldSz cx="12192000" cy="6858000"/>
  <p:notesSz cx="7099300" cy="10234613"/>
  <p:defaultTextStyle>
    <a:defPPr>
      <a:defRPr lang="ru-RU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14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29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43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581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5726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2871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016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161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Жуков Алексей" initials="ЖА" lastIdx="1" clrIdx="0">
    <p:extLst>
      <p:ext uri="{19B8F6BF-5375-455C-9EA6-DF929625EA0E}">
        <p15:presenceInfo xmlns:p15="http://schemas.microsoft.com/office/powerpoint/2012/main" userId="S-1-5-21-3204257377-612078318-1080328176-159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DCE6F2"/>
    <a:srgbClr val="EF8637"/>
    <a:srgbClr val="F28838"/>
    <a:srgbClr val="F18738"/>
    <a:srgbClr val="F39200"/>
    <a:srgbClr val="AFBFD5"/>
    <a:srgbClr val="234672"/>
    <a:srgbClr val="54749E"/>
    <a:srgbClr val="95B3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-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FECB4D8-DB02-4DC6-A0A2-4F2EBAE1DC90}" styleName="Средний стиль 1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115" autoAdjust="0"/>
    <p:restoredTop sz="86689" autoAdjust="0"/>
  </p:normalViewPr>
  <p:slideViewPr>
    <p:cSldViewPr>
      <p:cViewPr varScale="1">
        <p:scale>
          <a:sx n="115" d="100"/>
          <a:sy n="115" d="100"/>
        </p:scale>
        <p:origin x="138" y="-13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9" d="100"/>
          <a:sy n="79" d="100"/>
        </p:scale>
        <p:origin x="3882" y="120"/>
      </p:cViewPr>
      <p:guideLst>
        <p:guide orient="horz" pos="3224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1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4021296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r">
              <a:defRPr sz="1200"/>
            </a:lvl1pPr>
          </a:lstStyle>
          <a:p>
            <a:fld id="{44B3FC41-904A-4A14-BC0C-3259396BEE22}" type="datetimeFigureOut">
              <a:rPr lang="ru-RU" smtClean="0"/>
              <a:pPr/>
              <a:t>26.09.2025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4021296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r">
              <a:defRPr sz="1200"/>
            </a:lvl1pPr>
          </a:lstStyle>
          <a:p>
            <a:fld id="{48F06AD2-50A3-411B-A8D1-560CA9D9A84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94496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1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4021296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cs typeface="+mn-cs"/>
              </a:defRPr>
            </a:lvl1pPr>
          </a:lstStyle>
          <a:p>
            <a:pPr>
              <a:defRPr/>
            </a:pPr>
            <a:fld id="{8586EEBF-9171-4376-91FC-87252248866B}" type="datetimeFigureOut">
              <a:rPr lang="ru-RU"/>
              <a:pPr>
                <a:defRPr/>
              </a:pPr>
              <a:t>26.09.2025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9938"/>
            <a:ext cx="6819900" cy="3835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31" tIns="49515" rIns="99031" bIns="49515" rtlCol="0" anchor="ctr"/>
          <a:lstStyle/>
          <a:p>
            <a:pPr lvl="0"/>
            <a:endParaRPr lang="ru-RU" noProof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vert="horz" lIns="99031" tIns="49515" rIns="99031" bIns="49515" rtlCol="0"/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4021296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cs typeface="+mn-cs"/>
              </a:defRPr>
            </a:lvl1pPr>
          </a:lstStyle>
          <a:p>
            <a:pPr>
              <a:defRPr/>
            </a:pPr>
            <a:fld id="{33BE8861-76DE-4716-B3B2-EB4CCB0924A2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750648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5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9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5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81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26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71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16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61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39700" y="769938"/>
            <a:ext cx="6819900" cy="38354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3BE8861-76DE-4716-B3B2-EB4CCB0924A2}" type="slidenum">
              <a:rPr lang="ru-RU" smtClean="0"/>
              <a:pPr>
                <a:defRPr/>
              </a:pPr>
              <a:t>1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Образ слайда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39700" y="769938"/>
            <a:ext cx="6819900" cy="38354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0483" name="Заметки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ru-RU"/>
          </a:p>
        </p:txBody>
      </p:sp>
      <p:sp>
        <p:nvSpPr>
          <p:cNvPr id="20484" name="Номер слайда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D9EB4278-94E5-4403-BAE8-A6C2782F81E8}" type="slidenum">
              <a:rPr lang="ru-RU"/>
              <a:pPr fontAlgn="base">
                <a:spcBef>
                  <a:spcPct val="0"/>
                </a:spcBef>
                <a:spcAft>
                  <a:spcPct val="0"/>
                </a:spcAft>
              </a:pPr>
              <a:t>13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иний фо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Рисунок 1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3800"/>
          <a:stretch/>
        </p:blipFill>
        <p:spPr>
          <a:xfrm>
            <a:off x="0" y="764703"/>
            <a:ext cx="12192000" cy="5829471"/>
          </a:xfrm>
          <a:prstGeom prst="rect">
            <a:avLst/>
          </a:prstGeom>
        </p:spPr>
      </p:pic>
      <p:sp>
        <p:nvSpPr>
          <p:cNvPr id="14" name="Прямоугольник 13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17" name="Номер слайда 3"/>
          <p:cNvSpPr txBox="1">
            <a:spLocks/>
          </p:cNvSpPr>
          <p:nvPr userDrawn="1"/>
        </p:nvSpPr>
        <p:spPr>
          <a:xfrm>
            <a:off x="10205263" y="6597355"/>
            <a:ext cx="1651377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cxnSp>
        <p:nvCxnSpPr>
          <p:cNvPr id="15" name="Прямая соединительная линия 14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/>
          <p:cNvCxnSpPr/>
          <p:nvPr userDrawn="1"/>
        </p:nvCxnSpPr>
        <p:spPr>
          <a:xfrm>
            <a:off x="0" y="6525344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pic>
        <p:nvPicPr>
          <p:cNvPr id="1026" name="Picture 2" descr="E:\Archive\2024\4. NEC_UNITEL\JPG\Logo_01.jp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04256" cy="470917"/>
          </a:xfrm>
          <a:prstGeom prst="rect">
            <a:avLst/>
          </a:prstGeom>
          <a:noFill/>
        </p:spPr>
      </p:pic>
      <p:pic>
        <p:nvPicPr>
          <p:cNvPr id="2" name="Picture 2" descr="C:\Users\e.minchenkova\Desktop\НЭК (1)\НЭК\НЭК\НЭК (Национальная Энергетическая Компания)\Логотип\PNG\1.png"/>
          <p:cNvPicPr>
            <a:picLocks noChangeAspect="1" noChangeArrowheads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26704" y="144885"/>
            <a:ext cx="2184920" cy="51728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64872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5064"/>
          <a:stretch/>
        </p:blipFill>
        <p:spPr>
          <a:xfrm>
            <a:off x="-2966" y="7168"/>
            <a:ext cx="12203330" cy="901552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4177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9552385" y="6597355"/>
            <a:ext cx="2304255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pic>
        <p:nvPicPr>
          <p:cNvPr id="18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73619333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/>
          <p:cNvSpPr/>
          <p:nvPr userDrawn="1"/>
        </p:nvSpPr>
        <p:spPr>
          <a:xfrm>
            <a:off x="3143672" y="761531"/>
            <a:ext cx="9048328" cy="583582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pic>
        <p:nvPicPr>
          <p:cNvPr id="13" name="Рисунок 1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056440" y="6597355"/>
            <a:ext cx="1800201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1228855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056440" y="6597355"/>
            <a:ext cx="1800201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161511828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128449" y="6597355"/>
            <a:ext cx="1728192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311336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67892117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909" r:id="rId1"/>
    <p:sldLayoutId id="2147483906" r:id="rId2"/>
    <p:sldLayoutId id="2147483904" r:id="rId3"/>
    <p:sldLayoutId id="2147483900" r:id="rId4"/>
    <p:sldLayoutId id="2147483905" r:id="rId5"/>
  </p:sldLayoutIdLst>
  <p:hf hdr="0" ftr="0" dt="0"/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145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29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435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581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859" indent="-342859" algn="l" rtl="0" fontAlgn="base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861" indent="-285716" algn="l" rtl="0" fontAlgn="base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63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08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53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298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43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589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734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45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90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35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8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26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7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16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16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271464" y="1124744"/>
            <a:ext cx="1219200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ru-RU" sz="4000" dirty="0" smtClean="0">
                <a:solidFill>
                  <a:prstClr val="white"/>
                </a:solidFill>
                <a:latin typeface="Arial Narrow"/>
              </a:rPr>
              <a:t>Автоматизированное формирование</a:t>
            </a:r>
          </a:p>
          <a:p>
            <a:pPr lvl="0" algn="ctr"/>
            <a:r>
              <a:rPr lang="ru-RU" sz="4000" dirty="0" smtClean="0">
                <a:solidFill>
                  <a:prstClr val="white"/>
                </a:solidFill>
                <a:latin typeface="Arial Narrow"/>
              </a:rPr>
              <a:t> эксплуатационной документации</a:t>
            </a:r>
          </a:p>
        </p:txBody>
      </p:sp>
      <p:pic>
        <p:nvPicPr>
          <p:cNvPr id="4" name="Рисунок 3" descr="C:\Users\n.kolobrodov\Documents\Выставки\Промосайт ЮНИТ-М300\ЮНИТ-М300.png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36" y="2132856"/>
            <a:ext cx="5184576" cy="402069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25349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ВВЕДЕНИЕ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91344" y="980728"/>
            <a:ext cx="11809312" cy="4939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Автоматизированное формирование эксплуатационной документации: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	В процессе разработки МП устройств требуется оперативное и безошибочное сопровождение большого объема (в связи со сложностью и многообразием устройств и функций в составе этих устройств) однотипных данных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Функциональные описания логических схем устройства (дискретные входные и выходные сигналы, уставки)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Аппаратные спецификации устройств (модули входных и выходных сигналов, измерительные модули и пр.).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	Ручное сопровождение таких данных и формирование на их основе бланков уставок и руководств по эксплуатации процесс ресурсоемкий, подвержен человеческим ошибкам и все это затрудняет актуализацию при внесении каких-либо изменений в описание функций и пр.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решения этой задачи реализован автоматизированный конвейер, который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Считывает структурированные данные из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excel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спецификаций по функциональным блокам.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Обрабатывает их в соответствии с требованиями нормативной документации.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Генерирует бланки уставок и руководства по эксплуатации в стандартизированной форме.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1344" y="4974129"/>
            <a:ext cx="11809312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algn="ctr">
              <a:spcAft>
                <a:spcPts val="600"/>
              </a:spcAft>
            </a:pPr>
            <a:r>
              <a:rPr lang="ru-RU" sz="24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Данная презентация демонстрирует логику работы решения, организация структуры проекта, его архитектуры и практическую пользу. 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120405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1340502"/>
            <a:ext cx="10967786" cy="518484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Структурная схема организации процесса сборки эксплуатационной документации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10266040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Достоинства и недостатки системы верстки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F501C97A-8071-469B-9F96-8331AF614F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1152787"/>
              </p:ext>
            </p:extLst>
          </p:nvPr>
        </p:nvGraphicFramePr>
        <p:xfrm>
          <a:off x="551384" y="1484784"/>
          <a:ext cx="11449272" cy="4328160"/>
        </p:xfrm>
        <a:graphic>
          <a:graphicData uri="http://schemas.openxmlformats.org/drawingml/2006/table">
            <a:tbl>
              <a:tblPr bandRow="1">
                <a:tableStyleId>{1FECB4D8-DB02-4DC6-A0A2-4F2EBAE1DC90}</a:tableStyleId>
              </a:tblPr>
              <a:tblGrid>
                <a:gridCol w="5832648">
                  <a:extLst>
                    <a:ext uri="{9D8B030D-6E8A-4147-A177-3AD203B41FA5}">
                      <a16:colId xmlns:a16="http://schemas.microsoft.com/office/drawing/2014/main" val="3609670059"/>
                    </a:ext>
                  </a:extLst>
                </a:gridCol>
                <a:gridCol w="5616624">
                  <a:extLst>
                    <a:ext uri="{9D8B030D-6E8A-4147-A177-3AD203B41FA5}">
                      <a16:colId xmlns:a16="http://schemas.microsoft.com/office/drawing/2014/main" val="1989351877"/>
                    </a:ext>
                  </a:extLst>
                </a:gridCol>
              </a:tblGrid>
              <a:tr h="240000"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Достоинства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Недостатки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4979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Работа в ОС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Windows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Linux (Ubuntu)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 Получаемый файл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PDF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абсолютно идентичен вне зависимости от операционной системы.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Достаточно высокий порог вхождения, что впрочем, компенсируется уже наработанным шаблоном для оформления РЭ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подробной документацией онлайн и систем ИИ (которые обладают достаточно глубокими знаниями по данному продукту).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4439897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Современный вид получаемой документации. (Система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была разработана специально для верстки научных книг, то есть обладает инструментами для отображения формул, правильным переносом длинных таблиц по ГОСТу и пр.).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Трудности в получении редактируемого файла в формате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WORD.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Сам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поддерживает прямую генерацию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документа в формат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WORD)</a:t>
                      </a: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900178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marL="0" marR="0" lvl="0" indent="8890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Простота вставки векторных рисунков в РЭ (можно вставлять прямо рисунке в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PDF,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который получен из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DWG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).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имеет данной возможности.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 отличии от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этот редактор не является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WYSIWYG.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То есть документ должен быть собран, перед тем как увидеть изменения.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9112504"/>
                  </a:ext>
                </a:extLst>
              </a:tr>
              <a:tr h="220000">
                <a:tc>
                  <a:txBody>
                    <a:bodyPr/>
                    <a:lstStyle/>
                    <a:p>
                      <a:pPr marL="8890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Возможность </a:t>
                      </a:r>
                      <a:r>
                        <a:rPr lang="ru-RU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переиспользования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одной уже описанной функции в разных РЭ (например, функции КРВ, ЗОП и пр. имеют одинаковое описание для разных устройств).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Сложность работы с таблицами. Данный недостаток нивелируется автоматизированным заполнением таблиц  РЭ и БУ посредством разработанного ПО.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6538194"/>
                  </a:ext>
                </a:extLst>
              </a:tr>
              <a:tr h="220000">
                <a:tc>
                  <a:txBody>
                    <a:bodyPr/>
                    <a:lstStyle/>
                    <a:p>
                      <a:pPr marL="8890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Легкость автоматизации (так как документ написан в текстовом формате, его легко править автоматизированным путем).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978124"/>
                  </a:ext>
                </a:extLst>
              </a:tr>
              <a:tr h="220000">
                <a:tc>
                  <a:txBody>
                    <a:bodyPr/>
                    <a:lstStyle/>
                    <a:p>
                      <a:pPr marL="8890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требуется какого- либо дополнительного ПО для редактирования файлов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 принципе, достаточно простого текстового редактора, типа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notepad++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лучше с подсветкой синтаксиса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965891"/>
                  </a:ext>
                </a:extLst>
              </a:tr>
            </a:tbl>
          </a:graphicData>
        </a:graphic>
      </p:graphicFrame>
      <p:sp>
        <p:nvSpPr>
          <p:cNvPr id="4" name="Прямоугольник 3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LATEX.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ДОСТОИНСТВА И НЕДОСТАТКИ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750604859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Достоинства и недостатки системы верстки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Word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F501C97A-8071-469B-9F96-8331AF614F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3648470"/>
              </p:ext>
            </p:extLst>
          </p:nvPr>
        </p:nvGraphicFramePr>
        <p:xfrm>
          <a:off x="551384" y="1484785"/>
          <a:ext cx="11449272" cy="4772923"/>
        </p:xfrm>
        <a:graphic>
          <a:graphicData uri="http://schemas.openxmlformats.org/drawingml/2006/table">
            <a:tbl>
              <a:tblPr bandRow="1">
                <a:tableStyleId>{1FECB4D8-DB02-4DC6-A0A2-4F2EBAE1DC90}</a:tableStyleId>
              </a:tblPr>
              <a:tblGrid>
                <a:gridCol w="4968552">
                  <a:extLst>
                    <a:ext uri="{9D8B030D-6E8A-4147-A177-3AD203B41FA5}">
                      <a16:colId xmlns:a16="http://schemas.microsoft.com/office/drawing/2014/main" val="3609670059"/>
                    </a:ext>
                  </a:extLst>
                </a:gridCol>
                <a:gridCol w="6480720">
                  <a:extLst>
                    <a:ext uri="{9D8B030D-6E8A-4147-A177-3AD203B41FA5}">
                      <a16:colId xmlns:a16="http://schemas.microsoft.com/office/drawing/2014/main" val="1989351877"/>
                    </a:ext>
                  </a:extLst>
                </a:gridCol>
              </a:tblGrid>
              <a:tr h="346595"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smtClean="0">
                          <a:solidFill>
                            <a:sysClr val="windowText" lastClr="000000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Достоинства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smtClean="0">
                          <a:solidFill>
                            <a:sysClr val="windowText" lastClr="000000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Недостатки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49791"/>
                  </a:ext>
                </a:extLst>
              </a:tr>
              <a:tr h="483418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Достаточная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простота работы с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низкий порог вхождения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Работа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только в ОС 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Windows.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Хотя для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Linux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есть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OpenOffice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но это немного уже другое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4439897"/>
                  </a:ext>
                </a:extLst>
              </a:tr>
              <a:tr h="491009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Визуальный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редактор, т.е.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WYSIWYG.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Что вижу, то и получаю.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Чрезвычайно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усложненный процесс вставки рисунков, приходится вставлять в растровом формате, что утяжеляет документ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и затрудняет работу с ним.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9001780"/>
                  </a:ext>
                </a:extLst>
              </a:tr>
              <a:tr h="404361">
                <a:tc>
                  <a:txBody>
                    <a:bodyPr/>
                    <a:lstStyle/>
                    <a:p>
                      <a:pPr marL="0" marR="0" lvl="0" indent="8890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Корявый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вид полученного документа, как будто студенческая курсовая работа на тройку.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9112504"/>
                  </a:ext>
                </a:extLst>
              </a:tr>
              <a:tr h="404361">
                <a:tc>
                  <a:txBody>
                    <a:bodyPr/>
                    <a:lstStyle/>
                    <a:p>
                      <a:pPr marL="8890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 связи с тем, что в документе вставлены растровые рисунки (а их в РЭ очень много) большой размер выходного файла РЭ,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что также усложняет работу с этим документом.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6538194"/>
                  </a:ext>
                </a:extLst>
              </a:tr>
              <a:tr h="597163">
                <a:tc>
                  <a:txBody>
                    <a:bodyPr/>
                    <a:lstStyle/>
                    <a:p>
                      <a:pPr marL="8890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Необходимость правки одинаковых функций в каждом руководстве по эксплуатации, если было внесено какое-либо изменение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978124"/>
                  </a:ext>
                </a:extLst>
              </a:tr>
              <a:tr h="740258">
                <a:tc>
                  <a:txBody>
                    <a:bodyPr/>
                    <a:lstStyle/>
                    <a:p>
                      <a:pPr marL="8890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Трудность автоматизации (невозможность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?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вставки перекрестных ссылок автоматизированным путем, что практически сразу перечеркивает возможность его применения для целей автоматизации руководства по эксплуатации. Для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бланка уставок это некритично.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ru-RU" sz="14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965891"/>
                  </a:ext>
                </a:extLst>
              </a:tr>
              <a:tr h="925323">
                <a:tc>
                  <a:txBody>
                    <a:bodyPr/>
                    <a:lstStyle/>
                    <a:p>
                      <a:pPr marL="8890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Невозможность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следования некоторым требованиям ГОСТ по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оформлению, например 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может перенести таблицу на другую страницу и при этом вверху указать , что это продолжение таблицы. Требование, впрочем, не критичное. Влияет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на общее восприятие документа (смогли или нет выполнить). Не возможно правильно выставить колонтитулы на листах ландшафтной ориентации. </a:t>
                      </a:r>
                      <a:endParaRPr lang="ru-RU" sz="14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5277680"/>
                  </a:ext>
                </a:extLst>
              </a:tr>
            </a:tbl>
          </a:graphicData>
        </a:graphic>
      </p:graphicFrame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WORD.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ДОСТОИНСТВА И НЕДОСТАТКИ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677957689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980728"/>
            <a:ext cx="11809312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Требования к создаваемому ПО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Работа в ОС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Windows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Linux.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Низкий порог вхождения, желательно запуск одного исполняемого файла и нажатие одной кнопки для достижения результата.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Масштабируемость.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22675467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3088" y="1916832"/>
            <a:ext cx="3501008" cy="350100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Программное обеспечение для автоматизированной генерации отчетов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3392" y="1340504"/>
            <a:ext cx="7632848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создания программного обеспечения был выбран язык программирования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python.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Это было обусловлено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Низким порогом входа в данный язык программирования (в отличии от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,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например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C#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Быстротой 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прототипирования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 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(можно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быстро тестировать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алгоритмы)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Широким распространением и, следовательно, наличием огромного множества различных бесплатных библиотек, необходимых для работы с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docx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pdf,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txt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json</a:t>
            </a:r>
            <a:r>
              <a:rPr lang="en-US" b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файлами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Простотой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интеграции - с базами данных,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веб-интерфейсами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Хорошая (относительно)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производительность -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выполнения поставленных задач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 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Запуск кода в системах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Windows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Ubuntu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без внесения каких либо изменений в код.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ПРОТОТИПИРОВАНИЕ ЗАДАЧИ НА 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PYTHON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69774677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Основные возможности ПО на данный момент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9496" y="1364712"/>
            <a:ext cx="8976693" cy="5234566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ОСНОВНЫЕ ВОЗМОЖНОСТИ ПО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893550396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Перспективы дальней разработки ПО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 данный момент фактически архитектура представляет собой следующее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457200" indent="-457200">
              <a:buAutoNum type="arabicPeriod"/>
            </a:pP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с данными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-&gt;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-&gt; TEX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описания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</a:rPr>
              <a:t>-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&gt;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верстка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 -&gt; PDF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(РЭ)</a:t>
            </a:r>
            <a:endParaRPr lang="en-US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XLSX файлы с данными -&gt; ПО </a:t>
            </a:r>
            <a:r>
              <a:rPr lang="ru-RU" sz="2000" b="1" dirty="0" err="1">
                <a:solidFill>
                  <a:schemeClr val="tx2">
                    <a:lumMod val="75000"/>
                  </a:schemeClr>
                </a:solidFill>
                <a:latin typeface="+mn-lt"/>
              </a:rPr>
              <a:t>Python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-&gt;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DOCX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(Бланк уставок)  </a:t>
            </a: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ПЕРСПЕКТИВЫ ДАЛЬНЕЙШЕГО РАЗВИТИЯ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95400" y="2996952"/>
            <a:ext cx="1101722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Дальнейшее развитие ПО видится как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Переход от 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прототипирования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на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 создание полноценного 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десктопного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приложения под платформу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C# .NET.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(Здесь уже появляется современный интерфейс – например, на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Avalonia,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так же приложения под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.NET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являются кроссплатформенными).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Перенос данных из файлов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 базу данных типа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SQL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(Здесь уже точно определяются типы данных, при работе с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таблицами посредством библиотеки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pandas python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возникают артефакты, т.к.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Excel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может по разному трактовать данные в ячейках. Это приводит к усложнению кода).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76594763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188640"/>
            <a:ext cx="8663608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Функции мониторинга и управления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graphicFrame>
        <p:nvGraphicFramePr>
          <p:cNvPr id="4" name="Таблица 3">
            <a:extLst>
              <a:ext uri="{FF2B5EF4-FFF2-40B4-BE49-F238E27FC236}">
                <a16:creationId xmlns:a16="http://schemas.microsoft.com/office/drawing/2014/main" id="{F501C97A-8071-469B-9F96-8331AF614F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5749537"/>
              </p:ext>
            </p:extLst>
          </p:nvPr>
        </p:nvGraphicFramePr>
        <p:xfrm>
          <a:off x="127532" y="1052736"/>
          <a:ext cx="11952000" cy="3693034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472000">
                  <a:extLst>
                    <a:ext uri="{9D8B030D-6E8A-4147-A177-3AD203B41FA5}">
                      <a16:colId xmlns:a16="http://schemas.microsoft.com/office/drawing/2014/main" val="1989351877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5791177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366225028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85361659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767967360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84321195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8966307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7986283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133381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3897276408"/>
                    </a:ext>
                  </a:extLst>
                </a:gridCol>
              </a:tblGrid>
              <a:tr h="406419">
                <a:tc rowSpan="2"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kern="1200" dirty="0" smtClean="0">
                          <a:latin typeface="+mn-lt"/>
                        </a:rPr>
                        <a:t>Функции мониторинга и управления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9"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kern="1200" dirty="0" smtClean="0">
                          <a:latin typeface="+mn-lt"/>
                        </a:rPr>
                        <a:t>Типоисполнение ЮНИТ-М300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49791"/>
                  </a:ext>
                </a:extLst>
              </a:tr>
              <a:tr h="406419">
                <a:tc vMerge="1"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smtClean="0">
                          <a:latin typeface="+mn-lt"/>
                        </a:rPr>
                        <a:t>ОЛ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smtClean="0">
                          <a:latin typeface="+mn-lt"/>
                        </a:rPr>
                        <a:t>ВВ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smtClean="0">
                          <a:latin typeface="+mn-lt"/>
                        </a:rPr>
                        <a:t>СВ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smtClean="0">
                          <a:latin typeface="+mn-lt"/>
                        </a:rPr>
                        <a:t>ТН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smtClean="0">
                          <a:latin typeface="+mn-lt"/>
                        </a:rPr>
                        <a:t>ДЗТ2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smtClean="0">
                          <a:latin typeface="+mn-lt"/>
                        </a:rPr>
                        <a:t>Т2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smtClean="0">
                          <a:latin typeface="+mn-lt"/>
                        </a:rPr>
                        <a:t>Т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smtClean="0">
                          <a:latin typeface="+mn-lt"/>
                        </a:rPr>
                        <a:t>АРНТ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smtClean="0">
                          <a:latin typeface="+mn-lt"/>
                        </a:rPr>
                        <a:t>ЦД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14432"/>
                  </a:ext>
                </a:extLst>
              </a:tr>
              <a:tr h="261836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Контроллер присоединения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4797378"/>
                  </a:ext>
                </a:extLst>
              </a:tr>
              <a:tr h="261836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Контроль состояния коммутационных аппаратов (В, Р/ВЭ, ЗН)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0660632"/>
                  </a:ext>
                </a:extLst>
              </a:tr>
              <a:tr h="261836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Контроль состояния коммутационных аппаратов (Р/ВЭ, ЗН)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4733918"/>
                  </a:ext>
                </a:extLst>
              </a:tr>
              <a:tr h="261836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Контроль силового выключателя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 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 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 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 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 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 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7081564"/>
                  </a:ext>
                </a:extLst>
              </a:tr>
              <a:tr h="261836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Контроль ресурса выключателя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 dirty="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6833301"/>
                  </a:ext>
                </a:extLst>
              </a:tr>
              <a:tr h="261836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Контроль цепей отключения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54439897"/>
                  </a:ext>
                </a:extLst>
              </a:tr>
              <a:tr h="261836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Контроль цепей тока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6238800"/>
                  </a:ext>
                </a:extLst>
              </a:tr>
              <a:tr h="261836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Контроль цепей напряжения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5445330"/>
                  </a:ext>
                </a:extLst>
              </a:tr>
              <a:tr h="261836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Контроль чередования фаз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93248222"/>
                  </a:ext>
                </a:extLst>
              </a:tr>
              <a:tr h="261836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Предупредительная сигнализация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1839746"/>
                  </a:ext>
                </a:extLst>
              </a:tr>
              <a:tr h="261836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Технологическая сигнализация</a:t>
                      </a:r>
                      <a:endParaRPr lang="ru-RU" sz="160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b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 dirty="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0"/>
                        </a:spcAft>
                      </a:pPr>
                      <a:r>
                        <a:rPr lang="ru-RU" sz="1600" dirty="0">
                          <a:effectLst/>
                          <a:latin typeface="+mn-lt"/>
                          <a:ea typeface="Times New Roman" panose="02020603050405020304" pitchFamily="18" charset="0"/>
                          <a:cs typeface="Calibri" panose="020F0502020204030204" pitchFamily="34" charset="0"/>
                        </a:rPr>
                        <a:t>●</a:t>
                      </a:r>
                      <a:endParaRPr lang="ru-RU" sz="1600" dirty="0">
                        <a:effectLst/>
                        <a:latin typeface="+mn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 dirty="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</a:pPr>
                      <a:endParaRPr lang="ru-RU" sz="1600" dirty="0">
                        <a:effectLst/>
                        <a:latin typeface="+mn-lt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66456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7004236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188640"/>
            <a:ext cx="8663608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Интерфейсы связи и протоколы обмена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263352" y="908720"/>
            <a:ext cx="11737303" cy="6309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100"/>
              </a:lnSpc>
            </a:pPr>
            <a:r>
              <a:rPr lang="ru-RU" b="1" u="sng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Устройства серии ЮНИТ-М300 соответствуют требованиям в части интерфейсов связи протоколов обмена данных СТО 56947007-29.120.70.241-2017 ПАО «Россети» «Технические требования к микропроцессорным устройствам РЗА</a:t>
            </a:r>
            <a:r>
              <a:rPr lang="ru-RU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»</a:t>
            </a:r>
            <a:endParaRPr lang="ru-RU" b="1" u="sng" dirty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F501C97A-8071-469B-9F96-8331AF614F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0568139"/>
              </p:ext>
            </p:extLst>
          </p:nvPr>
        </p:nvGraphicFramePr>
        <p:xfrm>
          <a:off x="263352" y="1539662"/>
          <a:ext cx="11665296" cy="491673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5832648">
                  <a:extLst>
                    <a:ext uri="{9D8B030D-6E8A-4147-A177-3AD203B41FA5}">
                      <a16:colId xmlns:a16="http://schemas.microsoft.com/office/drawing/2014/main" val="1989351877"/>
                    </a:ext>
                  </a:extLst>
                </a:gridCol>
                <a:gridCol w="2916324">
                  <a:extLst>
                    <a:ext uri="{9D8B030D-6E8A-4147-A177-3AD203B41FA5}">
                      <a16:colId xmlns:a16="http://schemas.microsoft.com/office/drawing/2014/main" val="579117743"/>
                    </a:ext>
                  </a:extLst>
                </a:gridCol>
                <a:gridCol w="2916324">
                  <a:extLst>
                    <a:ext uri="{9D8B030D-6E8A-4147-A177-3AD203B41FA5}">
                      <a16:colId xmlns:a16="http://schemas.microsoft.com/office/drawing/2014/main" val="3662250281"/>
                    </a:ext>
                  </a:extLst>
                </a:gridCol>
              </a:tblGrid>
              <a:tr h="533334">
                <a:tc gridSpan="2"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kern="1200" dirty="0" smtClean="0"/>
                        <a:t>Требование ПАО</a:t>
                      </a:r>
                      <a:r>
                        <a:rPr lang="ru-RU" sz="1800" kern="1200" baseline="0" dirty="0" smtClean="0"/>
                        <a:t> «Россети»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kern="1200" dirty="0" smtClean="0"/>
                        <a:t>Характеристики ЮНИТ-М300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149791"/>
                  </a:ext>
                </a:extLst>
              </a:tr>
              <a:tr h="307699">
                <a:tc>
                  <a:txBody>
                    <a:bodyPr/>
                    <a:lstStyle/>
                    <a:p>
                      <a:r>
                        <a:rPr lang="ru-RU" sz="16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Режим работы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Полный дуплекс (</a:t>
                      </a:r>
                      <a:r>
                        <a:rPr lang="en-US" sz="16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full-duplex)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Полный дуплекс (</a:t>
                      </a:r>
                      <a:r>
                        <a:rPr lang="en-US" sz="16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full-duplex)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4797378"/>
                  </a:ext>
                </a:extLst>
              </a:tr>
              <a:tr h="307699">
                <a:tc>
                  <a:txBody>
                    <a:bodyPr/>
                    <a:lstStyle/>
                    <a:p>
                      <a:pPr marL="0" marR="0" indent="0" algn="l" defTabSz="91444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Количество физических портов для связи с АСУ ТП ПС не менее, </a:t>
                      </a:r>
                      <a:r>
                        <a:rPr lang="ru-RU" sz="1600" b="0" dirty="0" err="1" smtClean="0">
                          <a:solidFill>
                            <a:schemeClr val="tx1"/>
                          </a:solidFill>
                          <a:latin typeface="+mn-lt"/>
                        </a:rPr>
                        <a:t>шт</a:t>
                      </a:r>
                      <a:endParaRPr lang="ru-RU" sz="1600" b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4439897"/>
                  </a:ext>
                </a:extLst>
              </a:tr>
              <a:tr h="755261">
                <a:tc>
                  <a:txBody>
                    <a:bodyPr/>
                    <a:lstStyle/>
                    <a:p>
                      <a:r>
                        <a:rPr lang="ru-RU" sz="16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Протокол обмена данными с АСУ ТП: </a:t>
                      </a:r>
                    </a:p>
                    <a:p>
                      <a:r>
                        <a:rPr lang="ru-RU" sz="16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для горизонтального обмена</a:t>
                      </a:r>
                    </a:p>
                    <a:p>
                      <a:r>
                        <a:rPr lang="ru-RU" sz="16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для среднего и верхнего уровня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по </a:t>
                      </a:r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IEC 61850-8-1</a:t>
                      </a:r>
                      <a:endParaRPr lang="ru-RU" sz="1600" b="0" i="0" u="none" strike="noStrike" dirty="0" smtClean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  <a:p>
                      <a:pPr algn="ctr" fontAlgn="b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GOOSE</a:t>
                      </a:r>
                      <a:endParaRPr lang="ru-RU" sz="1600" b="0" i="0" u="none" strike="noStrike" dirty="0" smtClean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  <a:p>
                      <a:pPr algn="ctr" fontAlgn="b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MMS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по </a:t>
                      </a:r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IEC 61850-8-1</a:t>
                      </a:r>
                      <a:endParaRPr lang="ru-RU" sz="1600" b="0" i="0" u="none" strike="noStrike" dirty="0" smtClean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  <a:p>
                      <a:pPr algn="ctr" fontAlgn="b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GOOSE</a:t>
                      </a:r>
                      <a:endParaRPr lang="ru-RU" sz="1600" b="0" i="0" u="none" strike="noStrike" dirty="0" smtClean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  <a:p>
                      <a:pPr algn="ctr" fontAlgn="b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MMS</a:t>
                      </a:r>
                      <a:endParaRPr lang="ru-RU" sz="1600" b="0" i="0" u="none" strike="noStrike" dirty="0" smtClean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1839746"/>
                  </a:ext>
                </a:extLst>
              </a:tr>
              <a:tr h="531480">
                <a:tc>
                  <a:txBody>
                    <a:bodyPr/>
                    <a:lstStyle/>
                    <a:p>
                      <a:pPr marL="0" marR="0" indent="0" algn="l" defTabSz="91444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Интерфейс для подключения переносного ПК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USB</a:t>
                      </a:r>
                      <a:r>
                        <a:rPr lang="ru-RU" sz="16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или </a:t>
                      </a:r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Ethernet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Ethernet</a:t>
                      </a:r>
                      <a:endParaRPr lang="ru-RU" sz="1600" b="0" i="0" u="none" strike="noStrike" dirty="0" smtClean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645673"/>
                  </a:ext>
                </a:extLst>
              </a:tr>
              <a:tr h="755261">
                <a:tc>
                  <a:txBody>
                    <a:bodyPr/>
                    <a:lstStyle/>
                    <a:p>
                      <a:pPr marL="0" marR="0" indent="0" algn="l" defTabSz="91444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Формирование осциллограмм в формате COMTRADE с поддержкой выдачи осциллограмм в АСУ ТП по протоколу IEC 61850-8-1 с использованием сервиса </a:t>
                      </a:r>
                      <a:r>
                        <a:rPr lang="ru-RU" sz="1600" b="0" dirty="0" err="1" smtClean="0">
                          <a:solidFill>
                            <a:schemeClr val="tx1"/>
                          </a:solidFill>
                          <a:latin typeface="+mn-lt"/>
                        </a:rPr>
                        <a:t>getFile</a:t>
                      </a:r>
                      <a:endParaRPr lang="ru-RU" sz="1600" b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Да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Да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6901621"/>
                  </a:ext>
                </a:extLst>
              </a:tr>
              <a:tr h="531480">
                <a:tc>
                  <a:txBody>
                    <a:bodyPr/>
                    <a:lstStyle/>
                    <a:p>
                      <a:pPr marL="0" marR="0" indent="0" algn="l" defTabSz="91444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Поддержка функции дистанционного управления устройствами РЗА из АСУТП по протоколу IEC 61850-8-1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Да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Да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2485145"/>
                  </a:ext>
                </a:extLst>
              </a:tr>
              <a:tr h="377196">
                <a:tc>
                  <a:txBody>
                    <a:bodyPr/>
                    <a:lstStyle/>
                    <a:p>
                      <a:pPr marL="0" marR="0" indent="0" algn="l" defTabSz="91444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Производительность </a:t>
                      </a:r>
                      <a:r>
                        <a:rPr lang="en-US" sz="1600" b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GOOSE</a:t>
                      </a:r>
                      <a:endParaRPr lang="ru-RU" sz="1600" b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Р1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Р1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2957473"/>
                  </a:ext>
                </a:extLst>
              </a:tr>
              <a:tr h="307699">
                <a:tc>
                  <a:txBody>
                    <a:bodyPr/>
                    <a:lstStyle/>
                    <a:p>
                      <a:r>
                        <a:rPr lang="ru-RU" sz="16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Поддержка функции горячего резервирования портов или наличие протокола PRP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Да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PRP,</a:t>
                      </a:r>
                      <a:r>
                        <a:rPr lang="en-US" sz="16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HSR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79817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3146860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188640"/>
            <a:ext cx="8663608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Сравнение с Конкурентами на актуальной платформе</a:t>
            </a: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3053583"/>
              </p:ext>
            </p:extLst>
          </p:nvPr>
        </p:nvGraphicFramePr>
        <p:xfrm>
          <a:off x="191344" y="980728"/>
          <a:ext cx="11809312" cy="515112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3694938">
                  <a:extLst>
                    <a:ext uri="{9D8B030D-6E8A-4147-A177-3AD203B41FA5}">
                      <a16:colId xmlns:a16="http://schemas.microsoft.com/office/drawing/2014/main" val="84111441"/>
                    </a:ext>
                  </a:extLst>
                </a:gridCol>
                <a:gridCol w="1086747">
                  <a:extLst>
                    <a:ext uri="{9D8B030D-6E8A-4147-A177-3AD203B41FA5}">
                      <a16:colId xmlns:a16="http://schemas.microsoft.com/office/drawing/2014/main" val="1233439878"/>
                    </a:ext>
                  </a:extLst>
                </a:gridCol>
                <a:gridCol w="1956143">
                  <a:extLst>
                    <a:ext uri="{9D8B030D-6E8A-4147-A177-3AD203B41FA5}">
                      <a16:colId xmlns:a16="http://schemas.microsoft.com/office/drawing/2014/main" val="2124009841"/>
                    </a:ext>
                  </a:extLst>
                </a:gridCol>
                <a:gridCol w="2101043">
                  <a:extLst>
                    <a:ext uri="{9D8B030D-6E8A-4147-A177-3AD203B41FA5}">
                      <a16:colId xmlns:a16="http://schemas.microsoft.com/office/drawing/2014/main" val="1290626345"/>
                    </a:ext>
                  </a:extLst>
                </a:gridCol>
                <a:gridCol w="1666345">
                  <a:extLst>
                    <a:ext uri="{9D8B030D-6E8A-4147-A177-3AD203B41FA5}">
                      <a16:colId xmlns:a16="http://schemas.microsoft.com/office/drawing/2014/main" val="755851001"/>
                    </a:ext>
                  </a:extLst>
                </a:gridCol>
                <a:gridCol w="1304096">
                  <a:extLst>
                    <a:ext uri="{9D8B030D-6E8A-4147-A177-3AD203B41FA5}">
                      <a16:colId xmlns:a16="http://schemas.microsoft.com/office/drawing/2014/main" val="2834373290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Параметр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smtClean="0">
                          <a:solidFill>
                            <a:sysClr val="windowText" lastClr="000000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ЭКРА </a:t>
                      </a:r>
                      <a:endParaRPr lang="en-US" sz="1800" b="1" kern="1200" dirty="0" smtClean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smtClean="0">
                          <a:solidFill>
                            <a:sysClr val="windowText" lastClr="000000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БЭ2502Б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smtClean="0">
                          <a:solidFill>
                            <a:sysClr val="windowText" lastClr="000000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Прософт</a:t>
                      </a:r>
                      <a:r>
                        <a:rPr lang="ru-RU" sz="1800" b="1" kern="1200" baseline="0" dirty="0" smtClean="0">
                          <a:solidFill>
                            <a:sysClr val="windowText" lastClr="000000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 Системы</a:t>
                      </a:r>
                    </a:p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kern="1200" baseline="0" dirty="0" smtClean="0">
                          <a:solidFill>
                            <a:sysClr val="windowText" lastClr="000000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ARIS-23</a:t>
                      </a:r>
                      <a:r>
                        <a:rPr lang="ru-RU" sz="1800" b="1" kern="1200" baseline="0" dirty="0" smtClean="0">
                          <a:solidFill>
                            <a:sysClr val="windowText" lastClr="000000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05/2308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smtClean="0">
                          <a:solidFill>
                            <a:sysClr val="windowText" lastClr="000000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Радиус Автоматика</a:t>
                      </a:r>
                    </a:p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smtClean="0">
                          <a:solidFill>
                            <a:sysClr val="windowText" lastClr="000000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Сириус 02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smtClean="0">
                          <a:solidFill>
                            <a:sysClr val="windowText" lastClr="000000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Релематика</a:t>
                      </a:r>
                    </a:p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smtClean="0">
                          <a:solidFill>
                            <a:sysClr val="windowText" lastClr="000000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ТОР</a:t>
                      </a:r>
                      <a:r>
                        <a:rPr lang="ru-RU" sz="1800" b="1" kern="1200" baseline="0" dirty="0" smtClean="0">
                          <a:solidFill>
                            <a:sysClr val="windowText" lastClr="000000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 300 КП 725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kern="1200" dirty="0" smtClean="0"/>
                        <a:t>ЮНИТ-М300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0256970"/>
                  </a:ext>
                </a:extLst>
              </a:tr>
              <a:tr h="152008">
                <a:tc>
                  <a:txBody>
                    <a:bodyPr/>
                    <a:lstStyle/>
                    <a:p>
                      <a:r>
                        <a:rPr lang="ru-RU" sz="16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Аттестация ПАО «Россети»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Нет</a:t>
                      </a:r>
                      <a:endParaRPr lang="en-US" sz="1600" b="0" i="0" u="none" strike="noStrike" kern="1200" baseline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Да</a:t>
                      </a:r>
                      <a:endParaRPr lang="en-US" sz="1600" b="0" i="0" u="none" strike="noStrike" kern="1200" baseline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Да</a:t>
                      </a:r>
                      <a:endParaRPr lang="en-US" sz="1600" b="0" i="0" u="none" strike="noStrike" kern="1200" baseline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Нет</a:t>
                      </a:r>
                      <a:endParaRPr lang="en-US" sz="1600" b="0" i="0" u="none" strike="noStrike" kern="1200" baseline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6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в 2025 году</a:t>
                      </a:r>
                      <a:endParaRPr lang="en-US" sz="1600" b="0" i="0" u="none" strike="noStrike" kern="1200" baseline="0" dirty="0" smtClean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628385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4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Количество портов </a:t>
                      </a:r>
                      <a:r>
                        <a:rPr lang="en-US" sz="1600" b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Ethernet</a:t>
                      </a:r>
                      <a:endParaRPr lang="ru-RU" sz="1600" b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до 4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до 4</a:t>
                      </a:r>
                      <a:endParaRPr lang="ru-RU" sz="16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1299611"/>
                  </a:ext>
                </a:extLst>
              </a:tr>
              <a:tr h="129520">
                <a:tc>
                  <a:txBody>
                    <a:bodyPr/>
                    <a:lstStyle/>
                    <a:p>
                      <a:r>
                        <a:rPr lang="ru-RU" sz="16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Количество конфигурируемых ФК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8(16)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4/6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до 45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до</a:t>
                      </a:r>
                      <a:r>
                        <a:rPr lang="ru-RU" sz="1600" b="0" i="0" u="none" strike="noStrike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36/50</a:t>
                      </a:r>
                      <a:endParaRPr lang="ru-RU" sz="16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до 48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60754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4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i="0" u="none" strike="noStrike" kern="1200" baseline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Количество конфигурируемых СД</a:t>
                      </a:r>
                      <a:endParaRPr lang="ru-RU" sz="1600" b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32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7/18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32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до 48/80</a:t>
                      </a:r>
                      <a:endParaRPr lang="ru-RU" sz="16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до 80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91672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4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Функция контроллера присоединения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Да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Да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Нет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Да</a:t>
                      </a:r>
                      <a:endParaRPr lang="ru-RU" sz="16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Да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2457524"/>
                  </a:ext>
                </a:extLst>
              </a:tr>
              <a:tr h="419824">
                <a:tc>
                  <a:txBody>
                    <a:bodyPr/>
                    <a:lstStyle/>
                    <a:p>
                      <a:pPr marL="0" marR="0" indent="0" algn="l" defTabSz="91444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Графический экран с возможностью отображения мнемосхемы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Да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Да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Нет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Да</a:t>
                      </a:r>
                      <a:endParaRPr lang="ru-RU" sz="16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Да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3218120"/>
                  </a:ext>
                </a:extLst>
              </a:tr>
              <a:tr h="128736">
                <a:tc>
                  <a:txBody>
                    <a:bodyPr/>
                    <a:lstStyle/>
                    <a:p>
                      <a:pPr marL="0" marR="0" indent="0" algn="l" defTabSz="91444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Сенсорный</a:t>
                      </a:r>
                      <a:r>
                        <a:rPr lang="ru-RU" sz="1600" b="0" baseline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 ввод</a:t>
                      </a:r>
                      <a:endParaRPr lang="ru-RU" sz="1600" b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Нет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Нет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Нет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Нет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Да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4774374"/>
                  </a:ext>
                </a:extLst>
              </a:tr>
              <a:tr h="128736">
                <a:tc>
                  <a:txBody>
                    <a:bodyPr/>
                    <a:lstStyle/>
                    <a:p>
                      <a:pPr marL="0" marR="0" indent="0" algn="l" defTabSz="91444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Аналоговые</a:t>
                      </a:r>
                      <a:r>
                        <a:rPr lang="ru-RU" sz="1600" b="0" baseline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 входы тока РЗА</a:t>
                      </a:r>
                      <a:endParaRPr lang="ru-RU" sz="1600" b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до</a:t>
                      </a:r>
                      <a:r>
                        <a:rPr lang="ru-RU" sz="16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8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290" rtl="0" eaLnBrk="1" fontAlgn="b" latinLnBrk="0" hangingPunct="1"/>
                      <a:r>
                        <a:rPr lang="ru-RU" sz="16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до 4</a:t>
                      </a:r>
                      <a:endParaRPr lang="ru-RU" sz="16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до</a:t>
                      </a:r>
                      <a:r>
                        <a:rPr lang="ru-RU" sz="1600" b="0" i="0" u="none" strike="noStrike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12</a:t>
                      </a:r>
                      <a:endParaRPr lang="ru-RU" sz="16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29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до 48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до 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790980"/>
                  </a:ext>
                </a:extLst>
              </a:tr>
              <a:tr h="128736">
                <a:tc>
                  <a:txBody>
                    <a:bodyPr/>
                    <a:lstStyle/>
                    <a:p>
                      <a:pPr marL="0" marR="0" lvl="0" indent="0" algn="l" defTabSz="91444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Аналоговые</a:t>
                      </a:r>
                      <a:r>
                        <a:rPr lang="ru-RU" sz="1600" b="0" baseline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 входы напряжения РЗА</a:t>
                      </a:r>
                      <a:endParaRPr lang="ru-RU" sz="1600" b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до</a:t>
                      </a:r>
                      <a:r>
                        <a:rPr lang="ru-RU" sz="16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8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290" rtl="0" eaLnBrk="1" fontAlgn="b" latinLnBrk="0" hangingPunct="1"/>
                      <a:r>
                        <a:rPr lang="ru-RU" sz="16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до 4</a:t>
                      </a:r>
                      <a:endParaRPr lang="ru-RU" sz="16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до</a:t>
                      </a:r>
                      <a:r>
                        <a:rPr lang="ru-RU" sz="1600" b="0" i="0" u="none" strike="noStrike" baseline="0" dirty="0" smtClean="0">
                          <a:solidFill>
                            <a:schemeClr val="tx1"/>
                          </a:solidFill>
                          <a:effectLst/>
                          <a:latin typeface="+mn-lt"/>
                        </a:rPr>
                        <a:t> 12</a:t>
                      </a:r>
                      <a:endParaRPr lang="ru-RU" sz="1600" b="0" i="0" u="none" strike="noStrike" dirty="0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29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600" b="0" i="0" u="none" strike="noStrike" dirty="0" smtClean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до 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79369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4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Выносной блок ИЧМ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Нет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Опция при заказе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Нет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Опция при заказе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Да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81031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4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Масштабирование ИЧМ (увеличение количества ФК и СД)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Нет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Нет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Да*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Да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Да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29244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l" defTabSz="914445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Габаритная высота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</a:t>
                      </a:r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</a:t>
                      </a:r>
                      <a:endParaRPr lang="ru-RU" sz="1600" b="0" i="0" u="none" strike="noStrike" dirty="0" smtClean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4U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</a:t>
                      </a:r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</a:t>
                      </a:r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U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3U</a:t>
                      </a:r>
                      <a:endParaRPr lang="ru-RU" sz="1600" b="0" i="0" u="none" strike="noStrike" dirty="0" smtClean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7256725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91344" y="6165304"/>
            <a:ext cx="1180931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 smtClean="0">
                <a:solidFill>
                  <a:srgbClr val="FF0000"/>
                </a:solidFill>
                <a:latin typeface="+mn-lt"/>
              </a:rPr>
              <a:t>* - при увеличении ФК и СД увеличиваются габариты всего устройства РЗА Сириус-02</a:t>
            </a:r>
          </a:p>
        </p:txBody>
      </p:sp>
    </p:spTree>
    <p:extLst>
      <p:ext uri="{BB962C8B-B14F-4D97-AF65-F5344CB8AC3E}">
        <p14:creationId xmlns:p14="http://schemas.microsoft.com/office/powerpoint/2010/main" val="2403279169"/>
      </p:ext>
    </p:extLst>
  </p:cSld>
  <p:clrMapOvr>
    <a:masterClrMapping/>
  </p:clrMapOvr>
  <p:transition/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 txBox="1">
            <a:spLocks/>
          </p:cNvSpPr>
          <p:nvPr/>
        </p:nvSpPr>
        <p:spPr>
          <a:xfrm>
            <a:off x="511085" y="2923765"/>
            <a:ext cx="2880320" cy="1296144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/>
              <a:t>Производство г</a:t>
            </a:r>
            <a:r>
              <a:rPr lang="ru-RU" sz="1800" b="1" cap="none" dirty="0" smtClean="0"/>
              <a:t>. Москва</a:t>
            </a:r>
            <a:r>
              <a:rPr lang="ru-RU" sz="1800" b="1" cap="none" dirty="0">
                <a:latin typeface="+mn-lt"/>
              </a:rPr>
              <a:t>: </a:t>
            </a:r>
          </a:p>
          <a:p>
            <a:pPr>
              <a:defRPr/>
            </a:pPr>
            <a:r>
              <a:rPr lang="ru-RU" sz="1200" cap="none" dirty="0"/>
              <a:t>111024, Москва, ул. 2-ая Кабельная д.2 стр.1,</a:t>
            </a:r>
            <a:br>
              <a:rPr lang="ru-RU" sz="1200" cap="none" dirty="0"/>
            </a:br>
            <a:r>
              <a:rPr lang="ru-RU" sz="1200" cap="none" dirty="0"/>
              <a:t>Территория </a:t>
            </a:r>
            <a:r>
              <a:rPr lang="ru-RU" sz="1200" cap="none" dirty="0">
                <a:latin typeface="+mn-lt"/>
              </a:rPr>
              <a:t>завода</a:t>
            </a:r>
            <a:r>
              <a:rPr lang="ru-RU" sz="1200" cap="none" dirty="0"/>
              <a:t> МКМ </a:t>
            </a:r>
            <a:br>
              <a:rPr lang="ru-RU" sz="1200" cap="none" dirty="0"/>
            </a:br>
            <a:r>
              <a:rPr lang="ru-RU" sz="1200" cap="none" dirty="0"/>
              <a:t>Телефон: +7 (495) 651-99-98</a:t>
            </a:r>
            <a:br>
              <a:rPr lang="ru-RU" sz="1200" cap="none" dirty="0"/>
            </a:br>
            <a:r>
              <a:rPr lang="ru-RU" sz="1200" cap="none" dirty="0" err="1"/>
              <a:t>E-mail</a:t>
            </a:r>
            <a:r>
              <a:rPr lang="ru-RU" sz="1200" cap="none" dirty="0"/>
              <a:t>: </a:t>
            </a:r>
            <a:r>
              <a:rPr lang="ru-RU" sz="1200" cap="none" dirty="0" err="1" smtClean="0"/>
              <a:t>info@uni-eng.ru</a:t>
            </a:r>
            <a:endParaRPr lang="ru-RU" sz="1200" cap="none" dirty="0" smtClean="0"/>
          </a:p>
          <a:p>
            <a:pPr>
              <a:defRPr/>
            </a:pPr>
            <a:endParaRPr lang="ru-RU" sz="1200" cap="none" dirty="0" smtClean="0"/>
          </a:p>
          <a:p>
            <a:pPr>
              <a:defRPr/>
            </a:pPr>
            <a:endParaRPr lang="ru-RU" sz="1200" cap="none" dirty="0"/>
          </a:p>
        </p:txBody>
      </p:sp>
      <p:sp>
        <p:nvSpPr>
          <p:cNvPr id="8" name="Заголовок 1"/>
          <p:cNvSpPr txBox="1">
            <a:spLocks/>
          </p:cNvSpPr>
          <p:nvPr/>
        </p:nvSpPr>
        <p:spPr>
          <a:xfrm>
            <a:off x="511085" y="1412776"/>
            <a:ext cx="2880320" cy="1420820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>
                <a:latin typeface="+mn-lt"/>
              </a:rPr>
              <a:t>Офис: </a:t>
            </a:r>
          </a:p>
          <a:p>
            <a:pPr>
              <a:defRPr/>
            </a:pPr>
            <a:r>
              <a:rPr lang="ru-RU" sz="1200" cap="none" dirty="0">
                <a:latin typeface="+mn-lt"/>
              </a:rPr>
              <a:t>111024, Москва, ул. 2-ая Кабельная д.2 стр.1,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Территория завода МКМ 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Телефон: +7 (495) 651-99-98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E-</a:t>
            </a:r>
            <a:r>
              <a:rPr lang="ru-RU" sz="1200" cap="none" dirty="0" err="1">
                <a:latin typeface="+mn-lt"/>
              </a:rPr>
              <a:t>mail</a:t>
            </a:r>
            <a:r>
              <a:rPr lang="ru-RU" sz="1200" cap="none" dirty="0">
                <a:latin typeface="+mn-lt"/>
              </a:rPr>
              <a:t>: info@uni-eng.ru</a:t>
            </a:r>
            <a:endParaRPr lang="ru-RU" sz="2400" cap="none" dirty="0">
              <a:latin typeface="+mn-lt"/>
            </a:endParaRPr>
          </a:p>
        </p:txBody>
      </p:sp>
      <p:pic>
        <p:nvPicPr>
          <p:cNvPr id="3075" name="Picture 3" descr="C:\Users\a.sofiysky\Desktop\ПРезентация\qrcode (1)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16080" y="1268760"/>
            <a:ext cx="5040560" cy="4320480"/>
          </a:xfrm>
          <a:prstGeom prst="rect">
            <a:avLst/>
          </a:prstGeom>
          <a:noFill/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495533" y="4437112"/>
            <a:ext cx="2880320" cy="1420820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 smtClean="0">
                <a:latin typeface="+mn-lt"/>
              </a:rPr>
              <a:t>Производство г. Чебоксары: </a:t>
            </a:r>
          </a:p>
          <a:p>
            <a:pPr>
              <a:defRPr/>
            </a:pPr>
            <a:r>
              <a:rPr lang="ru-RU" sz="1200" cap="none" dirty="0" smtClean="0"/>
              <a:t>428019, </a:t>
            </a:r>
            <a:r>
              <a:rPr lang="ru-RU" sz="1200" cap="none" dirty="0" smtClean="0">
                <a:latin typeface="+mn-lt"/>
              </a:rPr>
              <a:t>Чебоксары</a:t>
            </a:r>
            <a:r>
              <a:rPr lang="ru-RU" sz="1200" cap="none" dirty="0" smtClean="0"/>
              <a:t>, ул. Пристанционная, д. 1</a:t>
            </a:r>
          </a:p>
          <a:p>
            <a:pPr>
              <a:defRPr/>
            </a:pPr>
            <a:r>
              <a:rPr lang="ru-RU" sz="1200" cap="none" dirty="0" smtClean="0"/>
              <a:t>Телефон: +7 (495) 651-99-98</a:t>
            </a:r>
            <a:br>
              <a:rPr lang="ru-RU" sz="1200" cap="none" dirty="0" smtClean="0"/>
            </a:br>
            <a:r>
              <a:rPr lang="ru-RU" sz="1200" cap="none" dirty="0" err="1" smtClean="0"/>
              <a:t>E-mail</a:t>
            </a:r>
            <a:r>
              <a:rPr lang="ru-RU" sz="1200" cap="none" dirty="0" smtClean="0"/>
              <a:t>: </a:t>
            </a:r>
            <a:r>
              <a:rPr lang="ru-RU" sz="1200" cap="none" dirty="0" err="1" smtClean="0"/>
              <a:t>info@uni-eng.ru</a:t>
            </a:r>
            <a:endParaRPr lang="ru-RU" sz="1200" cap="none" dirty="0" smtClean="0"/>
          </a:p>
          <a:p>
            <a:pPr>
              <a:defRPr/>
            </a:pPr>
            <a:endParaRPr lang="ru-RU" sz="1200" cap="none" dirty="0" smtClean="0">
              <a:latin typeface="+mn-lt"/>
            </a:endParaRPr>
          </a:p>
          <a:p>
            <a:pPr>
              <a:defRPr/>
            </a:pPr>
            <a:endParaRPr lang="ru-RU" sz="2400" cap="none" dirty="0">
              <a:latin typeface="+mn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ЮНИТЕЛ-2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Горизонт">
      <a:majorFont>
        <a:latin typeface="Arial Narrow"/>
        <a:ea typeface=""/>
        <a:cs typeface=""/>
        <a:font script="Jpan" typeface="HGｺﾞｼｯｸM"/>
        <a:font script="Hang" typeface="HY얕은샘물M"/>
        <a:font script="Hans" typeface="方正姚体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 Narrow"/>
        <a:ea typeface=""/>
        <a:cs typeface=""/>
        <a:font script="Jpan" typeface="HGｺﾞｼｯｸM"/>
        <a:font script="Hang" typeface="HY얕은샘물M"/>
        <a:font script="Hans" typeface="方正姚体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ЮНИТЕЛ-2</Template>
  <TotalTime>89640</TotalTime>
  <Words>1495</Words>
  <Application>Microsoft Office PowerPoint</Application>
  <PresentationFormat>Широкоэкранный</PresentationFormat>
  <Paragraphs>287</Paragraphs>
  <Slides>13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8" baseType="lpstr">
      <vt:lpstr>Arial</vt:lpstr>
      <vt:lpstr>Arial Narrow</vt:lpstr>
      <vt:lpstr>Calibri</vt:lpstr>
      <vt:lpstr>Times New Roman</vt:lpstr>
      <vt:lpstr>ЮНИТЕЛ-2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Designer1</dc:creator>
  <cp:lastModifiedBy>Лубов Григорий</cp:lastModifiedBy>
  <cp:revision>3268</cp:revision>
  <cp:lastPrinted>2018-07-20T14:32:00Z</cp:lastPrinted>
  <dcterms:created xsi:type="dcterms:W3CDTF">2012-08-24T07:28:38Z</dcterms:created>
  <dcterms:modified xsi:type="dcterms:W3CDTF">2025-09-26T06:12:30Z</dcterms:modified>
</cp:coreProperties>
</file>