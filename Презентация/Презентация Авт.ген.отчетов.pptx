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2" r:id="rId1"/>
  </p:sldMasterIdLst>
  <p:notesMasterIdLst>
    <p:notesMasterId r:id="rId31"/>
  </p:notesMasterIdLst>
  <p:handoutMasterIdLst>
    <p:handoutMasterId r:id="rId32"/>
  </p:handoutMasterIdLst>
  <p:sldIdLst>
    <p:sldId id="265" r:id="rId2"/>
    <p:sldId id="638" r:id="rId3"/>
    <p:sldId id="643" r:id="rId4"/>
    <p:sldId id="644" r:id="rId5"/>
    <p:sldId id="645" r:id="rId6"/>
    <p:sldId id="646" r:id="rId7"/>
    <p:sldId id="648" r:id="rId8"/>
    <p:sldId id="647" r:id="rId9"/>
    <p:sldId id="619" r:id="rId10"/>
    <p:sldId id="618" r:id="rId11"/>
    <p:sldId id="609" r:id="rId12"/>
    <p:sldId id="625" r:id="rId13"/>
    <p:sldId id="626" r:id="rId14"/>
    <p:sldId id="627" r:id="rId15"/>
    <p:sldId id="628" r:id="rId16"/>
    <p:sldId id="629" r:id="rId17"/>
    <p:sldId id="630" r:id="rId18"/>
    <p:sldId id="631" r:id="rId19"/>
    <p:sldId id="632" r:id="rId20"/>
    <p:sldId id="640" r:id="rId21"/>
    <p:sldId id="641" r:id="rId22"/>
    <p:sldId id="642" r:id="rId23"/>
    <p:sldId id="639" r:id="rId24"/>
    <p:sldId id="633" r:id="rId25"/>
    <p:sldId id="634" r:id="rId26"/>
    <p:sldId id="635" r:id="rId27"/>
    <p:sldId id="636" r:id="rId28"/>
    <p:sldId id="637" r:id="rId29"/>
    <p:sldId id="284" r:id="rId30"/>
  </p:sldIdLst>
  <p:sldSz cx="12192000" cy="6858000"/>
  <p:notesSz cx="7099300" cy="10234613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1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2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43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58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5726" algn="l" defTabSz="91429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2871" algn="l" defTabSz="91429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016" algn="l" defTabSz="91429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161" algn="l" defTabSz="91429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Жуков Алексей" initials="ЖА" lastIdx="1" clrIdx="0">
    <p:extLst>
      <p:ext uri="{19B8F6BF-5375-455C-9EA6-DF929625EA0E}">
        <p15:presenceInfo xmlns:p15="http://schemas.microsoft.com/office/powerpoint/2012/main" userId="S-1-5-21-3204257377-612078318-1080328176-159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E6F2"/>
    <a:srgbClr val="EF8637"/>
    <a:srgbClr val="F28838"/>
    <a:srgbClr val="F18738"/>
    <a:srgbClr val="F39200"/>
    <a:srgbClr val="AFBFD5"/>
    <a:srgbClr val="234672"/>
    <a:srgbClr val="54749E"/>
    <a:srgbClr val="95B3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15" autoAdjust="0"/>
    <p:restoredTop sz="86689" autoAdjust="0"/>
  </p:normalViewPr>
  <p:slideViewPr>
    <p:cSldViewPr>
      <p:cViewPr varScale="1">
        <p:scale>
          <a:sx n="90" d="100"/>
          <a:sy n="90" d="100"/>
        </p:scale>
        <p:origin x="114" y="3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882" y="12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4021296" y="3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/>
          <a:lstStyle>
            <a:lvl1pPr algn="r">
              <a:defRPr sz="1200"/>
            </a:lvl1pPr>
          </a:lstStyle>
          <a:p>
            <a:fld id="{44B3FC41-904A-4A14-BC0C-3259396BEE22}" type="datetimeFigureOut">
              <a:rPr lang="ru-RU" smtClean="0"/>
              <a:pPr/>
              <a:t>25.09.2025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4021296" y="9721108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 anchor="b"/>
          <a:lstStyle>
            <a:lvl1pPr algn="r">
              <a:defRPr sz="1200"/>
            </a:lvl1pPr>
          </a:lstStyle>
          <a:p>
            <a:fld id="{48F06AD2-50A3-411B-A8D1-560CA9D9A84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4496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021296" y="3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586EEBF-9171-4376-91FC-87252248866B}" type="datetimeFigureOut">
              <a:rPr lang="ru-RU"/>
              <a:pPr>
                <a:defRPr/>
              </a:pPr>
              <a:t>25.09.2025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9938"/>
            <a:ext cx="6819900" cy="3835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1" tIns="49515" rIns="99031" bIns="49515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9031" tIns="49515" rIns="99031" bIns="49515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021296" y="9721108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3BE8861-76DE-4716-B3B2-EB4CCB0924A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5064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5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5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81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39700" y="769938"/>
            <a:ext cx="6819900" cy="38354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E8861-76DE-4716-B3B2-EB4CCB0924A2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9700" y="769938"/>
            <a:ext cx="6819900" cy="38354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/>
          </a:p>
        </p:txBody>
      </p:sp>
      <p:sp>
        <p:nvSpPr>
          <p:cNvPr id="2048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9EB4278-94E5-4403-BAE8-A6C2782F81E8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ини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3800"/>
          <a:stretch/>
        </p:blipFill>
        <p:spPr>
          <a:xfrm>
            <a:off x="0" y="764703"/>
            <a:ext cx="12192000" cy="5829471"/>
          </a:xfrm>
          <a:prstGeom prst="rect">
            <a:avLst/>
          </a:prstGeom>
        </p:spPr>
      </p:pic>
      <p:sp>
        <p:nvSpPr>
          <p:cNvPr id="14" name="Прямоугольник 13"/>
          <p:cNvSpPr/>
          <p:nvPr userDrawn="1"/>
        </p:nvSpPr>
        <p:spPr>
          <a:xfrm flipV="1">
            <a:off x="0" y="6597354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7" name="Номер слайда 3"/>
          <p:cNvSpPr txBox="1">
            <a:spLocks/>
          </p:cNvSpPr>
          <p:nvPr userDrawn="1"/>
        </p:nvSpPr>
        <p:spPr>
          <a:xfrm>
            <a:off x="10205263" y="6597355"/>
            <a:ext cx="1651377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1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cxnSp>
        <p:nvCxnSpPr>
          <p:cNvPr id="15" name="Прямая соединительная линия 14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 userDrawn="1"/>
        </p:nvCxnSpPr>
        <p:spPr>
          <a:xfrm>
            <a:off x="0" y="6525344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1026" name="Picture 2" descr="E:\Archive\2024\4. NEC_UNITEL\JPG\Logo_01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04256" cy="470917"/>
          </a:xfrm>
          <a:prstGeom prst="rect">
            <a:avLst/>
          </a:prstGeom>
          <a:noFill/>
        </p:spPr>
      </p:pic>
      <p:pic>
        <p:nvPicPr>
          <p:cNvPr id="2" name="Picture 2" descr="C:\Users\e.minchenkova\Desktop\НЭК (1)\НЭК\НЭК\НЭК (Национальная Энергетическая Компания)\Логотип\PNG\1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6704" y="144885"/>
            <a:ext cx="2184920" cy="517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64872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85064"/>
          <a:stretch/>
        </p:blipFill>
        <p:spPr>
          <a:xfrm>
            <a:off x="-2966" y="7168"/>
            <a:ext cx="12203330" cy="901552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 flipV="1">
            <a:off x="0" y="6594177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8" name="Номер слайда 3"/>
          <p:cNvSpPr txBox="1">
            <a:spLocks/>
          </p:cNvSpPr>
          <p:nvPr userDrawn="1"/>
        </p:nvSpPr>
        <p:spPr>
          <a:xfrm>
            <a:off x="9552385" y="6597355"/>
            <a:ext cx="2304255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 userDrawn="1"/>
        </p:nvCxnSpPr>
        <p:spPr>
          <a:xfrm>
            <a:off x="0" y="6597352"/>
            <a:ext cx="12192000" cy="0"/>
          </a:xfrm>
          <a:prstGeom prst="line">
            <a:avLst/>
          </a:prstGeom>
          <a:ln w="12700">
            <a:solidFill>
              <a:srgbClr val="2346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18" name="Picture 2" descr="C:\Users\e.minchenkova\Desktop\Маркетинг Юнител\Логотипы\4. NEC_UNITEL ◉\PNG\Logo_09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33059" cy="4860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3619333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 userDrawn="1"/>
        </p:nvSpPr>
        <p:spPr>
          <a:xfrm>
            <a:off x="3143672" y="761531"/>
            <a:ext cx="9048328" cy="58358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86192"/>
          <a:stretch/>
        </p:blipFill>
        <p:spPr>
          <a:xfrm>
            <a:off x="-1483" y="0"/>
            <a:ext cx="12192000" cy="908719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 flipV="1">
            <a:off x="0" y="6597354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8" name="Номер слайда 3"/>
          <p:cNvSpPr txBox="1">
            <a:spLocks/>
          </p:cNvSpPr>
          <p:nvPr userDrawn="1"/>
        </p:nvSpPr>
        <p:spPr>
          <a:xfrm>
            <a:off x="10056440" y="6597355"/>
            <a:ext cx="1800201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3" name="Прямая соединительная линия 2"/>
          <p:cNvCxnSpPr/>
          <p:nvPr userDrawn="1"/>
        </p:nvCxnSpPr>
        <p:spPr>
          <a:xfrm>
            <a:off x="0" y="6597352"/>
            <a:ext cx="12192000" cy="0"/>
          </a:xfrm>
          <a:prstGeom prst="line">
            <a:avLst/>
          </a:prstGeom>
          <a:ln w="12700">
            <a:solidFill>
              <a:srgbClr val="2346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C:\Users\e.minchenkova\Desktop\Маркетинг Юнител\Логотипы\4. NEC_UNITEL ◉\PNG\Logo_09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33059" cy="4860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22885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86192"/>
          <a:stretch/>
        </p:blipFill>
        <p:spPr>
          <a:xfrm>
            <a:off x="-1483" y="0"/>
            <a:ext cx="12192000" cy="908719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 flipV="1">
            <a:off x="0" y="6597354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8" name="Номер слайда 3"/>
          <p:cNvSpPr txBox="1">
            <a:spLocks/>
          </p:cNvSpPr>
          <p:nvPr userDrawn="1"/>
        </p:nvSpPr>
        <p:spPr>
          <a:xfrm>
            <a:off x="10056440" y="6597355"/>
            <a:ext cx="1800201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3" name="Прямая соединительная линия 2"/>
          <p:cNvCxnSpPr/>
          <p:nvPr userDrawn="1"/>
        </p:nvCxnSpPr>
        <p:spPr>
          <a:xfrm>
            <a:off x="0" y="6597352"/>
            <a:ext cx="12192000" cy="0"/>
          </a:xfrm>
          <a:prstGeom prst="line">
            <a:avLst/>
          </a:prstGeom>
          <a:ln w="12700">
            <a:solidFill>
              <a:srgbClr val="2346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C:\Users\e.minchenkova\Desktop\Маркетинг Юнител\Логотипы\4. NEC_UNITEL ◉\PNG\Logo_09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33059" cy="4860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151182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86192"/>
          <a:stretch/>
        </p:blipFill>
        <p:spPr>
          <a:xfrm>
            <a:off x="-1483" y="0"/>
            <a:ext cx="12192000" cy="908719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 flipV="1">
            <a:off x="0" y="6597354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8" name="Номер слайда 3"/>
          <p:cNvSpPr txBox="1">
            <a:spLocks/>
          </p:cNvSpPr>
          <p:nvPr userDrawn="1"/>
        </p:nvSpPr>
        <p:spPr>
          <a:xfrm>
            <a:off x="10128449" y="6597355"/>
            <a:ext cx="1728192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3" name="Прямая соединительная линия 2"/>
          <p:cNvCxnSpPr/>
          <p:nvPr userDrawn="1"/>
        </p:nvCxnSpPr>
        <p:spPr>
          <a:xfrm>
            <a:off x="0" y="6597352"/>
            <a:ext cx="12192000" cy="0"/>
          </a:xfrm>
          <a:prstGeom prst="line">
            <a:avLst/>
          </a:prstGeom>
          <a:ln w="12700">
            <a:solidFill>
              <a:srgbClr val="2346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>
            <a:off x="0" y="836712"/>
            <a:ext cx="12311336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C:\Users\e.minchenkova\Desktop\Маркетинг Юнител\Логотипы\4. NEC_UNITEL ◉\PNG\Logo_09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33059" cy="4860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892117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06" r:id="rId2"/>
    <p:sldLayoutId id="2147483904" r:id="rId3"/>
    <p:sldLayoutId id="2147483900" r:id="rId4"/>
    <p:sldLayoutId id="2147483905" r:id="rId5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45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29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435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581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859" indent="-342859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1" indent="-285716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63" indent="-228573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8" indent="-228573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53" indent="-228573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98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43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89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34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5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6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6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6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eestr.digital.gov.ru/reestr/1535008/?sphrase_id=5743519" TargetMode="External"/><Relationship Id="rId2" Type="http://schemas.openxmlformats.org/officeDocument/2006/relationships/hyperlink" Target="https://uni-eng.ru/support/programmnoe-obespechenie/unit-service/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271464" y="1124744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4000" dirty="0" smtClean="0">
                <a:solidFill>
                  <a:prstClr val="white"/>
                </a:solidFill>
                <a:latin typeface="Arial Narrow"/>
              </a:rPr>
              <a:t>Автоматизированное формирование</a:t>
            </a:r>
          </a:p>
          <a:p>
            <a:pPr lvl="0" algn="ctr"/>
            <a:r>
              <a:rPr lang="ru-RU" sz="4000" dirty="0" smtClean="0">
                <a:solidFill>
                  <a:prstClr val="white"/>
                </a:solidFill>
                <a:latin typeface="Arial Narrow"/>
              </a:rPr>
              <a:t> эксплуатационной документации</a:t>
            </a:r>
          </a:p>
        </p:txBody>
      </p:sp>
      <p:pic>
        <p:nvPicPr>
          <p:cNvPr id="4" name="Рисунок 3" descr="C:\Users\n.kolobrodov\Documents\Выставки\Промосайт ЮНИТ-М300\ЮНИТ-М300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2132856"/>
            <a:ext cx="5184576" cy="4020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53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ВВЕДЕНИЕ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1344" y="980728"/>
            <a:ext cx="11809312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Автоматизированное формирование эксплуатационной документации:</a:t>
            </a:r>
          </a:p>
          <a:p>
            <a:pPr>
              <a:spcAft>
                <a:spcPts val="600"/>
              </a:spcAft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	В процессе разработки МП устройств требуется оперативное и безошибочное сопровождение большого объема (в связи со сложностью и многообразием устройств и функций в составе этих устройств) однотипных данных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Функциональные описания логических схем устройства (дискретные входные и выходные сигналы, уставки)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Аппаратные спецификации устройств (модули входных и выходных сигналов, измерительные модули и пр.).</a:t>
            </a:r>
          </a:p>
          <a:p>
            <a:pPr>
              <a:spcAft>
                <a:spcPts val="600"/>
              </a:spcAft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	Ручное сопровождение таких данных и формирование на их основе бланков уставок и руководств по эксплуатации процесс ресурсоемкий, подвержен человеческим ошибкам и все это затрудняет актуализацию при внесении каких-либо изменений в описание функций и пр.</a:t>
            </a:r>
          </a:p>
          <a:p>
            <a:pPr>
              <a:spcAft>
                <a:spcPts val="600"/>
              </a:spcAft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Для решения этой задачи реализован автоматизированный конвейер, который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Считывает структурированные данные из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excel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спецификаций по функциональным блокам.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Обрабатывает их в соответствии с требованиями нормативной документации.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Генерирует бланки уставок и руководства по эксплуатации в стандартизированной форме.</a:t>
            </a: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1344" y="4974129"/>
            <a:ext cx="11809312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spcAft>
                <a:spcPts val="600"/>
              </a:spcAft>
            </a:pPr>
            <a:r>
              <a:rPr lang="ru-RU" sz="24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Данная презентация демонстрирует логику работы решения, организация структуры проекта, его архитектуры и практическую пользу. </a:t>
            </a:r>
            <a:endParaRPr lang="ru-RU" sz="24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204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1340502"/>
            <a:ext cx="10967786" cy="51848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Структурная схема организации процесса сборки эксплуатационной документации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026604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Достоинства и недостатки системы верстки </a:t>
            </a:r>
            <a:r>
              <a:rPr lang="en-US" sz="2400" b="1" u="sng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501C97A-8071-469B-9F96-8331AF614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476433"/>
              </p:ext>
            </p:extLst>
          </p:nvPr>
        </p:nvGraphicFramePr>
        <p:xfrm>
          <a:off x="551384" y="1484784"/>
          <a:ext cx="11449272" cy="3992880"/>
        </p:xfrm>
        <a:graphic>
          <a:graphicData uri="http://schemas.openxmlformats.org/drawingml/2006/table">
            <a:tbl>
              <a:tblPr bandRow="1">
                <a:tableStyleId>{1FECB4D8-DB02-4DC6-A0A2-4F2EBAE1DC90}</a:tableStyleId>
              </a:tblPr>
              <a:tblGrid>
                <a:gridCol w="5512613">
                  <a:extLst>
                    <a:ext uri="{9D8B030D-6E8A-4147-A177-3AD203B41FA5}">
                      <a16:colId xmlns:a16="http://schemas.microsoft.com/office/drawing/2014/main" val="3609670059"/>
                    </a:ext>
                  </a:extLst>
                </a:gridCol>
                <a:gridCol w="5936659">
                  <a:extLst>
                    <a:ext uri="{9D8B030D-6E8A-4147-A177-3AD203B41FA5}">
                      <a16:colId xmlns:a16="http://schemas.microsoft.com/office/drawing/2014/main" val="1989351877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Достоинства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Недостатки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4979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Работа в ОС 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Windows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Linux (Ubuntu)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Достаточно высокий порог вхождения, что впрочем, компенсируется уже наработанным шаблоном для оформления РЭ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и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подробной документацией онлайн и систем ИИ (которые обладают достаточно глубокими знаниями по данному продукту).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439897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Современный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вид получаемой документации. (Система </a:t>
                      </a:r>
                      <a:r>
                        <a:rPr lang="en-US" sz="1400" b="1" kern="1200" baseline="0" dirty="0" err="1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LaTeX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была разработана специально для верстки научных книг, то есть обладает инструментами для отображения формул и пр.)</a:t>
                      </a: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Трудности в получении редактируемого файла в формате 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WORD. (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Сам </a:t>
                      </a:r>
                      <a:r>
                        <a:rPr lang="en-US" sz="1400" b="1" kern="1200" dirty="0" err="1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LaTeX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 поддерживает прямую генерацию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документа в формат 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WORD)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00178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marR="0" lvl="0" indent="8890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Простота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вставки векторных рисунков в РЭ (можно вставлять прямо рисунке в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PDF,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который получен из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DWG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).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 имеет данной возможности.</a:t>
                      </a: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 отличии от 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Word,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этот редактор не является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WYSIWYG.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То есть документ должен быть собран, перед тем как увидеть изменения.</a:t>
                      </a: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112504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marL="8890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Возможность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baseline="0" dirty="0" err="1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переиспользования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одной уже описанной функции в разных РЭ (например, функции КРВ, ЗОП и пр. имеют одинаковое описание для разных устройств)</a:t>
                      </a: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538194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marL="8890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Легкость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автоматизации (так как документ написан в текстовом формате, его легко править автоматизированным путем)</a:t>
                      </a: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978124"/>
                  </a:ext>
                </a:extLst>
              </a:tr>
              <a:tr h="220000">
                <a:tc>
                  <a:txBody>
                    <a:bodyPr/>
                    <a:lstStyle/>
                    <a:p>
                      <a:pPr marL="8890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65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60485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Достоинства и недостатки системы верстки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Word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501C97A-8071-469B-9F96-8331AF614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231947"/>
              </p:ext>
            </p:extLst>
          </p:nvPr>
        </p:nvGraphicFramePr>
        <p:xfrm>
          <a:off x="551384" y="1484785"/>
          <a:ext cx="11449272" cy="4483522"/>
        </p:xfrm>
        <a:graphic>
          <a:graphicData uri="http://schemas.openxmlformats.org/drawingml/2006/table">
            <a:tbl>
              <a:tblPr bandRow="1">
                <a:tableStyleId>{1FECB4D8-DB02-4DC6-A0A2-4F2EBAE1DC90}</a:tableStyleId>
              </a:tblPr>
              <a:tblGrid>
                <a:gridCol w="4968552">
                  <a:extLst>
                    <a:ext uri="{9D8B030D-6E8A-4147-A177-3AD203B41FA5}">
                      <a16:colId xmlns:a16="http://schemas.microsoft.com/office/drawing/2014/main" val="3609670059"/>
                    </a:ext>
                  </a:extLst>
                </a:gridCol>
                <a:gridCol w="6480720">
                  <a:extLst>
                    <a:ext uri="{9D8B030D-6E8A-4147-A177-3AD203B41FA5}">
                      <a16:colId xmlns:a16="http://schemas.microsoft.com/office/drawing/2014/main" val="1989351877"/>
                    </a:ext>
                  </a:extLst>
                </a:gridCol>
              </a:tblGrid>
              <a:tr h="346595"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Достоинства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Недостатки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49791"/>
                  </a:ext>
                </a:extLst>
              </a:tr>
              <a:tr h="483418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Достаточная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простота работы с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, низкий порог вхождения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Работа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только в ОС 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Windows.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Хотя для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Linux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есть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OpenOffice)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439897"/>
                  </a:ext>
                </a:extLst>
              </a:tr>
              <a:tr h="491009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Визуальный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редактор ,т.е.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WYSIWYG.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Что вижу то и получаю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Чрезвычайно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усложненный процесс вставки рисунков, приходится вставлять в растровом формате, что утяжеляет документ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001780"/>
                  </a:ext>
                </a:extLst>
              </a:tr>
              <a:tr h="404361">
                <a:tc>
                  <a:txBody>
                    <a:bodyPr/>
                    <a:lstStyle/>
                    <a:p>
                      <a:pPr marL="0" marR="0" lvl="0" indent="8890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Корявый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вид полученного документа, как будто студенческая курсовая работа на тройку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112504"/>
                  </a:ext>
                </a:extLst>
              </a:tr>
              <a:tr h="404361">
                <a:tc>
                  <a:txBody>
                    <a:bodyPr/>
                    <a:lstStyle/>
                    <a:p>
                      <a:pPr marL="8890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 связи с тем, что в документе вставлены растровые рисунки (а их в РЭ очень много) большой размер выходного файла РЭ,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что также усложняет работу с этим документом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538194"/>
                  </a:ext>
                </a:extLst>
              </a:tr>
              <a:tr h="597163">
                <a:tc>
                  <a:txBody>
                    <a:bodyPr/>
                    <a:lstStyle/>
                    <a:p>
                      <a:pPr marL="8890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Необходимость правки одинаковых функций в каждом руководстве по эксплуатации, если было внесено какое-либо изменение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978124"/>
                  </a:ext>
                </a:extLst>
              </a:tr>
              <a:tr h="740258">
                <a:tc>
                  <a:txBody>
                    <a:bodyPr/>
                    <a:lstStyle/>
                    <a:p>
                      <a:pPr marL="8890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Трудность автоматизации (невозможность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вставки перекрестных ссылок автоматизированным путем, что практически сразу перечеркивает возможность его применения для целей автоматизации)</a:t>
                      </a: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65891"/>
                  </a:ext>
                </a:extLst>
              </a:tr>
              <a:tr h="925323">
                <a:tc>
                  <a:txBody>
                    <a:bodyPr/>
                    <a:lstStyle/>
                    <a:p>
                      <a:pPr marL="8890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Невозможность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следования некоторым требованиям ГОСТ по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оформлению, например 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 может перенести таблицу на другую страницу и при этом вверху указать , что это продолжение таблицы. Требование, впрочем, не критичное. Влияет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на общее восприятие документа (смогли или нет выполнить)</a:t>
                      </a:r>
                      <a:endParaRPr lang="ru-RU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277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95768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088" y="1916832"/>
            <a:ext cx="3501008" cy="350100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</a:t>
            </a: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рограммное обеспечение для автоматизированной генерации отчетов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3392" y="1340504"/>
            <a:ext cx="7632848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Для создания программного обеспечения был выбран язык программирования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python.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Это было обусловлено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</a:p>
          <a:p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Н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изким порогом входа в данный язык программирования (в отличии от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например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C#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)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Быстротой </a:t>
            </a:r>
            <a:r>
              <a:rPr lang="ru-RU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прототипирования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 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(можно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быстро тестировать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алгоритмы)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Широким распространением и, следовательно, наличие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м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различных (бесплатных) библиотек, необходимых для работы с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xlsx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docx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, pdf, txt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файлами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Простотой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интеграции - с базами данных,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веб-интерфейсами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Хорошая (относительно)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производительность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 -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для выполнения поставленных задач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 </a:t>
            </a: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Запуск кода в системах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Windows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и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Ubuntu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без внесения каких либо изменений в код.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977467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44" y="764704"/>
            <a:ext cx="1180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Основные возможности ПО на данный момент</a:t>
            </a: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1364712"/>
            <a:ext cx="8976693" cy="523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503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59476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 txBox="1">
            <a:spLocks/>
          </p:cNvSpPr>
          <p:nvPr/>
        </p:nvSpPr>
        <p:spPr>
          <a:xfrm>
            <a:off x="263352" y="6233268"/>
            <a:ext cx="11665295" cy="364083"/>
          </a:xfrm>
          <a:prstGeom prst="rect">
            <a:avLst/>
          </a:prstGeom>
        </p:spPr>
        <p:txBody>
          <a:bodyPr lIns="89989" tIns="46794" rIns="89989" bIns="46794" anchor="ctr" anchorCtr="0">
            <a:noAutofit/>
          </a:bodyPr>
          <a:lstStyle/>
          <a:p>
            <a:pPr>
              <a:defRPr sz="1800" b="1" i="0" u="none" strike="noStrike" kern="1200" baseline="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r>
              <a:rPr lang="ru-RU" sz="1700" dirty="0" smtClean="0">
                <a:solidFill>
                  <a:schemeClr val="tx2">
                    <a:lumMod val="75000"/>
                  </a:schemeClr>
                </a:solidFill>
              </a:rPr>
              <a:t>ВСЕГО – 18 типовых шкафов </a:t>
            </a:r>
            <a:r>
              <a:rPr lang="ru-RU" sz="1700" dirty="0">
                <a:solidFill>
                  <a:schemeClr val="tx2">
                    <a:lumMod val="75000"/>
                  </a:schemeClr>
                </a:solidFill>
              </a:rPr>
              <a:t>Ш</a:t>
            </a:r>
            <a:r>
              <a:rPr lang="ru-RU" sz="1700" dirty="0" smtClean="0">
                <a:solidFill>
                  <a:schemeClr val="tx2">
                    <a:lumMod val="75000"/>
                  </a:schemeClr>
                </a:solidFill>
              </a:rPr>
              <a:t>ЭТ 6-35 </a:t>
            </a:r>
            <a:r>
              <a:rPr lang="ru-RU" sz="1700" dirty="0" err="1" smtClean="0">
                <a:solidFill>
                  <a:schemeClr val="tx2">
                    <a:lumMod val="75000"/>
                  </a:schemeClr>
                </a:solidFill>
              </a:rPr>
              <a:t>кВ</a:t>
            </a:r>
            <a:r>
              <a:rPr lang="ru-RU" sz="1700" dirty="0" smtClean="0">
                <a:solidFill>
                  <a:schemeClr val="tx2">
                    <a:lumMod val="75000"/>
                  </a:schemeClr>
                </a:solidFill>
              </a:rPr>
              <a:t> и АРНТ </a:t>
            </a:r>
            <a:r>
              <a:rPr lang="ru-RU" sz="1700" dirty="0">
                <a:solidFill>
                  <a:schemeClr val="tx2">
                    <a:lumMod val="75000"/>
                  </a:schemeClr>
                </a:solidFill>
              </a:rPr>
              <a:t>на базе </a:t>
            </a:r>
            <a:r>
              <a:rPr lang="ru-RU" sz="1700" dirty="0" smtClean="0">
                <a:solidFill>
                  <a:schemeClr val="tx2">
                    <a:lumMod val="75000"/>
                  </a:schemeClr>
                </a:solidFill>
              </a:rPr>
              <a:t>ЮНИТ-М300 </a:t>
            </a:r>
            <a:r>
              <a:rPr lang="ru-RU" sz="1700" dirty="0">
                <a:solidFill>
                  <a:schemeClr val="tx2">
                    <a:lumMod val="75000"/>
                  </a:schemeClr>
                </a:solidFill>
              </a:rPr>
              <a:t>для </a:t>
            </a: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</a:rPr>
              <a:t>I</a:t>
            </a:r>
            <a:r>
              <a:rPr lang="ru-RU" sz="1700" dirty="0" smtClean="0">
                <a:solidFill>
                  <a:schemeClr val="tx2">
                    <a:lumMod val="75000"/>
                  </a:schemeClr>
                </a:solidFill>
              </a:rPr>
              <a:t> и</a:t>
            </a:r>
            <a:r>
              <a:rPr lang="en-US" sz="1700" dirty="0" smtClean="0">
                <a:solidFill>
                  <a:schemeClr val="tx2">
                    <a:lumMod val="75000"/>
                  </a:schemeClr>
                </a:solidFill>
              </a:rPr>
              <a:t> II</a:t>
            </a:r>
            <a:r>
              <a:rPr lang="ru-RU" sz="1700" dirty="0" smtClean="0">
                <a:solidFill>
                  <a:schemeClr val="tx2">
                    <a:lumMod val="75000"/>
                  </a:schemeClr>
                </a:solidFill>
              </a:rPr>
              <a:t> архитектур построения ВАПС для ПАО Россети</a:t>
            </a:r>
            <a:endParaRPr lang="ru-RU" sz="1700" cap="all" dirty="0">
              <a:solidFill>
                <a:schemeClr val="tx2">
                  <a:lumMod val="75000"/>
                </a:schemeClr>
              </a:solidFill>
              <a:latin typeface="Arial Narrow"/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F501C97A-8071-469B-9F96-8331AF614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732276"/>
              </p:ext>
            </p:extLst>
          </p:nvPr>
        </p:nvGraphicFramePr>
        <p:xfrm>
          <a:off x="263352" y="2886184"/>
          <a:ext cx="11665295" cy="33470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307295">
                  <a:extLst>
                    <a:ext uri="{9D8B030D-6E8A-4147-A177-3AD203B41FA5}">
                      <a16:colId xmlns:a16="http://schemas.microsoft.com/office/drawing/2014/main" val="1989351877"/>
                    </a:ext>
                  </a:extLst>
                </a:gridCol>
                <a:gridCol w="1786000">
                  <a:extLst>
                    <a:ext uri="{9D8B030D-6E8A-4147-A177-3AD203B41FA5}">
                      <a16:colId xmlns:a16="http://schemas.microsoft.com/office/drawing/2014/main" val="579117743"/>
                    </a:ext>
                  </a:extLst>
                </a:gridCol>
                <a:gridCol w="1786000">
                  <a:extLst>
                    <a:ext uri="{9D8B030D-6E8A-4147-A177-3AD203B41FA5}">
                      <a16:colId xmlns:a16="http://schemas.microsoft.com/office/drawing/2014/main" val="3662250281"/>
                    </a:ext>
                  </a:extLst>
                </a:gridCol>
                <a:gridCol w="1786000">
                  <a:extLst>
                    <a:ext uri="{9D8B030D-6E8A-4147-A177-3AD203B41FA5}">
                      <a16:colId xmlns:a16="http://schemas.microsoft.com/office/drawing/2014/main" val="4085361659"/>
                    </a:ext>
                  </a:extLst>
                </a:gridCol>
              </a:tblGrid>
              <a:tr h="160959"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 smtClean="0">
                          <a:effectLst/>
                        </a:rPr>
                        <a:t>Наименование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 smtClean="0">
                          <a:effectLst/>
                        </a:rPr>
                        <a:t>1 арх. ВАПС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 smtClean="0">
                          <a:effectLst/>
                        </a:rPr>
                        <a:t>2 арх. ВАПС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 err="1" smtClean="0">
                          <a:effectLst/>
                        </a:rPr>
                        <a:t>Типоисполнение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49791"/>
                  </a:ext>
                </a:extLst>
              </a:tr>
              <a:tr h="121634">
                <a:tc>
                  <a:txBody>
                    <a:bodyPr/>
                    <a:lstStyle/>
                    <a:p>
                      <a:pPr marL="0" algn="l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Комплект защит и автоматики ЛЭП 35 </a:t>
                      </a:r>
                      <a:r>
                        <a:rPr lang="ru-RU" sz="1600" u="none" strike="noStrike" kern="1200" dirty="0" err="1">
                          <a:effectLst/>
                        </a:rPr>
                        <a:t>кВ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0000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ШЭТ 121.01-0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ШЭТ 121.11-1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 smtClean="0">
                          <a:effectLst/>
                        </a:rPr>
                        <a:t>ЮНИТ-М300-ОЛ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797378"/>
                  </a:ext>
                </a:extLst>
              </a:tr>
              <a:tr h="121634">
                <a:tc>
                  <a:txBody>
                    <a:bodyPr/>
                    <a:lstStyle/>
                    <a:p>
                      <a:pPr marL="0" algn="l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Комплект защит и автоматики вводного выключателя 35 </a:t>
                      </a:r>
                      <a:r>
                        <a:rPr lang="ru-RU" sz="1600" u="none" strike="noStrike" kern="1200" dirty="0" err="1">
                          <a:effectLst/>
                        </a:rPr>
                        <a:t>кВ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0000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ШЭТ 151.01-0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>
                          <a:effectLst/>
                        </a:rPr>
                        <a:t>ШЭТ 151.11-1</a:t>
                      </a:r>
                      <a:endParaRPr lang="ru-RU" sz="1600" b="0" i="0" u="none" strike="noStrike" kern="120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 smtClean="0">
                          <a:effectLst/>
                        </a:rPr>
                        <a:t>ЮНИТ-М300-ВВ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439897"/>
                  </a:ext>
                </a:extLst>
              </a:tr>
              <a:tr h="121634">
                <a:tc>
                  <a:txBody>
                    <a:bodyPr/>
                    <a:lstStyle/>
                    <a:p>
                      <a:pPr marL="0" algn="l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Комплект защит и автоматики секционного выключателя 35 </a:t>
                      </a:r>
                      <a:r>
                        <a:rPr lang="ru-RU" sz="1600" u="none" strike="noStrike" kern="1200" dirty="0" err="1">
                          <a:effectLst/>
                        </a:rPr>
                        <a:t>кВ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0000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ШЭТ 151.02-0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ШЭТ 151.12-1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 smtClean="0">
                          <a:effectLst/>
                        </a:rPr>
                        <a:t>ЮНИТ-М300-СВ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839746"/>
                  </a:ext>
                </a:extLst>
              </a:tr>
              <a:tr h="121634">
                <a:tc>
                  <a:txBody>
                    <a:bodyPr/>
                    <a:lstStyle/>
                    <a:p>
                      <a:pPr marL="0" algn="l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Комплект защит трансформатора напряжения 35 </a:t>
                      </a:r>
                      <a:r>
                        <a:rPr lang="ru-RU" sz="1600" u="none" strike="noStrike" kern="1200" dirty="0" err="1">
                          <a:effectLst/>
                        </a:rPr>
                        <a:t>кВ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0000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ШЭТ 160.01-0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>
                          <a:effectLst/>
                        </a:rPr>
                        <a:t>ШЭТ 160.11-1</a:t>
                      </a:r>
                      <a:endParaRPr lang="ru-RU" sz="1600" b="0" i="0" u="none" strike="noStrike" kern="120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 smtClean="0">
                          <a:effectLst/>
                        </a:rPr>
                        <a:t>ЮНИТ-М300-ТН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645673"/>
                  </a:ext>
                </a:extLst>
              </a:tr>
              <a:tr h="238695">
                <a:tc>
                  <a:txBody>
                    <a:bodyPr/>
                    <a:lstStyle/>
                    <a:p>
                      <a:pPr marL="0" algn="l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Комплект защит и противоаварийной автоматики трансформатора напряжения 35 </a:t>
                      </a:r>
                      <a:r>
                        <a:rPr lang="ru-RU" sz="1600" u="none" strike="noStrike" kern="1200" dirty="0" err="1">
                          <a:effectLst/>
                        </a:rPr>
                        <a:t>кВ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0000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ШЭТ 160.02-0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ШЭТ 160.02-1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 smtClean="0">
                          <a:effectLst/>
                        </a:rPr>
                        <a:t>ЮНИТ-М300-ТН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901621"/>
                  </a:ext>
                </a:extLst>
              </a:tr>
              <a:tr h="121634">
                <a:tc rowSpan="2">
                  <a:txBody>
                    <a:bodyPr/>
                    <a:lstStyle/>
                    <a:p>
                      <a:pPr marL="0" algn="l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Комплект защит трансформатора с высшим напряжением 20, 35 </a:t>
                      </a:r>
                      <a:r>
                        <a:rPr lang="ru-RU" sz="1600" u="none" strike="noStrike" kern="1200" dirty="0" err="1">
                          <a:effectLst/>
                        </a:rPr>
                        <a:t>кВ</a:t>
                      </a:r>
                      <a:r>
                        <a:rPr lang="ru-RU" sz="1600" u="none" strike="noStrike" kern="1200" dirty="0">
                          <a:effectLst/>
                        </a:rPr>
                        <a:t> мощностью от 6,3 МВА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0000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ШЭТ 111.01-0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ШЭТ 111.11-1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 smtClean="0">
                          <a:effectLst/>
                        </a:rPr>
                        <a:t>ЮНИТ-М300-ДЗТ2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485145"/>
                  </a:ext>
                </a:extLst>
              </a:tr>
              <a:tr h="12163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 smtClean="0">
                          <a:effectLst/>
                        </a:rPr>
                        <a:t>ЮНИТ-М300-Т2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57473"/>
                  </a:ext>
                </a:extLst>
              </a:tr>
              <a:tr h="238695">
                <a:tc>
                  <a:txBody>
                    <a:bodyPr/>
                    <a:lstStyle/>
                    <a:p>
                      <a:pPr marL="0" algn="l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Комплект защит трансформатора с высшим напряжением 35 </a:t>
                      </a:r>
                      <a:r>
                        <a:rPr lang="ru-RU" sz="1600" u="none" strike="noStrike" kern="1200" dirty="0" err="1">
                          <a:effectLst/>
                        </a:rPr>
                        <a:t>кВ</a:t>
                      </a:r>
                      <a:r>
                        <a:rPr lang="ru-RU" sz="1600" u="none" strike="noStrike" kern="1200" dirty="0">
                          <a:effectLst/>
                        </a:rPr>
                        <a:t> мощностью менее 6,3 МВА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0000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ШЭТ 111.02-0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>
                          <a:effectLst/>
                        </a:rPr>
                        <a:t>ШЭТ 111.12-1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u="none" strike="noStrike" kern="1200" dirty="0" smtClean="0">
                          <a:effectLst/>
                        </a:rPr>
                        <a:t>ЮНИТ-М300-Т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981758"/>
                  </a:ext>
                </a:extLst>
              </a:tr>
              <a:tr h="238695">
                <a:tc>
                  <a:txBody>
                    <a:bodyPr/>
                    <a:lstStyle/>
                    <a:p>
                      <a:pPr marL="0" algn="l" defTabSz="914290" rtl="0" eaLnBrk="1" fontAlgn="b" latinLnBrk="0" hangingPunct="1"/>
                      <a:r>
                        <a:rPr lang="ru-RU" sz="1600" dirty="0" smtClean="0"/>
                        <a:t>Шкаф автоматики регулирования напряжения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0000" marR="9525" marT="9525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ШЭТ 410.02-0</a:t>
                      </a:r>
                    </a:p>
                    <a:p>
                      <a:pPr marL="0" algn="ctr" defTabSz="914290" rtl="0" eaLnBrk="1" fontAlgn="b" latinLnBrk="0" hangingPunct="1"/>
                      <a:r>
                        <a:rPr lang="ru-RU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ШЭТ 410.03-0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ШЭТ 410.02-1</a:t>
                      </a:r>
                    </a:p>
                    <a:p>
                      <a:pPr marL="0" algn="ctr" defTabSz="914290" rtl="0" eaLnBrk="1" fontAlgn="b" latinLnBrk="0" hangingPunct="1"/>
                      <a:r>
                        <a:rPr lang="ru-RU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ШЭТ 410.03-1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u="none" strike="noStrike" kern="1200" dirty="0" smtClean="0">
                          <a:effectLst/>
                        </a:rPr>
                        <a:t>ЮНИТ-М300-АРНТ</a:t>
                      </a:r>
                      <a:endParaRPr lang="ru-RU" sz="16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73614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0" y="188640"/>
            <a:ext cx="92643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Типовые шкафы и отсеки на базе ЮНИТ-М300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63352" y="908720"/>
            <a:ext cx="11737303" cy="1977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ru-RU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Приказ </a:t>
            </a:r>
            <a:r>
              <a:rPr lang="ru-RU" b="1" u="sng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Минэнерго от 15 января 2024 года № </a:t>
            </a:r>
            <a:r>
              <a:rPr lang="ru-RU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6 «</a:t>
            </a:r>
            <a:r>
              <a:rPr lang="ru-RU" b="1" u="sng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Об утверждении Методических указаний по технологическому проектированию подстанций переменного тока с высшим напряжением 35-750 </a:t>
            </a:r>
            <a:r>
              <a:rPr lang="ru-RU" b="1" u="sng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кВ</a:t>
            </a:r>
            <a:r>
              <a:rPr lang="ru-RU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» пункт 168:</a:t>
            </a:r>
          </a:p>
          <a:p>
            <a:pPr>
              <a:lnSpc>
                <a:spcPts val="2100"/>
              </a:lnSpc>
            </a:pPr>
            <a:r>
              <a:rPr lang="ru-RU" sz="16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«При 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проектировании РЗА должны применяться следующие унифицированные типовые решения, утвержденные субъектом электроэнергетики, по заданию которого проектируется ПС (далее - унифицированные типовые решения):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ru-RU" sz="16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типовые 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шкафы РЗА и АСУ ТП, содержащие требования к конструкции, функциональному оснащению, входным и выходным параметрам, переключающим устройствам, светодиодной индикации, эргономике и информационным </a:t>
            </a:r>
            <a:r>
              <a:rPr lang="ru-RU" sz="16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потокам;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типовые релейные отсеки ячеек КРУ напряжением 6-35 кВ</a:t>
            </a:r>
            <a:r>
              <a:rPr lang="ru-RU" sz="16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.»</a:t>
            </a:r>
            <a:endParaRPr lang="ru-RU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62613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9264352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Типовые шкафы и отсеки на базе ЮНИТ-М300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263352" y="6021288"/>
            <a:ext cx="11665295" cy="576064"/>
          </a:xfrm>
          <a:prstGeom prst="rect">
            <a:avLst/>
          </a:prstGeom>
        </p:spPr>
        <p:txBody>
          <a:bodyPr lIns="89989" tIns="46794" rIns="89989" bIns="46794" anchor="ctr" anchorCtr="0">
            <a:noAutofit/>
          </a:bodyPr>
          <a:lstStyle/>
          <a:p>
            <a:pPr>
              <a:defRPr sz="1800" b="1" i="0" u="none" strike="noStrike" kern="1200" baseline="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r>
              <a:rPr lang="ru-RU" dirty="0" smtClean="0">
                <a:solidFill>
                  <a:schemeClr val="tx2">
                    <a:lumMod val="75000"/>
                  </a:schemeClr>
                </a:solidFill>
              </a:rPr>
              <a:t>ВСЕГО – 16 типов отсеков ОЭТ 6-35 </a:t>
            </a:r>
            <a:r>
              <a:rPr lang="ru-RU" dirty="0" err="1" smtClean="0">
                <a:solidFill>
                  <a:schemeClr val="tx2">
                    <a:lumMod val="75000"/>
                  </a:schemeClr>
                </a:solidFill>
              </a:rPr>
              <a:t>кВ</a:t>
            </a:r>
            <a:r>
              <a:rPr lang="ru-RU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на базе </a:t>
            </a:r>
            <a:r>
              <a:rPr lang="ru-RU" dirty="0" smtClean="0">
                <a:solidFill>
                  <a:schemeClr val="tx2">
                    <a:lumMod val="75000"/>
                  </a:schemeClr>
                </a:solidFill>
              </a:rPr>
              <a:t>ЮНИТ-М300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для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I</a:t>
            </a:r>
            <a:r>
              <a:rPr lang="ru-RU" dirty="0" smtClean="0">
                <a:solidFill>
                  <a:schemeClr val="tx2">
                    <a:lumMod val="75000"/>
                  </a:schemeClr>
                </a:solidFill>
              </a:rPr>
              <a:t> и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II</a:t>
            </a:r>
            <a:r>
              <a:rPr lang="ru-RU" dirty="0" smtClean="0">
                <a:solidFill>
                  <a:schemeClr val="tx2">
                    <a:lumMod val="75000"/>
                  </a:schemeClr>
                </a:solidFill>
              </a:rPr>
              <a:t> архитектур построения ВАПС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для ПАО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Россети</a:t>
            </a:r>
            <a:endParaRPr lang="ru-RU" b="1" cap="all" dirty="0">
              <a:solidFill>
                <a:schemeClr val="tx2">
                  <a:lumMod val="75000"/>
                </a:schemeClr>
              </a:solidFill>
              <a:latin typeface="Arial Narrow"/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F501C97A-8071-469B-9F96-8331AF614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888305"/>
              </p:ext>
            </p:extLst>
          </p:nvPr>
        </p:nvGraphicFramePr>
        <p:xfrm>
          <a:off x="263352" y="1052737"/>
          <a:ext cx="11665295" cy="496855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307295">
                  <a:extLst>
                    <a:ext uri="{9D8B030D-6E8A-4147-A177-3AD203B41FA5}">
                      <a16:colId xmlns:a16="http://schemas.microsoft.com/office/drawing/2014/main" val="1989351877"/>
                    </a:ext>
                  </a:extLst>
                </a:gridCol>
                <a:gridCol w="1786000">
                  <a:extLst>
                    <a:ext uri="{9D8B030D-6E8A-4147-A177-3AD203B41FA5}">
                      <a16:colId xmlns:a16="http://schemas.microsoft.com/office/drawing/2014/main" val="579117743"/>
                    </a:ext>
                  </a:extLst>
                </a:gridCol>
                <a:gridCol w="1786000">
                  <a:extLst>
                    <a:ext uri="{9D8B030D-6E8A-4147-A177-3AD203B41FA5}">
                      <a16:colId xmlns:a16="http://schemas.microsoft.com/office/drawing/2014/main" val="3662250281"/>
                    </a:ext>
                  </a:extLst>
                </a:gridCol>
                <a:gridCol w="1786000">
                  <a:extLst>
                    <a:ext uri="{9D8B030D-6E8A-4147-A177-3AD203B41FA5}">
                      <a16:colId xmlns:a16="http://schemas.microsoft.com/office/drawing/2014/main" val="4085361659"/>
                    </a:ext>
                  </a:extLst>
                </a:gridCol>
              </a:tblGrid>
              <a:tr h="402855"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Наименование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1 арх. ВАПС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2 арх. ВАПС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err="1" smtClean="0"/>
                        <a:t>Типоисполнение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49791"/>
                  </a:ext>
                </a:extLst>
              </a:tr>
              <a:tr h="369284">
                <a:tc>
                  <a:txBody>
                    <a:bodyPr/>
                    <a:lstStyle/>
                    <a:p>
                      <a:pPr algn="l"/>
                      <a:r>
                        <a:rPr lang="ru-RU" sz="1600" dirty="0" smtClean="0"/>
                        <a:t>Отсек защиты вводного выключателя 6–35 </a:t>
                      </a:r>
                      <a:r>
                        <a:rPr lang="ru-RU" sz="1600" dirty="0" err="1" smtClean="0"/>
                        <a:t>кВ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ОЭТ 031.01-0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>
                          <a:effectLst/>
                        </a:rPr>
                        <a:t>ОЭТ 031.11-1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 smtClean="0">
                          <a:effectLst/>
                        </a:rPr>
                        <a:t>ЮНИТ-М300-ВВ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797378"/>
                  </a:ext>
                </a:extLst>
              </a:tr>
              <a:tr h="369284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Отсек защиты секционного выключателя 6–35 </a:t>
                      </a:r>
                      <a:r>
                        <a:rPr lang="ru-RU" sz="1600" dirty="0" err="1" smtClean="0"/>
                        <a:t>кВ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ОЭТ 051.01-0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>
                          <a:effectLst/>
                        </a:rPr>
                        <a:t>ОЭТ 051.11-1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 smtClean="0">
                          <a:effectLst/>
                        </a:rPr>
                        <a:t>ЮНИТ-М300-СВ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439897"/>
                  </a:ext>
                </a:extLst>
              </a:tr>
              <a:tr h="906425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Отсек РЗА отходящей линии6–35 </a:t>
                      </a:r>
                      <a:r>
                        <a:rPr lang="ru-RU" sz="1600" dirty="0" err="1" smtClean="0"/>
                        <a:t>кВ</a:t>
                      </a:r>
                      <a:r>
                        <a:rPr lang="ru-RU" sz="1600" dirty="0" smtClean="0"/>
                        <a:t> для сетей с изолированной, компенсированной, резистивной (</a:t>
                      </a:r>
                      <a:r>
                        <a:rPr lang="ru-RU" sz="1600" dirty="0" err="1" smtClean="0"/>
                        <a:t>высокоомный</a:t>
                      </a:r>
                      <a:r>
                        <a:rPr lang="ru-RU" sz="1600" dirty="0" smtClean="0"/>
                        <a:t> резистор) и комбинированной </a:t>
                      </a:r>
                      <a:r>
                        <a:rPr lang="ru-RU" sz="1600" dirty="0" err="1" smtClean="0"/>
                        <a:t>нейтралью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ОЭТ 121.01-0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>
                          <a:effectLst/>
                        </a:rPr>
                        <a:t>ОЭТ 121.11-1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 smtClean="0">
                          <a:effectLst/>
                        </a:rPr>
                        <a:t>ЮНИТ-М300-ОЛ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839746"/>
                  </a:ext>
                </a:extLst>
              </a:tr>
              <a:tr h="637855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Отсек РЗА отходящей линии 6–35 </a:t>
                      </a:r>
                      <a:r>
                        <a:rPr lang="ru-RU" sz="1600" dirty="0" err="1" smtClean="0"/>
                        <a:t>кВ</a:t>
                      </a:r>
                      <a:r>
                        <a:rPr lang="ru-RU" sz="1600" dirty="0" smtClean="0"/>
                        <a:t> для сетей с резистивной (низкоомный резистор) </a:t>
                      </a:r>
                      <a:r>
                        <a:rPr lang="ru-RU" sz="1600" dirty="0" err="1" smtClean="0"/>
                        <a:t>нейтралью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ОЭТ 221.01-0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ОЭТ 221.11-1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 smtClean="0">
                          <a:effectLst/>
                        </a:rPr>
                        <a:t>ЮНИТ-М300-ОЛ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645673"/>
                  </a:ext>
                </a:extLst>
              </a:tr>
              <a:tr h="906425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Отсек РЗА отходящей линии 6–35 </a:t>
                      </a:r>
                      <a:r>
                        <a:rPr lang="ru-RU" sz="1600" dirty="0" err="1" smtClean="0"/>
                        <a:t>кВ</a:t>
                      </a:r>
                      <a:r>
                        <a:rPr lang="ru-RU" sz="1600" dirty="0" smtClean="0"/>
                        <a:t> к ТСН (ДГР, ТМП) для сетей с изолированной, компенсированной, резистивной (</a:t>
                      </a:r>
                      <a:r>
                        <a:rPr lang="ru-RU" sz="1600" dirty="0" err="1" smtClean="0"/>
                        <a:t>высокоомный</a:t>
                      </a:r>
                      <a:r>
                        <a:rPr lang="ru-RU" sz="1600" dirty="0" smtClean="0"/>
                        <a:t> резистор) и комбинированной </a:t>
                      </a:r>
                      <a:r>
                        <a:rPr lang="ru-RU" sz="1600" dirty="0" err="1" smtClean="0"/>
                        <a:t>нейтралью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ОЭТ 121.02-0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ОЭТ 121.12-1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 smtClean="0">
                          <a:effectLst/>
                        </a:rPr>
                        <a:t>ЮНИТ-М300-ОЛ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901621"/>
                  </a:ext>
                </a:extLst>
              </a:tr>
              <a:tr h="637855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Отсек РЗА отходящей линии 6–35 </a:t>
                      </a:r>
                      <a:r>
                        <a:rPr lang="ru-RU" sz="1600" dirty="0" err="1" smtClean="0"/>
                        <a:t>кВ</a:t>
                      </a:r>
                      <a:r>
                        <a:rPr lang="ru-RU" sz="1600" dirty="0" smtClean="0"/>
                        <a:t> к ТСН (ТМП) для сетей резистивной (низкоомный резистор) </a:t>
                      </a:r>
                      <a:r>
                        <a:rPr lang="ru-RU" sz="1600" dirty="0" err="1" smtClean="0"/>
                        <a:t>нейтралью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ОЭТ 221.02-0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ОЭТ 221.12-1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 smtClean="0">
                          <a:effectLst/>
                        </a:rPr>
                        <a:t>ЮНИТ-М300-ОЛ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485145"/>
                  </a:ext>
                </a:extLst>
              </a:tr>
              <a:tr h="369284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Релейный отсек ячейки трансформатора напряжения 6–35 </a:t>
                      </a:r>
                      <a:r>
                        <a:rPr lang="ru-RU" sz="1600" dirty="0" err="1" smtClean="0"/>
                        <a:t>кВ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ОЭТ 060.01-0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ОЭТ 060.11-1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 smtClean="0">
                          <a:effectLst/>
                        </a:rPr>
                        <a:t>ЮНИТ-М300-ТН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957473"/>
                  </a:ext>
                </a:extLst>
              </a:tr>
              <a:tr h="369284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Релейный отсек ячейки трансформатора напряжения 6–35 </a:t>
                      </a:r>
                      <a:r>
                        <a:rPr lang="ru-RU" sz="1600" dirty="0" err="1" smtClean="0"/>
                        <a:t>кВ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ОЭТ 060.02-0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</a:rPr>
                        <a:t>ОЭТ 060.02-1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 smtClean="0">
                          <a:effectLst/>
                        </a:rPr>
                        <a:t>ЮНИТ-М300-ТН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981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08958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Функции </a:t>
            </a:r>
            <a:r>
              <a:rPr lang="ru-RU" sz="2000" b="1" cap="all" dirty="0" err="1" smtClean="0">
                <a:solidFill>
                  <a:prstClr val="white"/>
                </a:solidFill>
                <a:latin typeface="Arial Narrow"/>
              </a:rPr>
              <a:t>рза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graphicFrame>
        <p:nvGraphicFramePr>
          <p:cNvPr id="57" name="Таблица 56">
            <a:extLst>
              <a:ext uri="{FF2B5EF4-FFF2-40B4-BE49-F238E27FC236}">
                <a16:creationId xmlns:a16="http://schemas.microsoft.com/office/drawing/2014/main" id="{F501C97A-8071-469B-9F96-8331AF614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040050"/>
              </p:ext>
            </p:extLst>
          </p:nvPr>
        </p:nvGraphicFramePr>
        <p:xfrm>
          <a:off x="119336" y="980728"/>
          <a:ext cx="11952000" cy="550659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472000">
                  <a:extLst>
                    <a:ext uri="{9D8B030D-6E8A-4147-A177-3AD203B41FA5}">
                      <a16:colId xmlns:a16="http://schemas.microsoft.com/office/drawing/2014/main" val="198935187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791177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622502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853616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796736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4321195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966307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98628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1333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97276408"/>
                    </a:ext>
                  </a:extLst>
                </a:gridCol>
              </a:tblGrid>
              <a:tr h="405000">
                <a:tc rowSpan="2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Функции </a:t>
                      </a:r>
                      <a:r>
                        <a:rPr lang="ru-RU" sz="1800" kern="1200" dirty="0" err="1" smtClean="0"/>
                        <a:t>РЗиА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Типоисполнение ЮНИТ-М300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49791"/>
                  </a:ext>
                </a:extLst>
              </a:tr>
              <a:tr h="405000">
                <a:tc v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ОЛ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ВВ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СВ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ТН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ДЗТ2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Т2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Т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АРНТ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ЦД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4432"/>
                  </a:ext>
                </a:extLst>
              </a:tr>
              <a:tr h="126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</a:rPr>
                        <a:t>Дистанционная защита от междуфазных замыканий (3 ступени)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797378"/>
                  </a:ext>
                </a:extLst>
              </a:tr>
              <a:tr h="126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</a:rPr>
                        <a:t>Дистанционная защита от междуфазных замыканий (4 ступени)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660632"/>
                  </a:ext>
                </a:extLst>
              </a:tr>
              <a:tr h="126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</a:rPr>
                        <a:t>Дистанционная защита от двойных замыканий на землю (2 ступени)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3918"/>
                  </a:ext>
                </a:extLst>
              </a:tr>
              <a:tr h="126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</a:rPr>
                        <a:t>Блокировка при качаниях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081564"/>
                  </a:ext>
                </a:extLst>
              </a:tr>
              <a:tr h="126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</a:rPr>
                        <a:t>Токовая отсечка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833301"/>
                  </a:ext>
                </a:extLst>
              </a:tr>
              <a:tr h="1508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</a:rPr>
                        <a:t>Максимальная токовая защита (3 ступени)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439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</a:rPr>
                        <a:t>Максимальная токовая защита (4 ступени)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839746"/>
                  </a:ext>
                </a:extLst>
              </a:tr>
              <a:tr h="1283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</a:rPr>
                        <a:t>Автоматическое ускорение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645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</a:rPr>
                        <a:t>Оперативное ускорение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901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</a:rPr>
                        <a:t>Токовая защита нулевой последовательности (2 ступени)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485145"/>
                  </a:ext>
                </a:extLst>
              </a:tr>
              <a:tr h="1306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</a:rPr>
                        <a:t>Токовая защита нулевой последовательности (4 ступени)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957473"/>
                  </a:ext>
                </a:extLst>
              </a:tr>
              <a:tr h="3712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</a:rPr>
                        <a:t>Защита от однофазных замыканий на землю в сетях с изолированной/компенсированной нейтралью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981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</a:rPr>
                        <a:t>Защита от дуговых замыканий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419830"/>
                  </a:ext>
                </a:extLst>
              </a:tr>
              <a:tr h="402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</a:rPr>
                        <a:t>Защита от обрыва провода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4260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</a:rPr>
                        <a:t>Защита от перегрузки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680207"/>
                  </a:ext>
                </a:extLst>
              </a:tr>
              <a:tr h="3712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Групповая сигнализация однофазных замыканий на землю в сетях с изолированной/компенсированной нейтралью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87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22837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Функции </a:t>
            </a:r>
            <a:r>
              <a:rPr lang="ru-RU" sz="2000" b="1" cap="all" dirty="0" err="1" smtClean="0">
                <a:solidFill>
                  <a:prstClr val="white"/>
                </a:solidFill>
                <a:latin typeface="Arial Narrow"/>
              </a:rPr>
              <a:t>рза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graphicFrame>
        <p:nvGraphicFramePr>
          <p:cNvPr id="57" name="Таблица 56">
            <a:extLst>
              <a:ext uri="{FF2B5EF4-FFF2-40B4-BE49-F238E27FC236}">
                <a16:creationId xmlns:a16="http://schemas.microsoft.com/office/drawing/2014/main" id="{F501C97A-8071-469B-9F96-8331AF614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784597"/>
              </p:ext>
            </p:extLst>
          </p:nvPr>
        </p:nvGraphicFramePr>
        <p:xfrm>
          <a:off x="119336" y="980728"/>
          <a:ext cx="11952000" cy="547261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472000">
                  <a:extLst>
                    <a:ext uri="{9D8B030D-6E8A-4147-A177-3AD203B41FA5}">
                      <a16:colId xmlns:a16="http://schemas.microsoft.com/office/drawing/2014/main" val="198935187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791177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622502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853616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796736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4321195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966307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98628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1333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97276408"/>
                    </a:ext>
                  </a:extLst>
                </a:gridCol>
              </a:tblGrid>
              <a:tr h="422521">
                <a:tc rowSpan="2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Функции </a:t>
                      </a:r>
                      <a:r>
                        <a:rPr lang="ru-RU" sz="1800" kern="1200" dirty="0" err="1" smtClean="0"/>
                        <a:t>РЗиА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Типоисполнение ЮНИТ-М300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49791"/>
                  </a:ext>
                </a:extLst>
              </a:tr>
              <a:tr h="422521">
                <a:tc v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ОЛ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ВВ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СВ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ТН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ДЗТ2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Т2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Т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АРНТ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ЦД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4432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Логика отключения от сигнальной ступени газовой защиты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797378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Логика отключения от отключающей ступени газовой защиты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660632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Логика отключения от технологических защит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3918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Логика отключения газовой защиты РПН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081564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Устройство резервирования при отказе выключателя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833301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Защита минимального напряжения (2 ступени)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439897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Защита минимального напряжения (1 ступени)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839746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Защита от повышения напряжения (2 ступени)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645673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Блокировка при неисправности цепей напряженичя секции шин 1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901621"/>
                  </a:ext>
                </a:extLst>
              </a:tr>
              <a:tr h="5444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Блокировка при неисправности цепей напряженичя присоединения/секции шин 2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485145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Защита от снижения частоты (2 ступени)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957473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Защита от повышения частоты (2 ступени)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981758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Защита от скорости изменения частоты (2 ступени)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419830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Автоматическая частотная разгрузка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4260378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Частотное автоматическое повторное включение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680207"/>
                  </a:ext>
                </a:extLst>
              </a:tr>
              <a:tr h="27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Автоматическое повторное включение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87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1622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Функции </a:t>
            </a:r>
            <a:r>
              <a:rPr lang="ru-RU" sz="2000" b="1" cap="all" dirty="0" err="1" smtClean="0">
                <a:solidFill>
                  <a:prstClr val="white"/>
                </a:solidFill>
                <a:latin typeface="Arial Narrow"/>
              </a:rPr>
              <a:t>рза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graphicFrame>
        <p:nvGraphicFramePr>
          <p:cNvPr id="57" name="Таблица 56">
            <a:extLst>
              <a:ext uri="{FF2B5EF4-FFF2-40B4-BE49-F238E27FC236}">
                <a16:creationId xmlns:a16="http://schemas.microsoft.com/office/drawing/2014/main" id="{F501C97A-8071-469B-9F96-8331AF614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738068"/>
              </p:ext>
            </p:extLst>
          </p:nvPr>
        </p:nvGraphicFramePr>
        <p:xfrm>
          <a:off x="119336" y="980728"/>
          <a:ext cx="11952000" cy="552131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472000">
                  <a:extLst>
                    <a:ext uri="{9D8B030D-6E8A-4147-A177-3AD203B41FA5}">
                      <a16:colId xmlns:a16="http://schemas.microsoft.com/office/drawing/2014/main" val="198935187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791177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622502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853616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796736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4321195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966307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98628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1333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97276408"/>
                    </a:ext>
                  </a:extLst>
                </a:gridCol>
              </a:tblGrid>
              <a:tr h="406419">
                <a:tc rowSpan="2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Функции </a:t>
                      </a:r>
                      <a:r>
                        <a:rPr lang="ru-RU" sz="1800" kern="1200" dirty="0" err="1" smtClean="0"/>
                        <a:t>РЗиА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Типоисполнение ЮНИТ-М300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49791"/>
                  </a:ext>
                </a:extLst>
              </a:tr>
              <a:tr h="406419">
                <a:tc v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ОЛ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ВВ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СВ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ТН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ДЗТ2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Т2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Т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АРНТ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ЦД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4432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Контроль наличия напряжения на секции шин 1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797378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Контроль отсутствия напряжения на секции шин 1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660632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Контроль наличия напряжения на присоединении/секции шин 2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3918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Контроль отсутствия напряжения на присоединении/секции шин 2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081564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Контроль синхронизма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833301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Логика отключения/включения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439897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Логика отключения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839746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Логическая защита шин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645673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Токовый контроль защиты от дуговых замыканий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901621"/>
                  </a:ext>
                </a:extLst>
              </a:tr>
              <a:tr h="2509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Автоматическое включение резерва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485145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Восстановление нормального режима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957473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Защита от феррорезонанса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981758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Сигнализация замыканий на землю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419830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Комбинированный пусковой орган напряжения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4260378"/>
                  </a:ext>
                </a:extLst>
              </a:tr>
              <a:tr h="501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Автоматика ограничения снижения напряжения (3 ступени АОСН, 3 ступени АПВН)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680207"/>
                  </a:ext>
                </a:extLst>
              </a:tr>
              <a:tr h="4827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Автоматика ограничения снижения частоты (4 ступени АРЧ1, 4 ступени АЧР2, САЧР, 4 ступени ЧАПВ)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87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862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Функции </a:t>
            </a:r>
            <a:r>
              <a:rPr lang="ru-RU" sz="2000" b="1" cap="all" dirty="0" err="1" smtClean="0">
                <a:solidFill>
                  <a:prstClr val="white"/>
                </a:solidFill>
                <a:latin typeface="Arial Narrow"/>
              </a:rPr>
              <a:t>рза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graphicFrame>
        <p:nvGraphicFramePr>
          <p:cNvPr id="57" name="Таблица 56">
            <a:extLst>
              <a:ext uri="{FF2B5EF4-FFF2-40B4-BE49-F238E27FC236}">
                <a16:creationId xmlns:a16="http://schemas.microsoft.com/office/drawing/2014/main" id="{F501C97A-8071-469B-9F96-8331AF614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82550"/>
              </p:ext>
            </p:extLst>
          </p:nvPr>
        </p:nvGraphicFramePr>
        <p:xfrm>
          <a:off x="119336" y="980728"/>
          <a:ext cx="11952000" cy="290752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472000">
                  <a:extLst>
                    <a:ext uri="{9D8B030D-6E8A-4147-A177-3AD203B41FA5}">
                      <a16:colId xmlns:a16="http://schemas.microsoft.com/office/drawing/2014/main" val="198935187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791177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622502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853616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796736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4321195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966307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98628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1333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97276408"/>
                    </a:ext>
                  </a:extLst>
                </a:gridCol>
              </a:tblGrid>
              <a:tr h="406419">
                <a:tc rowSpan="2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Функции </a:t>
                      </a:r>
                      <a:r>
                        <a:rPr lang="ru-RU" sz="1800" kern="1200" dirty="0" err="1" smtClean="0"/>
                        <a:t>РЗиА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Типоисполнение ЮНИТ-М300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49791"/>
                  </a:ext>
                </a:extLst>
              </a:tr>
              <a:tr h="406419">
                <a:tc v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ОЛ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ВВ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СВ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ТН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ДЗТ2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Т2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Т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АРНТ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/>
                        <a:t>ЦД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4432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Устройство отключения нагрузки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797378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Дифференциальная токовая защита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660632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Защита от потери охлаждения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3918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Токовый орган пуска охлаждения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081564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Токовый орган блокировки РПН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833301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Логическая защита трансформатора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439897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Автоматика регулирования напряжения трансформатора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839746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Определение места повреждения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645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1026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Функции мониторинга и управления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501C97A-8071-469B-9F96-8331AF614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749537"/>
              </p:ext>
            </p:extLst>
          </p:nvPr>
        </p:nvGraphicFramePr>
        <p:xfrm>
          <a:off x="127532" y="1052736"/>
          <a:ext cx="11952000" cy="369303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472000">
                  <a:extLst>
                    <a:ext uri="{9D8B030D-6E8A-4147-A177-3AD203B41FA5}">
                      <a16:colId xmlns:a16="http://schemas.microsoft.com/office/drawing/2014/main" val="198935187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791177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622502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853616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6796736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4321195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966307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98628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13338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97276408"/>
                    </a:ext>
                  </a:extLst>
                </a:gridCol>
              </a:tblGrid>
              <a:tr h="406419">
                <a:tc rowSpan="2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latin typeface="+mn-lt"/>
                        </a:rPr>
                        <a:t>Функции мониторинга и управления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latin typeface="+mn-lt"/>
                        </a:rPr>
                        <a:t>Типоисполнение ЮНИТ-М300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49791"/>
                  </a:ext>
                </a:extLst>
              </a:tr>
              <a:tr h="406419">
                <a:tc v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latin typeface="+mn-lt"/>
                        </a:rPr>
                        <a:t>ОЛ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latin typeface="+mn-lt"/>
                        </a:rPr>
                        <a:t>ВВ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latin typeface="+mn-lt"/>
                        </a:rPr>
                        <a:t>СВ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latin typeface="+mn-lt"/>
                        </a:rPr>
                        <a:t>ТН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latin typeface="+mn-lt"/>
                        </a:rPr>
                        <a:t>ДЗТ2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latin typeface="+mn-lt"/>
                        </a:rPr>
                        <a:t>Т2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latin typeface="+mn-lt"/>
                        </a:rPr>
                        <a:t>Т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latin typeface="+mn-lt"/>
                        </a:rPr>
                        <a:t>АРНТ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latin typeface="+mn-lt"/>
                        </a:rPr>
                        <a:t>ЦД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4432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Контроллер присоединения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797378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Контроль состояния коммутационных аппаратов (В, Р/ВЭ, ЗН)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660632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Контроль состояния коммутационных аппаратов (Р/ВЭ, ЗН)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3918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Контроль силового выключателя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081564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Контроль ресурса выключателя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833301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Контроль цепей отключения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439897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Контроль цепей тока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238800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Контроль цепей напряжения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5445330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Контроль чередования фаз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3248222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Предупредительная сигнализация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839746"/>
                  </a:ext>
                </a:extLst>
              </a:tr>
              <a:tr h="261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Технологическая сигнализация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●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600" dirty="0">
                        <a:effectLst/>
                        <a:latin typeface="+mn-lt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645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0042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Интерфейсы связи и протоколы обмена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3352" y="908720"/>
            <a:ext cx="11737303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ru-RU" b="1" u="sng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Устройства серии ЮНИТ-М300 соответствуют требованиям в части интерфейсов связи протоколов обмена данных СТО 56947007-29.120.70.241-2017 ПАО «Россети» «Технические требования к микропроцессорным устройствам РЗА</a:t>
            </a:r>
            <a:r>
              <a:rPr lang="ru-RU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»</a:t>
            </a:r>
            <a:endParaRPr lang="ru-RU" b="1" u="sng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501C97A-8071-469B-9F96-8331AF614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568139"/>
              </p:ext>
            </p:extLst>
          </p:nvPr>
        </p:nvGraphicFramePr>
        <p:xfrm>
          <a:off x="263352" y="1539662"/>
          <a:ext cx="11665296" cy="491673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832648">
                  <a:extLst>
                    <a:ext uri="{9D8B030D-6E8A-4147-A177-3AD203B41FA5}">
                      <a16:colId xmlns:a16="http://schemas.microsoft.com/office/drawing/2014/main" val="1989351877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579117743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3662250281"/>
                    </a:ext>
                  </a:extLst>
                </a:gridCol>
              </a:tblGrid>
              <a:tr h="533334">
                <a:tc gridSpan="2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Требование ПАО</a:t>
                      </a:r>
                      <a:r>
                        <a:rPr lang="ru-RU" sz="1800" kern="1200" baseline="0" dirty="0" smtClean="0"/>
                        <a:t> «Россети»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Характеристики ЮНИТ-М300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49791"/>
                  </a:ext>
                </a:extLst>
              </a:tr>
              <a:tr h="307699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Режим работы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Полный дуплекс (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full-duplex)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Полный дуплекс (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full-duplex)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797378"/>
                  </a:ext>
                </a:extLst>
              </a:tr>
              <a:tr h="307699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Количество физических портов для связи с АСУ ТП ПС не менее, </a:t>
                      </a:r>
                      <a:r>
                        <a:rPr lang="ru-RU" sz="16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шт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439897"/>
                  </a:ext>
                </a:extLst>
              </a:tr>
              <a:tr h="755261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Протокол обмена данными с АСУ ТП: </a:t>
                      </a:r>
                    </a:p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для горизонтального обмена</a:t>
                      </a:r>
                    </a:p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для среднего и верхнего уровня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по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IEC 61850-8-1</a:t>
                      </a:r>
                      <a:endParaRPr lang="ru-RU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GOOSE</a:t>
                      </a:r>
                      <a:endParaRPr lang="ru-RU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MMS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по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IEC 61850-8-1</a:t>
                      </a:r>
                      <a:endParaRPr lang="ru-RU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GOOSE</a:t>
                      </a:r>
                      <a:endParaRPr lang="ru-RU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MMS</a:t>
                      </a:r>
                      <a:endParaRPr lang="ru-RU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839746"/>
                  </a:ext>
                </a:extLst>
              </a:tr>
              <a:tr h="53148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Интерфейс для подключения переносного ПК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USB</a:t>
                      </a:r>
                      <a:r>
                        <a:rPr lang="ru-RU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или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Ethernet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Ethernet</a:t>
                      </a:r>
                      <a:endParaRPr lang="ru-RU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645673"/>
                  </a:ext>
                </a:extLst>
              </a:tr>
              <a:tr h="755261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Формирование осциллограмм в формате COMTRADE с поддержкой выдачи осциллограмм в АСУ ТП по протоколу IEC 61850-8-1 с использованием сервиса </a:t>
                      </a:r>
                      <a:r>
                        <a:rPr lang="ru-RU" sz="16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getFile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901621"/>
                  </a:ext>
                </a:extLst>
              </a:tr>
              <a:tr h="53148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Поддержка функции дистанционного управления устройствами РЗА из АСУТП по протоколу IEC 61850-8-1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485145"/>
                  </a:ext>
                </a:extLst>
              </a:tr>
              <a:tr h="377196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Производительность 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GOOSE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57473"/>
                  </a:ext>
                </a:extLst>
              </a:tr>
              <a:tr h="307699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Поддержка функции горячего резервирования портов или наличие протокола PRP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PRP,</a:t>
                      </a:r>
                      <a:r>
                        <a:rPr lang="en-US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HSR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981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1468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Синхронизация времени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3352" y="908720"/>
            <a:ext cx="11737303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ru-RU" b="1" u="sng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Устройства серии ЮНИТ-М300 соответствуют требованиям в части </a:t>
            </a:r>
            <a:r>
              <a:rPr lang="ru-RU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синхронизации времени </a:t>
            </a:r>
            <a:r>
              <a:rPr lang="ru-RU" b="1" u="sng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СТО 56947007-29.120.70.241-2017 ПАО </a:t>
            </a:r>
            <a:r>
              <a:rPr lang="ru-RU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«</a:t>
            </a:r>
            <a:r>
              <a:rPr lang="ru-RU" b="1" u="sng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Россети» </a:t>
            </a:r>
            <a:r>
              <a:rPr lang="ru-RU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«Технические </a:t>
            </a:r>
            <a:r>
              <a:rPr lang="ru-RU" b="1" u="sng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требования к микропроцессорным устройствам </a:t>
            </a:r>
            <a:r>
              <a:rPr lang="ru-RU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РЗА»</a:t>
            </a:r>
            <a:endParaRPr lang="ru-RU" b="1" u="sng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501C97A-8071-469B-9F96-8331AF614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864712"/>
              </p:ext>
            </p:extLst>
          </p:nvPr>
        </p:nvGraphicFramePr>
        <p:xfrm>
          <a:off x="263352" y="1539662"/>
          <a:ext cx="11665296" cy="473957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832648">
                  <a:extLst>
                    <a:ext uri="{9D8B030D-6E8A-4147-A177-3AD203B41FA5}">
                      <a16:colId xmlns:a16="http://schemas.microsoft.com/office/drawing/2014/main" val="1989351877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579117743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3662250281"/>
                    </a:ext>
                  </a:extLst>
                </a:gridCol>
              </a:tblGrid>
              <a:tr h="533334">
                <a:tc gridSpan="2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Требование ПАО</a:t>
                      </a:r>
                      <a:r>
                        <a:rPr lang="ru-RU" sz="1800" kern="1200" baseline="0" dirty="0" smtClean="0"/>
                        <a:t> «Россети»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Характеристики ЮНИТ-М300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49791"/>
                  </a:ext>
                </a:extLst>
              </a:tr>
              <a:tr h="307699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Наличие протоколов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SNTP</a:t>
                      </a: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v4</a:t>
                      </a: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SNTP</a:t>
                      </a: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v4</a:t>
                      </a: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PTP</a:t>
                      </a: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v2</a:t>
                      </a: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797378"/>
                  </a:ext>
                </a:extLst>
              </a:tr>
              <a:tr h="307699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Абсолютная погрешность синхронизации часов МП УРЗА для шкафов всех архитектур построения ПС с системным временем, мс, не более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439897"/>
                  </a:ext>
                </a:extLst>
              </a:tr>
              <a:tr h="755261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Автоматическое восстановление точного времени (синхронизация времени) при восстановлении питания оперативным током МП терминала после перерыва в его работе любой длительности (при наличии сигнала точного времени)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839746"/>
                  </a:ext>
                </a:extLst>
              </a:tr>
              <a:tr h="53148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Автоматическое восстановление точного времени (синхронизация времени) после появления внешнего источника синхронизации (системы синхронизация времени или синхронизации от АСУ ТП)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645673"/>
                  </a:ext>
                </a:extLst>
              </a:tr>
              <a:tr h="755261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Внутренние часы устройства РЗА при потере внешней синхронизации должны обеспечить уход внутреннего времени не более чем на 1 мс в течение 10 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901621"/>
                  </a:ext>
                </a:extLst>
              </a:tr>
              <a:tr h="53148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Переход на резервный источник внешней синхронизации должен осуществляться в течение времени не более, 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485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2819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>
                <a:solidFill>
                  <a:prstClr val="white"/>
                </a:solidFill>
                <a:latin typeface="Arial Narrow"/>
              </a:rPr>
              <a:t>Прикладное по «</a:t>
            </a:r>
            <a:r>
              <a:rPr lang="ru-RU" sz="2000" b="1" cap="all" dirty="0" err="1">
                <a:solidFill>
                  <a:prstClr val="white"/>
                </a:solidFill>
                <a:latin typeface="Arial Narrow"/>
              </a:rPr>
              <a:t>ЮНИТ-сервис</a:t>
            </a:r>
            <a:r>
              <a:rPr lang="ru-RU" sz="2000" b="1" cap="all" dirty="0">
                <a:solidFill>
                  <a:prstClr val="white"/>
                </a:solidFill>
                <a:latin typeface="Arial Narrow"/>
              </a:rPr>
              <a:t>» 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5360" y="980728"/>
            <a:ext cx="11521280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Прикладное ПО «ЮНИТ-Сервис» распространяется бесплатно и находится в свободном доступе на сайте производителя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+mn-lt"/>
                <a:hlinkClick r:id="rId2"/>
              </a:rPr>
              <a:t>https://uni-eng.ru/support/programmnoe-obespechenie/unit-service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+mn-lt"/>
                <a:hlinkClick r:id="rId2"/>
              </a:rPr>
              <a:t>/</a:t>
            </a:r>
            <a:endParaRPr lang="ru-RU" sz="20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ПО «ЮНИТ-Сервис</a:t>
            </a: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» поддерживается операционными системами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Windows</a:t>
            </a: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и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ALT Linux</a:t>
            </a:r>
            <a:endParaRPr lang="ru-RU" sz="2000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Внесено в реестр Российского ПО. Реестровая 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запись №17947 от </a:t>
            </a: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13.06.2023.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+mn-lt"/>
                <a:hlinkClick r:id="rId3"/>
              </a:rPr>
              <a:t>https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+mn-lt"/>
                <a:hlinkClick r:id="rId3"/>
              </a:rPr>
              <a:t>://reestr.digital.gov.ru/reestr/1535008/?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+mn-lt"/>
                <a:hlinkClick r:id="rId3"/>
              </a:rPr>
              <a:t>sphrase_id=5743519</a:t>
            </a: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Одно прикладное ПО для конфигурирования всей линейки устройств ЮНИТ (ДЗ, М1, Р1, М300)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Каждая последующая версия ПО «ЮНИТ-Сервис» полнофункционально поддерживает работу с предыдущими версиями встроенного ПО устройств ЮНИТ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Программное обеспечение постоянно развивается и предлагает пользователю новые функциональные </a:t>
            </a: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возможности и удобство использования</a:t>
            </a:r>
            <a:endParaRPr lang="ru-RU" sz="20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Поддерживает возможность подключения к устройствам ЮНИТ как непосредственно по месту установки, так и через ЛВС объекта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Обеспечивает информационную безопасность посредством обязательной авторизации «логин» - «пароль»</a:t>
            </a:r>
          </a:p>
        </p:txBody>
      </p:sp>
    </p:spTree>
    <p:extLst>
      <p:ext uri="{BB962C8B-B14F-4D97-AF65-F5344CB8AC3E}">
        <p14:creationId xmlns:p14="http://schemas.microsoft.com/office/powerpoint/2010/main" val="16457411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Сравнение с Конкурентами на актуальной платформе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95" y="1014552"/>
            <a:ext cx="3106028" cy="4988769"/>
          </a:xfrm>
          <a:prstGeom prst="rect">
            <a:avLst/>
          </a:prstGeom>
        </p:spPr>
      </p:pic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691807"/>
              </p:ext>
            </p:extLst>
          </p:nvPr>
        </p:nvGraphicFramePr>
        <p:xfrm>
          <a:off x="3935760" y="1436189"/>
          <a:ext cx="7776865" cy="35661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28173">
                  <a:extLst>
                    <a:ext uri="{9D8B030D-6E8A-4147-A177-3AD203B41FA5}">
                      <a16:colId xmlns:a16="http://schemas.microsoft.com/office/drawing/2014/main" val="84111441"/>
                    </a:ext>
                  </a:extLst>
                </a:gridCol>
                <a:gridCol w="1656700">
                  <a:extLst>
                    <a:ext uri="{9D8B030D-6E8A-4147-A177-3AD203B41FA5}">
                      <a16:colId xmlns:a16="http://schemas.microsoft.com/office/drawing/2014/main" val="1720474472"/>
                    </a:ext>
                  </a:extLst>
                </a:gridCol>
                <a:gridCol w="1271218">
                  <a:extLst>
                    <a:ext uri="{9D8B030D-6E8A-4147-A177-3AD203B41FA5}">
                      <a16:colId xmlns:a16="http://schemas.microsoft.com/office/drawing/2014/main" val="1233439878"/>
                    </a:ext>
                  </a:extLst>
                </a:gridCol>
                <a:gridCol w="1420774">
                  <a:extLst>
                    <a:ext uri="{9D8B030D-6E8A-4147-A177-3AD203B41FA5}">
                      <a16:colId xmlns:a16="http://schemas.microsoft.com/office/drawing/2014/main" val="2834373290"/>
                    </a:ext>
                  </a:extLst>
                </a:gridCol>
              </a:tblGrid>
              <a:tr h="533334"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Параметр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Требование ПАО</a:t>
                      </a:r>
                      <a:r>
                        <a:rPr lang="ru-RU" sz="1800" kern="1200" baseline="0" dirty="0" smtClean="0"/>
                        <a:t> «Россети»</a:t>
                      </a:r>
                      <a:endParaRPr lang="ru-RU" sz="1800" b="1" kern="1200" dirty="0" smtClean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ЭКРА </a:t>
                      </a:r>
                      <a:endParaRPr lang="en-US" sz="1800" b="1" kern="1200" dirty="0" smtClean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БЭ2502Б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ЮНИТ-М300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256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Аттестация ПАО «Россети»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Нет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 2025 году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38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Количество портов 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Ethernet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4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299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 конфигурируемых ФК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21*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8(16)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48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075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 конфигурируемых СД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22*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80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167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Функция контроллера присоединения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r>
                        <a:rPr lang="ru-RU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(для ОЭТ)*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457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Графический экран с возможностью отображения мнемосхемы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218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Аналоговые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входы тока РЗА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9*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</a:t>
                      </a:r>
                      <a:r>
                        <a:rPr lang="ru-RU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774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Аналоговые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входы напряжения РЗА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7*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</a:t>
                      </a:r>
                      <a:r>
                        <a:rPr lang="ru-RU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357378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3652411" y="5162965"/>
            <a:ext cx="83529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ru-RU" sz="1600" dirty="0" smtClean="0">
                <a:latin typeface="Arial Narrow" panose="020B0606020202030204" pitchFamily="34" charset="0"/>
              </a:rPr>
              <a:t>* - в </a:t>
            </a:r>
            <a:r>
              <a:rPr lang="ru-RU" sz="1600" dirty="0">
                <a:latin typeface="Arial Narrow" panose="020B0606020202030204" pitchFamily="34" charset="0"/>
              </a:rPr>
              <a:t>соответствии с СТО ПАО «Россети» «Типовые шкафы ШЭТ и ОЭТ 6–35 кВ. Архитектура I(</a:t>
            </a:r>
            <a:r>
              <a:rPr lang="en-US" sz="1600" dirty="0">
                <a:latin typeface="Arial Narrow" panose="020B0606020202030204" pitchFamily="34" charset="0"/>
              </a:rPr>
              <a:t>II</a:t>
            </a:r>
            <a:r>
              <a:rPr lang="ru-RU" sz="1600" dirty="0">
                <a:latin typeface="Arial Narrow" panose="020B0606020202030204" pitchFamily="34" charset="0"/>
              </a:rPr>
              <a:t>) типа</a:t>
            </a:r>
            <a:r>
              <a:rPr lang="ru-RU" sz="1600" dirty="0" smtClean="0">
                <a:latin typeface="Arial Narrow" panose="020B0606020202030204" pitchFamily="34" charset="0"/>
              </a:rPr>
              <a:t>»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98799" y="6073661"/>
            <a:ext cx="120016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ru-RU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ИЧМ не съемный, возможности </a:t>
            </a:r>
            <a:r>
              <a:rPr lang="ru-RU" b="1" dirty="0">
                <a:solidFill>
                  <a:srgbClr val="FF0000"/>
                </a:solidFill>
                <a:latin typeface="Arial Narrow" panose="020B0606020202030204" pitchFamily="34" charset="0"/>
              </a:rPr>
              <a:t>масштабирования ИЧМ (увеличения количества ФК и СД) у устройств серии </a:t>
            </a:r>
            <a:r>
              <a:rPr lang="ru-RU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БЭ2502 нет</a:t>
            </a:r>
            <a:endParaRPr lang="ru-RU" b="1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3543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Сравнение с Конкурентами на актуальной платформе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217930"/>
              </p:ext>
            </p:extLst>
          </p:nvPr>
        </p:nvGraphicFramePr>
        <p:xfrm>
          <a:off x="4943871" y="1185209"/>
          <a:ext cx="7156539" cy="43586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022902">
                  <a:extLst>
                    <a:ext uri="{9D8B030D-6E8A-4147-A177-3AD203B41FA5}">
                      <a16:colId xmlns:a16="http://schemas.microsoft.com/office/drawing/2014/main" val="84111441"/>
                    </a:ext>
                  </a:extLst>
                </a:gridCol>
                <a:gridCol w="1327128">
                  <a:extLst>
                    <a:ext uri="{9D8B030D-6E8A-4147-A177-3AD203B41FA5}">
                      <a16:colId xmlns:a16="http://schemas.microsoft.com/office/drawing/2014/main" val="1720474472"/>
                    </a:ext>
                  </a:extLst>
                </a:gridCol>
                <a:gridCol w="1400858">
                  <a:extLst>
                    <a:ext uri="{9D8B030D-6E8A-4147-A177-3AD203B41FA5}">
                      <a16:colId xmlns:a16="http://schemas.microsoft.com/office/drawing/2014/main" val="1233439878"/>
                    </a:ext>
                  </a:extLst>
                </a:gridCol>
                <a:gridCol w="1405651">
                  <a:extLst>
                    <a:ext uri="{9D8B030D-6E8A-4147-A177-3AD203B41FA5}">
                      <a16:colId xmlns:a16="http://schemas.microsoft.com/office/drawing/2014/main" val="2834373290"/>
                    </a:ext>
                  </a:extLst>
                </a:gridCol>
              </a:tblGrid>
              <a:tr h="1181461"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Параметр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Требование ПАО</a:t>
                      </a:r>
                      <a:r>
                        <a:rPr lang="ru-RU" sz="1800" kern="1200" baseline="0" dirty="0" smtClean="0"/>
                        <a:t> «Россети»</a:t>
                      </a:r>
                      <a:endParaRPr lang="ru-RU" sz="1800" b="1" kern="1200" dirty="0" smtClean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Прософт</a:t>
                      </a:r>
                      <a:r>
                        <a:rPr lang="ru-RU" sz="1800" b="1" kern="1200" baseline="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Системы</a:t>
                      </a:r>
                    </a:p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ARIS-23</a:t>
                      </a:r>
                      <a:r>
                        <a:rPr lang="ru-RU" sz="1800" b="1" kern="1200" baseline="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05/2308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ЮНИТ-М300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256970"/>
                  </a:ext>
                </a:extLst>
              </a:tr>
              <a:tr h="333233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Аттестация ПАО «Россети»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 2025 году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38504"/>
                  </a:ext>
                </a:extLst>
              </a:tr>
              <a:tr h="333233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Количество портов 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Ethernet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299611"/>
                  </a:ext>
                </a:extLst>
              </a:tr>
              <a:tr h="333233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 конфигурируемых ФК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21*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4/6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48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075486"/>
                  </a:ext>
                </a:extLst>
              </a:tr>
              <a:tr h="333233">
                <a:tc>
                  <a:txBody>
                    <a:bodyPr/>
                    <a:lstStyle/>
                    <a:p>
                      <a:pPr marL="0" marR="0" lvl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 конфигурируемых СД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22*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7/18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80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167239"/>
                  </a:ext>
                </a:extLst>
              </a:tr>
              <a:tr h="575583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Функция контроллера присоединения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r>
                        <a:rPr lang="ru-RU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(для ОЭТ)*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457524"/>
                  </a:ext>
                </a:extLst>
              </a:tr>
              <a:tr h="575583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Графический экран с возможностью отображения мнемосхемы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218120"/>
                  </a:ext>
                </a:extLst>
              </a:tr>
              <a:tr h="333233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Аналоговые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входы тока РЗА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9*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 4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774374"/>
                  </a:ext>
                </a:extLst>
              </a:tr>
              <a:tr h="333233">
                <a:tc>
                  <a:txBody>
                    <a:bodyPr/>
                    <a:lstStyle/>
                    <a:p>
                      <a:pPr marL="0" marR="0" lvl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Аналоговые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входы напряжения РЗА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7*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 4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438746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3867623" y="5609795"/>
            <a:ext cx="83529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ru-RU" sz="1600" dirty="0" smtClean="0">
                <a:latin typeface="Arial Narrow" panose="020B0606020202030204" pitchFamily="34" charset="0"/>
              </a:rPr>
              <a:t>* - в </a:t>
            </a:r>
            <a:r>
              <a:rPr lang="ru-RU" sz="1600" dirty="0">
                <a:latin typeface="Arial Narrow" panose="020B0606020202030204" pitchFamily="34" charset="0"/>
              </a:rPr>
              <a:t>соответствии с СТО ПАО «Россети» «Типовые шкафы ШЭТ и ОЭТ 6–35 кВ. Архитектура I(</a:t>
            </a:r>
            <a:r>
              <a:rPr lang="en-US" sz="1600" dirty="0">
                <a:latin typeface="Arial Narrow" panose="020B0606020202030204" pitchFamily="34" charset="0"/>
              </a:rPr>
              <a:t>II</a:t>
            </a:r>
            <a:r>
              <a:rPr lang="ru-RU" sz="1600" dirty="0">
                <a:latin typeface="Arial Narrow" panose="020B0606020202030204" pitchFamily="34" charset="0"/>
              </a:rPr>
              <a:t>) типа</a:t>
            </a:r>
            <a:r>
              <a:rPr lang="ru-RU" sz="1600" dirty="0" smtClean="0">
                <a:latin typeface="Arial Narrow" panose="020B0606020202030204" pitchFamily="34" charset="0"/>
              </a:rPr>
              <a:t>»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9" y="1244270"/>
            <a:ext cx="4752528" cy="436135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8799" y="6073661"/>
            <a:ext cx="120016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ru-RU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ИЧМ съемный, возможности </a:t>
            </a:r>
            <a:r>
              <a:rPr lang="ru-RU" b="1" dirty="0">
                <a:solidFill>
                  <a:srgbClr val="FF0000"/>
                </a:solidFill>
                <a:latin typeface="Arial Narrow" panose="020B0606020202030204" pitchFamily="34" charset="0"/>
              </a:rPr>
              <a:t>масштабирования ИЧМ </a:t>
            </a:r>
            <a:r>
              <a:rPr lang="ru-RU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у </a:t>
            </a:r>
            <a:r>
              <a:rPr lang="ru-RU" b="1" dirty="0">
                <a:solidFill>
                  <a:srgbClr val="FF0000"/>
                </a:solidFill>
                <a:latin typeface="Arial Narrow" panose="020B0606020202030204" pitchFamily="34" charset="0"/>
              </a:rPr>
              <a:t>устройств серии </a:t>
            </a:r>
            <a:r>
              <a:rPr lang="en-US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ARIS-23</a:t>
            </a:r>
            <a:r>
              <a:rPr lang="ru-RU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ХХ </a:t>
            </a:r>
            <a:r>
              <a:rPr lang="ru-RU" b="1" dirty="0">
                <a:solidFill>
                  <a:srgbClr val="FF0000"/>
                </a:solidFill>
                <a:latin typeface="Arial Narrow" panose="020B0606020202030204" pitchFamily="34" charset="0"/>
              </a:rPr>
              <a:t>нет</a:t>
            </a:r>
          </a:p>
        </p:txBody>
      </p:sp>
    </p:spTree>
    <p:extLst>
      <p:ext uri="{BB962C8B-B14F-4D97-AF65-F5344CB8AC3E}">
        <p14:creationId xmlns:p14="http://schemas.microsoft.com/office/powerpoint/2010/main" val="17999976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Сравнение с Конкурентами на актуальной платформе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652411" y="5609795"/>
            <a:ext cx="83529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ru-RU" sz="1600" dirty="0" smtClean="0">
                <a:latin typeface="Arial Narrow" panose="020B0606020202030204" pitchFamily="34" charset="0"/>
              </a:rPr>
              <a:t>* - в </a:t>
            </a:r>
            <a:r>
              <a:rPr lang="ru-RU" sz="1600" dirty="0">
                <a:latin typeface="Arial Narrow" panose="020B0606020202030204" pitchFamily="34" charset="0"/>
              </a:rPr>
              <a:t>соответствии с СТО ПАО «Россети» «Типовые шкафы ШЭТ и ОЭТ 6–35 кВ. Архитектура I(</a:t>
            </a:r>
            <a:r>
              <a:rPr lang="en-US" sz="1600" dirty="0">
                <a:latin typeface="Arial Narrow" panose="020B0606020202030204" pitchFamily="34" charset="0"/>
              </a:rPr>
              <a:t>II</a:t>
            </a:r>
            <a:r>
              <a:rPr lang="ru-RU" sz="1600" dirty="0">
                <a:latin typeface="Arial Narrow" panose="020B0606020202030204" pitchFamily="34" charset="0"/>
              </a:rPr>
              <a:t>) типа</a:t>
            </a:r>
            <a:r>
              <a:rPr lang="ru-RU" sz="1600" dirty="0" smtClean="0">
                <a:latin typeface="Arial Narrow" panose="020B0606020202030204" pitchFamily="34" charset="0"/>
              </a:rPr>
              <a:t>»</a:t>
            </a:r>
          </a:p>
        </p:txBody>
      </p:sp>
      <p:pic>
        <p:nvPicPr>
          <p:cNvPr id="4098" name="Picture 2" descr="https://www.rza.ru/upload/iblock/a79/2l_0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20"/>
            <a:ext cx="3863753" cy="53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95643"/>
              </p:ext>
            </p:extLst>
          </p:nvPr>
        </p:nvGraphicFramePr>
        <p:xfrm>
          <a:off x="3935760" y="1436189"/>
          <a:ext cx="7776865" cy="38404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28173">
                  <a:extLst>
                    <a:ext uri="{9D8B030D-6E8A-4147-A177-3AD203B41FA5}">
                      <a16:colId xmlns:a16="http://schemas.microsoft.com/office/drawing/2014/main" val="84111441"/>
                    </a:ext>
                  </a:extLst>
                </a:gridCol>
                <a:gridCol w="1449564">
                  <a:extLst>
                    <a:ext uri="{9D8B030D-6E8A-4147-A177-3AD203B41FA5}">
                      <a16:colId xmlns:a16="http://schemas.microsoft.com/office/drawing/2014/main" val="1720474472"/>
                    </a:ext>
                  </a:extLst>
                </a:gridCol>
                <a:gridCol w="1449564">
                  <a:extLst>
                    <a:ext uri="{9D8B030D-6E8A-4147-A177-3AD203B41FA5}">
                      <a16:colId xmlns:a16="http://schemas.microsoft.com/office/drawing/2014/main" val="1233439878"/>
                    </a:ext>
                  </a:extLst>
                </a:gridCol>
                <a:gridCol w="1449564">
                  <a:extLst>
                    <a:ext uri="{9D8B030D-6E8A-4147-A177-3AD203B41FA5}">
                      <a16:colId xmlns:a16="http://schemas.microsoft.com/office/drawing/2014/main" val="2834373290"/>
                    </a:ext>
                  </a:extLst>
                </a:gridCol>
              </a:tblGrid>
              <a:tr h="533334"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Параметр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Требование ПАО</a:t>
                      </a:r>
                      <a:r>
                        <a:rPr lang="ru-RU" sz="1800" kern="1200" baseline="0" dirty="0" smtClean="0"/>
                        <a:t> «Россети»</a:t>
                      </a:r>
                      <a:endParaRPr lang="ru-RU" sz="1800" b="1" kern="1200" dirty="0" smtClean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Радиус Автоматика </a:t>
                      </a:r>
                    </a:p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Сириус-02</a:t>
                      </a:r>
                      <a:endParaRPr lang="en-US" sz="1800" b="1" kern="1200" dirty="0" smtClean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ЮНИТ-М300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256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Аттестация ПАО «Россети»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 2025 году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38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Количество портов 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Ethernet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299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 конфигурируемых ФК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21*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до 45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48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075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 конфигурируемых СД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22*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80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167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Функция контроллера присоединения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r>
                        <a:rPr lang="ru-RU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(для ОЭТ)*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Нет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457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Графический экран с возможностью отображения мнемосхемы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Нет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218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Аналоговые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входы тока РЗА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9*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до</a:t>
                      </a:r>
                      <a:r>
                        <a:rPr lang="ru-RU" sz="16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12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774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Аналоговые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входы напряжения РЗА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7*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до</a:t>
                      </a:r>
                      <a:r>
                        <a:rPr lang="ru-RU" sz="16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12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357378"/>
                  </a:ext>
                </a:extLst>
              </a:tr>
            </a:tbl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0" y="6147019"/>
            <a:ext cx="12192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ru-RU" sz="1600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ИЧМ не съемный, масштабирование </a:t>
            </a:r>
            <a:r>
              <a:rPr lang="ru-RU" sz="1600" b="1" dirty="0">
                <a:solidFill>
                  <a:srgbClr val="FF0000"/>
                </a:solidFill>
                <a:latin typeface="Arial Narrow" panose="020B0606020202030204" pitchFamily="34" charset="0"/>
              </a:rPr>
              <a:t>ИЧМ </a:t>
            </a:r>
            <a:r>
              <a:rPr lang="ru-RU" sz="1600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у </a:t>
            </a:r>
            <a:r>
              <a:rPr lang="ru-RU" sz="1600" b="1" dirty="0">
                <a:solidFill>
                  <a:srgbClr val="FF0000"/>
                </a:solidFill>
                <a:latin typeface="Arial Narrow" panose="020B0606020202030204" pitchFamily="34" charset="0"/>
              </a:rPr>
              <a:t>устройств серии </a:t>
            </a:r>
            <a:r>
              <a:rPr lang="ru-RU" sz="1600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Сириус-02 возможно только вместе с увеличением габаритов всего устройства</a:t>
            </a:r>
            <a:endParaRPr lang="ru-RU" sz="16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5495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Сравнение с Конкурентами на актуальной платформе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647728" y="5363787"/>
            <a:ext cx="8352927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ru-RU" sz="1600" dirty="0" smtClean="0">
                <a:latin typeface="Arial Narrow" panose="020B0606020202030204" pitchFamily="34" charset="0"/>
              </a:rPr>
              <a:t>* - в </a:t>
            </a:r>
            <a:r>
              <a:rPr lang="ru-RU" sz="1600" dirty="0">
                <a:latin typeface="Arial Narrow" panose="020B0606020202030204" pitchFamily="34" charset="0"/>
              </a:rPr>
              <a:t>соответствии с СТО ПАО «Россети» «Типовые шкафы ШЭТ и ОЭТ 6–35 кВ. Архитектура I(</a:t>
            </a:r>
            <a:r>
              <a:rPr lang="en-US" sz="1600" dirty="0">
                <a:latin typeface="Arial Narrow" panose="020B0606020202030204" pitchFamily="34" charset="0"/>
              </a:rPr>
              <a:t>II</a:t>
            </a:r>
            <a:r>
              <a:rPr lang="ru-RU" sz="1600" dirty="0">
                <a:latin typeface="Arial Narrow" panose="020B0606020202030204" pitchFamily="34" charset="0"/>
              </a:rPr>
              <a:t>) типа</a:t>
            </a:r>
            <a:r>
              <a:rPr lang="ru-RU" sz="1600" dirty="0" smtClean="0">
                <a:latin typeface="Arial Narrow" panose="020B0606020202030204" pitchFamily="34" charset="0"/>
              </a:rPr>
              <a:t>»;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ru-RU" sz="1600" dirty="0" smtClean="0">
                <a:latin typeface="Arial Narrow" panose="020B0606020202030204" pitchFamily="34" charset="0"/>
              </a:rPr>
              <a:t>** - указано количество для устройства с внешним блоком ИЧМ / со встроенным ИЧМ</a:t>
            </a:r>
          </a:p>
        </p:txBody>
      </p:sp>
      <p:pic>
        <p:nvPicPr>
          <p:cNvPr id="5122" name="Picture 2" descr="https://relematika.ru/upload/iblock/2e3/ehhf8q1y2vbedsbq7bfaiu4rrmbopeoh/%D0%A2%D0%9E%D0%A0%20300%20%D0%9A%D0%9F%20diag%20right_smal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696" y="908720"/>
            <a:ext cx="3996209" cy="555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498782"/>
              </p:ext>
            </p:extLst>
          </p:nvPr>
        </p:nvGraphicFramePr>
        <p:xfrm>
          <a:off x="3935760" y="1436189"/>
          <a:ext cx="7776865" cy="38404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312368">
                  <a:extLst>
                    <a:ext uri="{9D8B030D-6E8A-4147-A177-3AD203B41FA5}">
                      <a16:colId xmlns:a16="http://schemas.microsoft.com/office/drawing/2014/main" val="8411144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720474472"/>
                    </a:ext>
                  </a:extLst>
                </a:gridCol>
                <a:gridCol w="1574773">
                  <a:extLst>
                    <a:ext uri="{9D8B030D-6E8A-4147-A177-3AD203B41FA5}">
                      <a16:colId xmlns:a16="http://schemas.microsoft.com/office/drawing/2014/main" val="1233439878"/>
                    </a:ext>
                  </a:extLst>
                </a:gridCol>
                <a:gridCol w="1449564">
                  <a:extLst>
                    <a:ext uri="{9D8B030D-6E8A-4147-A177-3AD203B41FA5}">
                      <a16:colId xmlns:a16="http://schemas.microsoft.com/office/drawing/2014/main" val="2834373290"/>
                    </a:ext>
                  </a:extLst>
                </a:gridCol>
              </a:tblGrid>
              <a:tr h="533334"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Параметр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Требование ПАО</a:t>
                      </a:r>
                      <a:r>
                        <a:rPr lang="ru-RU" sz="1800" kern="1200" baseline="0" dirty="0" smtClean="0"/>
                        <a:t> «Россети»</a:t>
                      </a:r>
                      <a:endParaRPr lang="ru-RU" sz="1800" b="1" kern="1200" dirty="0" smtClean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Релематика</a:t>
                      </a:r>
                      <a:r>
                        <a:rPr lang="ru-RU" sz="1800" b="1" kern="1200" baseline="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ТОР 300</a:t>
                      </a:r>
                    </a:p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baseline="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КП 7</a:t>
                      </a:r>
                      <a:r>
                        <a:rPr lang="en-US" sz="1800" b="1" kern="1200" baseline="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XX</a:t>
                      </a:r>
                      <a:endParaRPr lang="en-US" sz="1800" b="1" kern="1200" dirty="0" smtClean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ЮНИТ-М300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256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Аттестация ПАО «Россети»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Нет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 2025 году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38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Количество портов 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Ethernet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до 4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299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 конфигурируемых ФК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21*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до</a:t>
                      </a:r>
                      <a:r>
                        <a:rPr lang="ru-RU" sz="16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36/50**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48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075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 конфигурируемых СД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22*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до 48/80**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80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167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Функция контроллера присоединения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r>
                        <a:rPr lang="ru-RU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(для ОЭТ)*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457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Графический экран с возможностью отображения мнемосхемы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218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Аналоговые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входы тока РЗА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9*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до 48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774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Аналоговые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входы напряжения РЗА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7*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ru-RU" sz="16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357378"/>
                  </a:ext>
                </a:extLst>
              </a:tr>
            </a:tbl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190389" y="6084104"/>
            <a:ext cx="120016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ru-RU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Устройства </a:t>
            </a:r>
            <a:r>
              <a:rPr lang="ru-RU" b="1" dirty="0">
                <a:solidFill>
                  <a:srgbClr val="FF0000"/>
                </a:solidFill>
                <a:latin typeface="Arial Narrow" panose="020B0606020202030204" pitchFamily="34" charset="0"/>
              </a:rPr>
              <a:t>серии </a:t>
            </a:r>
            <a:r>
              <a:rPr lang="ru-RU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ТОР 300 КП 7</a:t>
            </a:r>
            <a:r>
              <a:rPr lang="en-US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XX</a:t>
            </a:r>
            <a:r>
              <a:rPr lang="ru-RU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 позиционируются для класса напряжения 6 - 750 </a:t>
            </a:r>
            <a:r>
              <a:rPr lang="ru-RU" b="1" dirty="0" err="1" smtClean="0">
                <a:solidFill>
                  <a:srgbClr val="FF0000"/>
                </a:solidFill>
                <a:latin typeface="Arial Narrow" panose="020B0606020202030204" pitchFamily="34" charset="0"/>
              </a:rPr>
              <a:t>кВ</a:t>
            </a:r>
            <a:endParaRPr lang="ru-RU" b="1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2360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Сравнение с Конкурентами на актуальной платформе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053583"/>
              </p:ext>
            </p:extLst>
          </p:nvPr>
        </p:nvGraphicFramePr>
        <p:xfrm>
          <a:off x="191344" y="980728"/>
          <a:ext cx="11809312" cy="5151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94938">
                  <a:extLst>
                    <a:ext uri="{9D8B030D-6E8A-4147-A177-3AD203B41FA5}">
                      <a16:colId xmlns:a16="http://schemas.microsoft.com/office/drawing/2014/main" val="84111441"/>
                    </a:ext>
                  </a:extLst>
                </a:gridCol>
                <a:gridCol w="1086747">
                  <a:extLst>
                    <a:ext uri="{9D8B030D-6E8A-4147-A177-3AD203B41FA5}">
                      <a16:colId xmlns:a16="http://schemas.microsoft.com/office/drawing/2014/main" val="1233439878"/>
                    </a:ext>
                  </a:extLst>
                </a:gridCol>
                <a:gridCol w="1956143">
                  <a:extLst>
                    <a:ext uri="{9D8B030D-6E8A-4147-A177-3AD203B41FA5}">
                      <a16:colId xmlns:a16="http://schemas.microsoft.com/office/drawing/2014/main" val="2124009841"/>
                    </a:ext>
                  </a:extLst>
                </a:gridCol>
                <a:gridCol w="2101043">
                  <a:extLst>
                    <a:ext uri="{9D8B030D-6E8A-4147-A177-3AD203B41FA5}">
                      <a16:colId xmlns:a16="http://schemas.microsoft.com/office/drawing/2014/main" val="1290626345"/>
                    </a:ext>
                  </a:extLst>
                </a:gridCol>
                <a:gridCol w="1666345">
                  <a:extLst>
                    <a:ext uri="{9D8B030D-6E8A-4147-A177-3AD203B41FA5}">
                      <a16:colId xmlns:a16="http://schemas.microsoft.com/office/drawing/2014/main" val="755851001"/>
                    </a:ext>
                  </a:extLst>
                </a:gridCol>
                <a:gridCol w="1304096">
                  <a:extLst>
                    <a:ext uri="{9D8B030D-6E8A-4147-A177-3AD203B41FA5}">
                      <a16:colId xmlns:a16="http://schemas.microsoft.com/office/drawing/2014/main" val="2834373290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Параметр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ЭКРА </a:t>
                      </a:r>
                      <a:endParaRPr lang="en-US" sz="1800" b="1" kern="1200" dirty="0" smtClean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БЭ2502Б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Прософт</a:t>
                      </a:r>
                      <a:r>
                        <a:rPr lang="ru-RU" sz="1800" b="1" kern="1200" baseline="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Системы</a:t>
                      </a:r>
                    </a:p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ARIS-23</a:t>
                      </a:r>
                      <a:r>
                        <a:rPr lang="ru-RU" sz="1800" b="1" kern="1200" baseline="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05/2308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Радиус Автоматика</a:t>
                      </a:r>
                    </a:p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Сириус 02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Релематика</a:t>
                      </a:r>
                    </a:p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ТОР</a:t>
                      </a:r>
                      <a:r>
                        <a:rPr lang="ru-RU" sz="1800" b="1" kern="1200" baseline="0" dirty="0" smtClean="0">
                          <a:solidFill>
                            <a:sysClr val="windowText" lastClr="00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300 КП 725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/>
                        <a:t>ЮНИТ-М300</a:t>
                      </a:r>
                      <a:endParaRPr lang="ru-RU" sz="1800" b="1" kern="1200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256970"/>
                  </a:ext>
                </a:extLst>
              </a:tr>
              <a:tr h="152008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Аттестация ПАО «Россети»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Нет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Нет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 2025 году</a:t>
                      </a:r>
                      <a:endParaRPr lang="en-US" sz="16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38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Количество портов 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Ethernet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4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до 4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299611"/>
                  </a:ext>
                </a:extLst>
              </a:tr>
              <a:tr h="129520">
                <a:tc>
                  <a:txBody>
                    <a:bodyPr/>
                    <a:lstStyle/>
                    <a:p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 конфигурируемых ФК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8(16)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4/6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45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до</a:t>
                      </a:r>
                      <a:r>
                        <a:rPr lang="ru-RU" sz="16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36/50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48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075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 конфигурируемых СД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7/18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до 48/80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80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167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Функция контроллера присоединения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Нет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457524"/>
                  </a:ext>
                </a:extLst>
              </a:tr>
              <a:tr h="419824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Графический экран с возможностью отображения мнемосхемы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Нет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218120"/>
                  </a:ext>
                </a:extLst>
              </a:tr>
              <a:tr h="128736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Сенсорный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ввод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Нет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Нет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Нет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Нет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774374"/>
                  </a:ext>
                </a:extLst>
              </a:tr>
              <a:tr h="128736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Аналоговые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входы тока РЗА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</a:t>
                      </a:r>
                      <a:r>
                        <a:rPr lang="ru-RU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 4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до</a:t>
                      </a:r>
                      <a:r>
                        <a:rPr lang="ru-RU" sz="16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12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0980"/>
                  </a:ext>
                </a:extLst>
              </a:tr>
              <a:tr h="128736">
                <a:tc>
                  <a:txBody>
                    <a:bodyPr/>
                    <a:lstStyle/>
                    <a:p>
                      <a:pPr marL="0" marR="0" lvl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Аналоговые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входы напряжения РЗА</a:t>
                      </a:r>
                      <a:endParaRPr lang="ru-RU" sz="16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</a:t>
                      </a:r>
                      <a:r>
                        <a:rPr lang="ru-RU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290" rtl="0" eaLnBrk="1" fontAlgn="b" latinLnBrk="0" hangingPunct="1"/>
                      <a:r>
                        <a:rPr lang="ru-RU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 4</a:t>
                      </a:r>
                      <a:endParaRPr lang="ru-RU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до</a:t>
                      </a:r>
                      <a:r>
                        <a:rPr lang="ru-RU" sz="16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12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 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936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Выносной блок ИЧМ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Нет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Опция при заказе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Нет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Опция при заказе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103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Масштабирование ИЧМ (увеличение количества ФК и СД)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Нет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Нет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Да*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924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Габаритная высота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</a:t>
                      </a:r>
                      <a:endParaRPr lang="ru-RU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4U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3U</a:t>
                      </a:r>
                      <a:endParaRPr lang="ru-RU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25672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1344" y="6165304"/>
            <a:ext cx="11809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solidFill>
                  <a:srgbClr val="FF0000"/>
                </a:solidFill>
                <a:latin typeface="+mn-lt"/>
              </a:rPr>
              <a:t>* - при увеличении ФК и СД увеличиваются габариты всего устройства РЗА Сириус-02</a:t>
            </a:r>
          </a:p>
        </p:txBody>
      </p:sp>
    </p:spTree>
    <p:extLst>
      <p:ext uri="{BB962C8B-B14F-4D97-AF65-F5344CB8AC3E}">
        <p14:creationId xmlns:p14="http://schemas.microsoft.com/office/powerpoint/2010/main" val="24032791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Централизованная Дуговая защита юнит-м300-цд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344" y="980728"/>
            <a:ext cx="11809312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Соответствует СТО 56947007-33.040.20.295-2019 «Технические требования к дуговым защитам ячеек КРУ 6-35 </a:t>
            </a:r>
            <a:r>
              <a:rPr lang="ru-RU" sz="2000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кВ</a:t>
            </a: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» ПАО «Россети»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Возможность гибкой настройки топологии защиты под любые первичные схемы объектов электросетевого комплекса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Наличие токового контроля от всех возможных питающих присоединений посредством дискретных сигналов, получаемых от защит данных присоединений (защиты трансформатора, защиты резервного трансформатора, защиты рабочего ввода, защиты резервного ввода, защиты секционного выключателя 1 и 2)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Аналоговые входы цепей напряжения защищаемой секции для обнаружения однофазных дуговых замыканий на землю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Аналоговые входы токовых цепей для токового контроля одной из сторон питания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Подключение до 30 устройств ЮНИТ-ДЗ-М (ПБ) к одному центральному блоку ЮНИТ-М300-ЦД (ЦБУ) по шине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CAN</a:t>
            </a:r>
            <a:endParaRPr lang="ru-RU" sz="2000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Возможность запитывания до 10 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устройств </a:t>
            </a: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ЮНИТ-ДЗ-М от встроенного блока 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питания </a:t>
            </a: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ЮНИТ-М300-ЦД для простоты и ускорения монтажа (питание 24 В и шина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CAN </a:t>
            </a: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идут в одном 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кабеле КУПЭВ (2х2х0,75)э)</a:t>
            </a:r>
            <a:endParaRPr lang="ru-RU" sz="2000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1892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88640"/>
            <a:ext cx="866360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Структурная схема ЗДЗ одной секции РУ</a:t>
            </a:r>
          </a:p>
        </p:txBody>
      </p:sp>
      <p:cxnSp>
        <p:nvCxnSpPr>
          <p:cNvPr id="5" name="Прямая со стрелкой 4"/>
          <p:cNvCxnSpPr/>
          <p:nvPr/>
        </p:nvCxnSpPr>
        <p:spPr>
          <a:xfrm>
            <a:off x="5591944" y="1556792"/>
            <a:ext cx="284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" name="Rectangle 300"/>
          <p:cNvSpPr>
            <a:spLocks noChangeArrowheads="1"/>
          </p:cNvSpPr>
          <p:nvPr/>
        </p:nvSpPr>
        <p:spPr bwMode="auto">
          <a:xfrm>
            <a:off x="5427125" y="935452"/>
            <a:ext cx="29292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Цепи напряжения секции</a:t>
            </a:r>
            <a:endParaRPr kumimoji="0" lang="ru-RU" altLang="ru-RU" sz="11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cxnSp>
        <p:nvCxnSpPr>
          <p:cNvPr id="7" name="Соединительная линия уступом 6"/>
          <p:cNvCxnSpPr/>
          <p:nvPr/>
        </p:nvCxnSpPr>
        <p:spPr>
          <a:xfrm>
            <a:off x="5417912" y="3312690"/>
            <a:ext cx="310247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Соединительная линия уступом 7"/>
          <p:cNvCxnSpPr/>
          <p:nvPr/>
        </p:nvCxnSpPr>
        <p:spPr>
          <a:xfrm>
            <a:off x="4265784" y="3312690"/>
            <a:ext cx="362661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Соединительная линия уступом 8"/>
          <p:cNvCxnSpPr/>
          <p:nvPr/>
        </p:nvCxnSpPr>
        <p:spPr>
          <a:xfrm>
            <a:off x="3071965" y="3312690"/>
            <a:ext cx="362661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439687" y="2493660"/>
            <a:ext cx="1081087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520774" y="2493660"/>
            <a:ext cx="1135062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655837" y="2493660"/>
            <a:ext cx="1284800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4941359" y="2493660"/>
            <a:ext cx="1221060" cy="358437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439687" y="2486091"/>
            <a:ext cx="1081087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1439687" y="4134545"/>
            <a:ext cx="1081087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439687" y="4675883"/>
            <a:ext cx="1081087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1439687" y="5756970"/>
            <a:ext cx="1081087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1979437" y="4540945"/>
            <a:ext cx="3873500" cy="53975"/>
          </a:xfrm>
          <a:prstGeom prst="rect">
            <a:avLst/>
          </a:prstGeom>
          <a:solidFill>
            <a:srgbClr val="F8B5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1979437" y="4540945"/>
            <a:ext cx="3873500" cy="53975"/>
          </a:xfrm>
          <a:prstGeom prst="rect">
            <a:avLst/>
          </a:prstGeom>
          <a:noFill/>
          <a:ln w="9525" cap="rnd">
            <a:solidFill>
              <a:srgbClr val="F282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Oval 16"/>
          <p:cNvSpPr>
            <a:spLocks noChangeArrowheads="1"/>
          </p:cNvSpPr>
          <p:nvPr/>
        </p:nvSpPr>
        <p:spPr bwMode="auto">
          <a:xfrm>
            <a:off x="2106437" y="5144195"/>
            <a:ext cx="252412" cy="2524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2231849" y="4594920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 flipH="1">
            <a:off x="2123899" y="4783833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2231849" y="4783833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 flipH="1">
            <a:off x="2123899" y="4874320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>
            <a:off x="2231849" y="4874320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>
            <a:off x="2231849" y="4874320"/>
            <a:ext cx="0" cy="26987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" name="Oval 23"/>
          <p:cNvSpPr>
            <a:spLocks noChangeArrowheads="1"/>
          </p:cNvSpPr>
          <p:nvPr/>
        </p:nvSpPr>
        <p:spPr bwMode="auto">
          <a:xfrm>
            <a:off x="2195337" y="5288658"/>
            <a:ext cx="252412" cy="2524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" name="Freeform 24"/>
          <p:cNvSpPr>
            <a:spLocks/>
          </p:cNvSpPr>
          <p:nvPr/>
        </p:nvSpPr>
        <p:spPr bwMode="auto">
          <a:xfrm>
            <a:off x="2015949" y="5288658"/>
            <a:ext cx="252412" cy="252413"/>
          </a:xfrm>
          <a:custGeom>
            <a:avLst/>
            <a:gdLst>
              <a:gd name="T0" fmla="*/ 159 w 159"/>
              <a:gd name="T1" fmla="*/ 79 h 159"/>
              <a:gd name="T2" fmla="*/ 80 w 159"/>
              <a:gd name="T3" fmla="*/ 0 h 159"/>
              <a:gd name="T4" fmla="*/ 0 w 159"/>
              <a:gd name="T5" fmla="*/ 79 h 159"/>
              <a:gd name="T6" fmla="*/ 80 w 159"/>
              <a:gd name="T7" fmla="*/ 159 h 159"/>
              <a:gd name="T8" fmla="*/ 159 w 159"/>
              <a:gd name="T9" fmla="*/ 7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9" h="159">
                <a:moveTo>
                  <a:pt x="159" y="79"/>
                </a:moveTo>
                <a:cubicBezTo>
                  <a:pt x="159" y="35"/>
                  <a:pt x="123" y="0"/>
                  <a:pt x="80" y="0"/>
                </a:cubicBezTo>
                <a:cubicBezTo>
                  <a:pt x="35" y="0"/>
                  <a:pt x="0" y="35"/>
                  <a:pt x="0" y="79"/>
                </a:cubicBezTo>
                <a:cubicBezTo>
                  <a:pt x="0" y="123"/>
                  <a:pt x="35" y="159"/>
                  <a:pt x="80" y="159"/>
                </a:cubicBezTo>
                <a:cubicBezTo>
                  <a:pt x="123" y="159"/>
                  <a:pt x="159" y="123"/>
                  <a:pt x="159" y="79"/>
                </a:cubicBez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" name="Oval 25"/>
          <p:cNvSpPr>
            <a:spLocks noChangeArrowheads="1"/>
          </p:cNvSpPr>
          <p:nvPr/>
        </p:nvSpPr>
        <p:spPr bwMode="auto">
          <a:xfrm>
            <a:off x="2204862" y="4540945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" name="Oval 26"/>
          <p:cNvSpPr>
            <a:spLocks noChangeArrowheads="1"/>
          </p:cNvSpPr>
          <p:nvPr/>
        </p:nvSpPr>
        <p:spPr bwMode="auto">
          <a:xfrm>
            <a:off x="2204862" y="4540945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" name="Line 27"/>
          <p:cNvSpPr>
            <a:spLocks noChangeShapeType="1"/>
          </p:cNvSpPr>
          <p:nvPr/>
        </p:nvSpPr>
        <p:spPr bwMode="auto">
          <a:xfrm>
            <a:off x="3295474" y="4594920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" name="Line 28"/>
          <p:cNvSpPr>
            <a:spLocks noChangeShapeType="1"/>
          </p:cNvSpPr>
          <p:nvPr/>
        </p:nvSpPr>
        <p:spPr bwMode="auto">
          <a:xfrm flipH="1">
            <a:off x="3187524" y="4783833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" name="Line 29"/>
          <p:cNvSpPr>
            <a:spLocks noChangeShapeType="1"/>
          </p:cNvSpPr>
          <p:nvPr/>
        </p:nvSpPr>
        <p:spPr bwMode="auto">
          <a:xfrm>
            <a:off x="3295474" y="4783833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 flipH="1">
            <a:off x="3187524" y="4874320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>
            <a:off x="3295474" y="4874320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6" name="Line 32"/>
          <p:cNvSpPr>
            <a:spLocks noChangeShapeType="1"/>
          </p:cNvSpPr>
          <p:nvPr/>
        </p:nvSpPr>
        <p:spPr bwMode="auto">
          <a:xfrm>
            <a:off x="3295474" y="4874320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7" name="Oval 33"/>
          <p:cNvSpPr>
            <a:spLocks noChangeArrowheads="1"/>
          </p:cNvSpPr>
          <p:nvPr/>
        </p:nvSpPr>
        <p:spPr bwMode="auto">
          <a:xfrm>
            <a:off x="3268487" y="4540945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8" name="Oval 34"/>
          <p:cNvSpPr>
            <a:spLocks noChangeArrowheads="1"/>
          </p:cNvSpPr>
          <p:nvPr/>
        </p:nvSpPr>
        <p:spPr bwMode="auto">
          <a:xfrm>
            <a:off x="3268487" y="4540945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9" name="Line 35"/>
          <p:cNvSpPr>
            <a:spLocks noChangeShapeType="1"/>
          </p:cNvSpPr>
          <p:nvPr/>
        </p:nvSpPr>
        <p:spPr bwMode="auto">
          <a:xfrm flipV="1">
            <a:off x="3295474" y="5544245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0" name="Line 36"/>
          <p:cNvSpPr>
            <a:spLocks noChangeShapeType="1"/>
          </p:cNvSpPr>
          <p:nvPr/>
        </p:nvSpPr>
        <p:spPr bwMode="auto">
          <a:xfrm flipH="1" flipV="1">
            <a:off x="3187524" y="5544245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1" name="Line 37"/>
          <p:cNvSpPr>
            <a:spLocks noChangeShapeType="1"/>
          </p:cNvSpPr>
          <p:nvPr/>
        </p:nvSpPr>
        <p:spPr bwMode="auto">
          <a:xfrm flipV="1">
            <a:off x="3295474" y="5453758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2" name="Line 38"/>
          <p:cNvSpPr>
            <a:spLocks noChangeShapeType="1"/>
          </p:cNvSpPr>
          <p:nvPr/>
        </p:nvSpPr>
        <p:spPr bwMode="auto">
          <a:xfrm flipH="1" flipV="1">
            <a:off x="3187524" y="5453758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3" name="Rectangle 39"/>
          <p:cNvSpPr>
            <a:spLocks noChangeArrowheads="1"/>
          </p:cNvSpPr>
          <p:nvPr/>
        </p:nvSpPr>
        <p:spPr bwMode="auto">
          <a:xfrm>
            <a:off x="3168474" y="5090220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4" name="Rectangle 40"/>
          <p:cNvSpPr>
            <a:spLocks noChangeArrowheads="1"/>
          </p:cNvSpPr>
          <p:nvPr/>
        </p:nvSpPr>
        <p:spPr bwMode="auto">
          <a:xfrm>
            <a:off x="3168474" y="5090220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5" name="Line 41"/>
          <p:cNvSpPr>
            <a:spLocks noChangeShapeType="1"/>
          </p:cNvSpPr>
          <p:nvPr/>
        </p:nvSpPr>
        <p:spPr bwMode="auto">
          <a:xfrm>
            <a:off x="3295474" y="5342633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6" name="Line 42"/>
          <p:cNvSpPr>
            <a:spLocks noChangeShapeType="1"/>
          </p:cNvSpPr>
          <p:nvPr/>
        </p:nvSpPr>
        <p:spPr bwMode="auto">
          <a:xfrm>
            <a:off x="3295474" y="5652195"/>
            <a:ext cx="0" cy="21272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7" name="Freeform 43"/>
          <p:cNvSpPr>
            <a:spLocks/>
          </p:cNvSpPr>
          <p:nvPr/>
        </p:nvSpPr>
        <p:spPr bwMode="auto">
          <a:xfrm>
            <a:off x="3241499" y="5864920"/>
            <a:ext cx="107950" cy="107950"/>
          </a:xfrm>
          <a:custGeom>
            <a:avLst/>
            <a:gdLst>
              <a:gd name="T0" fmla="*/ 0 w 68"/>
              <a:gd name="T1" fmla="*/ 0 h 68"/>
              <a:gd name="T2" fmla="*/ 68 w 68"/>
              <a:gd name="T3" fmla="*/ 0 h 68"/>
              <a:gd name="T4" fmla="*/ 34 w 68"/>
              <a:gd name="T5" fmla="*/ 68 h 68"/>
              <a:gd name="T6" fmla="*/ 0 w 68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8" name="Freeform 44"/>
          <p:cNvSpPr>
            <a:spLocks/>
          </p:cNvSpPr>
          <p:nvPr/>
        </p:nvSpPr>
        <p:spPr bwMode="auto">
          <a:xfrm>
            <a:off x="3241499" y="5864920"/>
            <a:ext cx="107950" cy="107950"/>
          </a:xfrm>
          <a:custGeom>
            <a:avLst/>
            <a:gdLst>
              <a:gd name="T0" fmla="*/ 0 w 68"/>
              <a:gd name="T1" fmla="*/ 0 h 68"/>
              <a:gd name="T2" fmla="*/ 68 w 68"/>
              <a:gd name="T3" fmla="*/ 0 h 68"/>
              <a:gd name="T4" fmla="*/ 34 w 68"/>
              <a:gd name="T5" fmla="*/ 68 h 68"/>
              <a:gd name="T6" fmla="*/ 0 w 68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9" name="Line 45"/>
          <p:cNvSpPr>
            <a:spLocks noChangeShapeType="1"/>
          </p:cNvSpPr>
          <p:nvPr/>
        </p:nvSpPr>
        <p:spPr bwMode="auto">
          <a:xfrm>
            <a:off x="3295474" y="5972870"/>
            <a:ext cx="0" cy="217488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0" name="Rectangle 46"/>
          <p:cNvSpPr>
            <a:spLocks noChangeArrowheads="1"/>
          </p:cNvSpPr>
          <p:nvPr/>
        </p:nvSpPr>
        <p:spPr bwMode="auto">
          <a:xfrm>
            <a:off x="2520774" y="5756970"/>
            <a:ext cx="1135062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" name="Rectangle 47"/>
          <p:cNvSpPr>
            <a:spLocks noChangeArrowheads="1"/>
          </p:cNvSpPr>
          <p:nvPr/>
        </p:nvSpPr>
        <p:spPr bwMode="auto">
          <a:xfrm>
            <a:off x="2520774" y="4134545"/>
            <a:ext cx="1135062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" name="Rectangle 48"/>
          <p:cNvSpPr>
            <a:spLocks noChangeArrowheads="1"/>
          </p:cNvSpPr>
          <p:nvPr/>
        </p:nvSpPr>
        <p:spPr bwMode="auto">
          <a:xfrm>
            <a:off x="2520774" y="4675883"/>
            <a:ext cx="1135062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>
            <a:off x="4465462" y="4594920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 flipH="1">
            <a:off x="4357512" y="4783833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" name="Line 52"/>
          <p:cNvSpPr>
            <a:spLocks noChangeShapeType="1"/>
          </p:cNvSpPr>
          <p:nvPr/>
        </p:nvSpPr>
        <p:spPr bwMode="auto">
          <a:xfrm>
            <a:off x="4465462" y="4783833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6" name="Line 53"/>
          <p:cNvSpPr>
            <a:spLocks noChangeShapeType="1"/>
          </p:cNvSpPr>
          <p:nvPr/>
        </p:nvSpPr>
        <p:spPr bwMode="auto">
          <a:xfrm flipH="1">
            <a:off x="4357512" y="4874320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7" name="Line 54"/>
          <p:cNvSpPr>
            <a:spLocks noChangeShapeType="1"/>
          </p:cNvSpPr>
          <p:nvPr/>
        </p:nvSpPr>
        <p:spPr bwMode="auto">
          <a:xfrm>
            <a:off x="4465462" y="4874320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8" name="Line 55"/>
          <p:cNvSpPr>
            <a:spLocks noChangeShapeType="1"/>
          </p:cNvSpPr>
          <p:nvPr/>
        </p:nvSpPr>
        <p:spPr bwMode="auto">
          <a:xfrm>
            <a:off x="4465462" y="4874320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9" name="Oval 56"/>
          <p:cNvSpPr>
            <a:spLocks noChangeArrowheads="1"/>
          </p:cNvSpPr>
          <p:nvPr/>
        </p:nvSpPr>
        <p:spPr bwMode="auto">
          <a:xfrm>
            <a:off x="4440062" y="4540945"/>
            <a:ext cx="52387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0" name="Oval 57"/>
          <p:cNvSpPr>
            <a:spLocks noChangeArrowheads="1"/>
          </p:cNvSpPr>
          <p:nvPr/>
        </p:nvSpPr>
        <p:spPr bwMode="auto">
          <a:xfrm>
            <a:off x="4440062" y="4540945"/>
            <a:ext cx="52387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1" name="Line 58"/>
          <p:cNvSpPr>
            <a:spLocks noChangeShapeType="1"/>
          </p:cNvSpPr>
          <p:nvPr/>
        </p:nvSpPr>
        <p:spPr bwMode="auto">
          <a:xfrm flipV="1">
            <a:off x="4465462" y="5544245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2" name="Line 59"/>
          <p:cNvSpPr>
            <a:spLocks noChangeShapeType="1"/>
          </p:cNvSpPr>
          <p:nvPr/>
        </p:nvSpPr>
        <p:spPr bwMode="auto">
          <a:xfrm flipH="1" flipV="1">
            <a:off x="4357512" y="5544245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" name="Line 60"/>
          <p:cNvSpPr>
            <a:spLocks noChangeShapeType="1"/>
          </p:cNvSpPr>
          <p:nvPr/>
        </p:nvSpPr>
        <p:spPr bwMode="auto">
          <a:xfrm flipV="1">
            <a:off x="4465462" y="5453758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4" name="Line 61"/>
          <p:cNvSpPr>
            <a:spLocks noChangeShapeType="1"/>
          </p:cNvSpPr>
          <p:nvPr/>
        </p:nvSpPr>
        <p:spPr bwMode="auto">
          <a:xfrm flipH="1" flipV="1">
            <a:off x="4357512" y="5453758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5" name="Rectangle 62"/>
          <p:cNvSpPr>
            <a:spLocks noChangeArrowheads="1"/>
          </p:cNvSpPr>
          <p:nvPr/>
        </p:nvSpPr>
        <p:spPr bwMode="auto">
          <a:xfrm>
            <a:off x="4340049" y="5090220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6" name="Rectangle 63"/>
          <p:cNvSpPr>
            <a:spLocks noChangeArrowheads="1"/>
          </p:cNvSpPr>
          <p:nvPr/>
        </p:nvSpPr>
        <p:spPr bwMode="auto">
          <a:xfrm>
            <a:off x="4340049" y="5090220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7" name="Line 64"/>
          <p:cNvSpPr>
            <a:spLocks noChangeShapeType="1"/>
          </p:cNvSpPr>
          <p:nvPr/>
        </p:nvSpPr>
        <p:spPr bwMode="auto">
          <a:xfrm>
            <a:off x="4465462" y="5342633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8" name="Line 65"/>
          <p:cNvSpPr>
            <a:spLocks noChangeShapeType="1"/>
          </p:cNvSpPr>
          <p:nvPr/>
        </p:nvSpPr>
        <p:spPr bwMode="auto">
          <a:xfrm>
            <a:off x="4465462" y="5652195"/>
            <a:ext cx="0" cy="21272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9" name="Freeform 66"/>
          <p:cNvSpPr>
            <a:spLocks/>
          </p:cNvSpPr>
          <p:nvPr/>
        </p:nvSpPr>
        <p:spPr bwMode="auto">
          <a:xfrm>
            <a:off x="4411487" y="5864920"/>
            <a:ext cx="109537" cy="107950"/>
          </a:xfrm>
          <a:custGeom>
            <a:avLst/>
            <a:gdLst>
              <a:gd name="T0" fmla="*/ 0 w 69"/>
              <a:gd name="T1" fmla="*/ 0 h 68"/>
              <a:gd name="T2" fmla="*/ 69 w 69"/>
              <a:gd name="T3" fmla="*/ 0 h 68"/>
              <a:gd name="T4" fmla="*/ 34 w 69"/>
              <a:gd name="T5" fmla="*/ 68 h 68"/>
              <a:gd name="T6" fmla="*/ 0 w 69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68">
                <a:moveTo>
                  <a:pt x="0" y="0"/>
                </a:moveTo>
                <a:lnTo>
                  <a:pt x="69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0" name="Freeform 67"/>
          <p:cNvSpPr>
            <a:spLocks/>
          </p:cNvSpPr>
          <p:nvPr/>
        </p:nvSpPr>
        <p:spPr bwMode="auto">
          <a:xfrm>
            <a:off x="4411487" y="5864920"/>
            <a:ext cx="109537" cy="107950"/>
          </a:xfrm>
          <a:custGeom>
            <a:avLst/>
            <a:gdLst>
              <a:gd name="T0" fmla="*/ 0 w 69"/>
              <a:gd name="T1" fmla="*/ 0 h 68"/>
              <a:gd name="T2" fmla="*/ 69 w 69"/>
              <a:gd name="T3" fmla="*/ 0 h 68"/>
              <a:gd name="T4" fmla="*/ 34 w 69"/>
              <a:gd name="T5" fmla="*/ 68 h 68"/>
              <a:gd name="T6" fmla="*/ 0 w 69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68">
                <a:moveTo>
                  <a:pt x="0" y="0"/>
                </a:moveTo>
                <a:lnTo>
                  <a:pt x="69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" name="Line 68"/>
          <p:cNvSpPr>
            <a:spLocks noChangeShapeType="1"/>
          </p:cNvSpPr>
          <p:nvPr/>
        </p:nvSpPr>
        <p:spPr bwMode="auto">
          <a:xfrm>
            <a:off x="4465462" y="5972870"/>
            <a:ext cx="0" cy="217488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2" name="Rectangle 69"/>
          <p:cNvSpPr>
            <a:spLocks noChangeArrowheads="1"/>
          </p:cNvSpPr>
          <p:nvPr/>
        </p:nvSpPr>
        <p:spPr bwMode="auto">
          <a:xfrm>
            <a:off x="3655837" y="5756970"/>
            <a:ext cx="1279525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" name="Rectangle 70"/>
          <p:cNvSpPr>
            <a:spLocks noChangeArrowheads="1"/>
          </p:cNvSpPr>
          <p:nvPr/>
        </p:nvSpPr>
        <p:spPr bwMode="auto">
          <a:xfrm>
            <a:off x="3655837" y="4134545"/>
            <a:ext cx="1279525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4" name="Rectangle 71"/>
          <p:cNvSpPr>
            <a:spLocks noChangeArrowheads="1"/>
          </p:cNvSpPr>
          <p:nvPr/>
        </p:nvSpPr>
        <p:spPr bwMode="auto">
          <a:xfrm>
            <a:off x="3655837" y="4675883"/>
            <a:ext cx="1279525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" name="Rectangle 72"/>
          <p:cNvSpPr>
            <a:spLocks noChangeArrowheads="1"/>
          </p:cNvSpPr>
          <p:nvPr/>
        </p:nvSpPr>
        <p:spPr bwMode="auto">
          <a:xfrm>
            <a:off x="3655837" y="2486091"/>
            <a:ext cx="1287461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6" name="Line 73"/>
          <p:cNvSpPr>
            <a:spLocks noChangeShapeType="1"/>
          </p:cNvSpPr>
          <p:nvPr/>
        </p:nvSpPr>
        <p:spPr bwMode="auto">
          <a:xfrm>
            <a:off x="5691012" y="4594920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7" name="Line 74"/>
          <p:cNvSpPr>
            <a:spLocks noChangeShapeType="1"/>
          </p:cNvSpPr>
          <p:nvPr/>
        </p:nvSpPr>
        <p:spPr bwMode="auto">
          <a:xfrm flipH="1">
            <a:off x="5583062" y="4783833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8" name="Line 75"/>
          <p:cNvSpPr>
            <a:spLocks noChangeShapeType="1"/>
          </p:cNvSpPr>
          <p:nvPr/>
        </p:nvSpPr>
        <p:spPr bwMode="auto">
          <a:xfrm>
            <a:off x="5691012" y="4783833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9" name="Line 76"/>
          <p:cNvSpPr>
            <a:spLocks noChangeShapeType="1"/>
          </p:cNvSpPr>
          <p:nvPr/>
        </p:nvSpPr>
        <p:spPr bwMode="auto">
          <a:xfrm flipH="1">
            <a:off x="5583062" y="4874320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0" name="Line 77"/>
          <p:cNvSpPr>
            <a:spLocks noChangeShapeType="1"/>
          </p:cNvSpPr>
          <p:nvPr/>
        </p:nvSpPr>
        <p:spPr bwMode="auto">
          <a:xfrm>
            <a:off x="5691012" y="4874320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1" name="Line 78"/>
          <p:cNvSpPr>
            <a:spLocks noChangeShapeType="1"/>
          </p:cNvSpPr>
          <p:nvPr/>
        </p:nvSpPr>
        <p:spPr bwMode="auto">
          <a:xfrm>
            <a:off x="5691012" y="4874320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2" name="Oval 79"/>
          <p:cNvSpPr>
            <a:spLocks noChangeArrowheads="1"/>
          </p:cNvSpPr>
          <p:nvPr/>
        </p:nvSpPr>
        <p:spPr bwMode="auto">
          <a:xfrm>
            <a:off x="5664024" y="4540945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3" name="Oval 80"/>
          <p:cNvSpPr>
            <a:spLocks noChangeArrowheads="1"/>
          </p:cNvSpPr>
          <p:nvPr/>
        </p:nvSpPr>
        <p:spPr bwMode="auto">
          <a:xfrm>
            <a:off x="5664024" y="4540945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4" name="Rectangle 81"/>
          <p:cNvSpPr>
            <a:spLocks noChangeArrowheads="1"/>
          </p:cNvSpPr>
          <p:nvPr/>
        </p:nvSpPr>
        <p:spPr bwMode="auto">
          <a:xfrm>
            <a:off x="5565599" y="5090220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5" name="Rectangle 82"/>
          <p:cNvSpPr>
            <a:spLocks noChangeArrowheads="1"/>
          </p:cNvSpPr>
          <p:nvPr/>
        </p:nvSpPr>
        <p:spPr bwMode="auto">
          <a:xfrm>
            <a:off x="5565599" y="5090220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6" name="Line 83"/>
          <p:cNvSpPr>
            <a:spLocks noChangeShapeType="1"/>
          </p:cNvSpPr>
          <p:nvPr/>
        </p:nvSpPr>
        <p:spPr bwMode="auto">
          <a:xfrm>
            <a:off x="5691012" y="5342633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7" name="Rectangle 84"/>
          <p:cNvSpPr>
            <a:spLocks noChangeArrowheads="1"/>
          </p:cNvSpPr>
          <p:nvPr/>
        </p:nvSpPr>
        <p:spPr bwMode="auto">
          <a:xfrm>
            <a:off x="4933590" y="5756970"/>
            <a:ext cx="1232277" cy="53686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8" name="Rectangle 85"/>
          <p:cNvSpPr>
            <a:spLocks noChangeArrowheads="1"/>
          </p:cNvSpPr>
          <p:nvPr/>
        </p:nvSpPr>
        <p:spPr bwMode="auto">
          <a:xfrm>
            <a:off x="4935363" y="4139194"/>
            <a:ext cx="1225281" cy="536689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9" name="Rectangle 87"/>
          <p:cNvSpPr>
            <a:spLocks noChangeArrowheads="1"/>
          </p:cNvSpPr>
          <p:nvPr/>
        </p:nvSpPr>
        <p:spPr bwMode="auto">
          <a:xfrm>
            <a:off x="4940637" y="2486091"/>
            <a:ext cx="1221782" cy="1648454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0" name="Freeform 93"/>
          <p:cNvSpPr>
            <a:spLocks noEditPoints="1"/>
          </p:cNvSpPr>
          <p:nvPr/>
        </p:nvSpPr>
        <p:spPr bwMode="auto">
          <a:xfrm>
            <a:off x="5664024" y="5626795"/>
            <a:ext cx="648000" cy="572546"/>
          </a:xfrm>
          <a:custGeom>
            <a:avLst/>
            <a:gdLst>
              <a:gd name="T0" fmla="*/ 743 w 743"/>
              <a:gd name="T1" fmla="*/ 0 h 286"/>
              <a:gd name="T2" fmla="*/ 731 w 743"/>
              <a:gd name="T3" fmla="*/ 16 h 286"/>
              <a:gd name="T4" fmla="*/ 720 w 743"/>
              <a:gd name="T5" fmla="*/ 0 h 286"/>
              <a:gd name="T6" fmla="*/ 719 w 743"/>
              <a:gd name="T7" fmla="*/ 252 h 286"/>
              <a:gd name="T8" fmla="*/ 24 w 743"/>
              <a:gd name="T9" fmla="*/ 252 h 286"/>
              <a:gd name="T10" fmla="*/ 24 w 743"/>
              <a:gd name="T11" fmla="*/ 0 h 286"/>
              <a:gd name="T12" fmla="*/ 12 w 743"/>
              <a:gd name="T13" fmla="*/ 16 h 286"/>
              <a:gd name="T14" fmla="*/ 1 w 743"/>
              <a:gd name="T15" fmla="*/ 0 h 286"/>
              <a:gd name="T16" fmla="*/ 0 w 743"/>
              <a:gd name="T17" fmla="*/ 252 h 286"/>
              <a:gd name="T18" fmla="*/ 0 w 743"/>
              <a:gd name="T19" fmla="*/ 286 h 286"/>
              <a:gd name="T20" fmla="*/ 743 w 743"/>
              <a:gd name="T21" fmla="*/ 286 h 286"/>
              <a:gd name="T22" fmla="*/ 743 w 743"/>
              <a:gd name="T23" fmla="*/ 0 h 286"/>
              <a:gd name="T24" fmla="*/ 743 w 743"/>
              <a:gd name="T25" fmla="*/ 0 h 286"/>
              <a:gd name="T26" fmla="*/ 720 w 743"/>
              <a:gd name="T27" fmla="*/ 0 h 286"/>
              <a:gd name="T28" fmla="*/ 719 w 743"/>
              <a:gd name="T29" fmla="*/ 0 h 286"/>
              <a:gd name="T30" fmla="*/ 720 w 743"/>
              <a:gd name="T31" fmla="*/ 0 h 286"/>
              <a:gd name="T32" fmla="*/ 1 w 743"/>
              <a:gd name="T33" fmla="*/ 0 h 286"/>
              <a:gd name="T34" fmla="*/ 0 w 743"/>
              <a:gd name="T35" fmla="*/ 0 h 286"/>
              <a:gd name="T36" fmla="*/ 1 w 743"/>
              <a:gd name="T37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743" h="286">
                <a:moveTo>
                  <a:pt x="743" y="0"/>
                </a:moveTo>
                <a:lnTo>
                  <a:pt x="731" y="16"/>
                </a:lnTo>
                <a:lnTo>
                  <a:pt x="720" y="0"/>
                </a:lnTo>
                <a:lnTo>
                  <a:pt x="719" y="252"/>
                </a:lnTo>
                <a:lnTo>
                  <a:pt x="24" y="252"/>
                </a:lnTo>
                <a:lnTo>
                  <a:pt x="24" y="0"/>
                </a:lnTo>
                <a:lnTo>
                  <a:pt x="12" y="16"/>
                </a:lnTo>
                <a:lnTo>
                  <a:pt x="1" y="0"/>
                </a:lnTo>
                <a:lnTo>
                  <a:pt x="0" y="252"/>
                </a:lnTo>
                <a:lnTo>
                  <a:pt x="0" y="286"/>
                </a:lnTo>
                <a:lnTo>
                  <a:pt x="743" y="286"/>
                </a:lnTo>
                <a:lnTo>
                  <a:pt x="743" y="0"/>
                </a:lnTo>
                <a:lnTo>
                  <a:pt x="743" y="0"/>
                </a:lnTo>
                <a:close/>
                <a:moveTo>
                  <a:pt x="720" y="0"/>
                </a:moveTo>
                <a:lnTo>
                  <a:pt x="719" y="0"/>
                </a:lnTo>
                <a:lnTo>
                  <a:pt x="720" y="0"/>
                </a:lnTo>
                <a:close/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8B5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1" name="Freeform 94"/>
          <p:cNvSpPr>
            <a:spLocks noEditPoints="1"/>
          </p:cNvSpPr>
          <p:nvPr/>
        </p:nvSpPr>
        <p:spPr bwMode="auto">
          <a:xfrm>
            <a:off x="5664024" y="5626795"/>
            <a:ext cx="648000" cy="572546"/>
          </a:xfrm>
          <a:custGeom>
            <a:avLst/>
            <a:gdLst>
              <a:gd name="T0" fmla="*/ 743 w 743"/>
              <a:gd name="T1" fmla="*/ 0 h 286"/>
              <a:gd name="T2" fmla="*/ 731 w 743"/>
              <a:gd name="T3" fmla="*/ 16 h 286"/>
              <a:gd name="T4" fmla="*/ 720 w 743"/>
              <a:gd name="T5" fmla="*/ 0 h 286"/>
              <a:gd name="T6" fmla="*/ 719 w 743"/>
              <a:gd name="T7" fmla="*/ 252 h 286"/>
              <a:gd name="T8" fmla="*/ 24 w 743"/>
              <a:gd name="T9" fmla="*/ 252 h 286"/>
              <a:gd name="T10" fmla="*/ 24 w 743"/>
              <a:gd name="T11" fmla="*/ 0 h 286"/>
              <a:gd name="T12" fmla="*/ 12 w 743"/>
              <a:gd name="T13" fmla="*/ 16 h 286"/>
              <a:gd name="T14" fmla="*/ 1 w 743"/>
              <a:gd name="T15" fmla="*/ 0 h 286"/>
              <a:gd name="T16" fmla="*/ 0 w 743"/>
              <a:gd name="T17" fmla="*/ 252 h 286"/>
              <a:gd name="T18" fmla="*/ 0 w 743"/>
              <a:gd name="T19" fmla="*/ 286 h 286"/>
              <a:gd name="T20" fmla="*/ 743 w 743"/>
              <a:gd name="T21" fmla="*/ 286 h 286"/>
              <a:gd name="T22" fmla="*/ 743 w 743"/>
              <a:gd name="T23" fmla="*/ 0 h 286"/>
              <a:gd name="T24" fmla="*/ 720 w 743"/>
              <a:gd name="T25" fmla="*/ 0 h 286"/>
              <a:gd name="T26" fmla="*/ 719 w 743"/>
              <a:gd name="T27" fmla="*/ 0 h 286"/>
              <a:gd name="T28" fmla="*/ 1 w 743"/>
              <a:gd name="T29" fmla="*/ 0 h 286"/>
              <a:gd name="T30" fmla="*/ 0 w 743"/>
              <a:gd name="T31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43" h="286">
                <a:moveTo>
                  <a:pt x="743" y="0"/>
                </a:moveTo>
                <a:lnTo>
                  <a:pt x="731" y="16"/>
                </a:lnTo>
                <a:lnTo>
                  <a:pt x="720" y="0"/>
                </a:lnTo>
                <a:lnTo>
                  <a:pt x="719" y="252"/>
                </a:lnTo>
                <a:lnTo>
                  <a:pt x="24" y="252"/>
                </a:lnTo>
                <a:lnTo>
                  <a:pt x="24" y="0"/>
                </a:lnTo>
                <a:lnTo>
                  <a:pt x="12" y="16"/>
                </a:lnTo>
                <a:lnTo>
                  <a:pt x="1" y="0"/>
                </a:lnTo>
                <a:lnTo>
                  <a:pt x="0" y="252"/>
                </a:lnTo>
                <a:lnTo>
                  <a:pt x="0" y="286"/>
                </a:lnTo>
                <a:lnTo>
                  <a:pt x="743" y="286"/>
                </a:lnTo>
                <a:lnTo>
                  <a:pt x="743" y="0"/>
                </a:lnTo>
                <a:moveTo>
                  <a:pt x="720" y="0"/>
                </a:moveTo>
                <a:lnTo>
                  <a:pt x="719" y="0"/>
                </a:lnTo>
                <a:moveTo>
                  <a:pt x="1" y="0"/>
                </a:moveTo>
                <a:lnTo>
                  <a:pt x="0" y="0"/>
                </a:lnTo>
              </a:path>
            </a:pathLst>
          </a:custGeom>
          <a:noFill/>
          <a:ln w="9525" cap="rnd">
            <a:solidFill>
              <a:srgbClr val="F282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2" name="Line 224"/>
          <p:cNvSpPr>
            <a:spLocks noChangeShapeType="1"/>
          </p:cNvSpPr>
          <p:nvPr/>
        </p:nvSpPr>
        <p:spPr bwMode="auto">
          <a:xfrm flipV="1">
            <a:off x="5691012" y="5550595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3" name="Line 225"/>
          <p:cNvSpPr>
            <a:spLocks noChangeShapeType="1"/>
          </p:cNvSpPr>
          <p:nvPr/>
        </p:nvSpPr>
        <p:spPr bwMode="auto">
          <a:xfrm flipH="1" flipV="1">
            <a:off x="5589412" y="5550595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4" name="Line 226"/>
          <p:cNvSpPr>
            <a:spLocks noChangeShapeType="1"/>
          </p:cNvSpPr>
          <p:nvPr/>
        </p:nvSpPr>
        <p:spPr bwMode="auto">
          <a:xfrm flipV="1">
            <a:off x="5691012" y="5461695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5" name="Line 227"/>
          <p:cNvSpPr>
            <a:spLocks noChangeShapeType="1"/>
          </p:cNvSpPr>
          <p:nvPr/>
        </p:nvSpPr>
        <p:spPr bwMode="auto">
          <a:xfrm flipH="1" flipV="1">
            <a:off x="5589412" y="5461695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6" name="Rectangle 240"/>
          <p:cNvSpPr>
            <a:spLocks noChangeArrowheads="1"/>
          </p:cNvSpPr>
          <p:nvPr/>
        </p:nvSpPr>
        <p:spPr bwMode="auto">
          <a:xfrm>
            <a:off x="774524" y="6020495"/>
            <a:ext cx="9207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-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7" name="Picture 2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216" y="1014515"/>
            <a:ext cx="2326650" cy="1410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" name="Rectangle 300"/>
          <p:cNvSpPr>
            <a:spLocks noChangeArrowheads="1"/>
          </p:cNvSpPr>
          <p:nvPr/>
        </p:nvSpPr>
        <p:spPr bwMode="auto">
          <a:xfrm>
            <a:off x="1439687" y="2582138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ТН1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9" name="Rectangle 300"/>
          <p:cNvSpPr>
            <a:spLocks noChangeArrowheads="1"/>
          </p:cNvSpPr>
          <p:nvPr/>
        </p:nvSpPr>
        <p:spPr bwMode="auto">
          <a:xfrm>
            <a:off x="2542355" y="2582138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ОЛ1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0" name="Rectangle 300"/>
          <p:cNvSpPr>
            <a:spLocks noChangeArrowheads="1"/>
          </p:cNvSpPr>
          <p:nvPr/>
        </p:nvSpPr>
        <p:spPr bwMode="auto">
          <a:xfrm>
            <a:off x="3765375" y="2582138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ВВ1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Rectangle 300"/>
          <p:cNvSpPr>
            <a:spLocks noChangeArrowheads="1"/>
          </p:cNvSpPr>
          <p:nvPr/>
        </p:nvSpPr>
        <p:spPr bwMode="auto">
          <a:xfrm>
            <a:off x="4935362" y="2582138"/>
            <a:ext cx="132478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СВ1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" name="Блок-схема: ссылка на другую страницу 101"/>
          <p:cNvSpPr/>
          <p:nvPr/>
        </p:nvSpPr>
        <p:spPr>
          <a:xfrm rot="16200000">
            <a:off x="44358" y="2846371"/>
            <a:ext cx="1648453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3" name="Rectangle 317"/>
          <p:cNvSpPr>
            <a:spLocks noChangeArrowheads="1"/>
          </p:cNvSpPr>
          <p:nvPr/>
        </p:nvSpPr>
        <p:spPr bwMode="auto">
          <a:xfrm>
            <a:off x="449360" y="3068960"/>
            <a:ext cx="74699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Релейный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отсек 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ЮНИТ-ДЗ-М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" name="Блок-схема: ссылка на другую страницу 103"/>
          <p:cNvSpPr/>
          <p:nvPr/>
        </p:nvSpPr>
        <p:spPr>
          <a:xfrm rot="16200000">
            <a:off x="602418" y="3945770"/>
            <a:ext cx="532334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5" name="Блок-схема: ссылка на другую страницу 104"/>
          <p:cNvSpPr/>
          <p:nvPr/>
        </p:nvSpPr>
        <p:spPr>
          <a:xfrm rot="16200000">
            <a:off x="325662" y="4750101"/>
            <a:ext cx="1085849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6" name="Блок-схема: ссылка на другую страницу 105"/>
          <p:cNvSpPr/>
          <p:nvPr/>
        </p:nvSpPr>
        <p:spPr>
          <a:xfrm rot="16200000">
            <a:off x="602025" y="5566213"/>
            <a:ext cx="533121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7" name="Rectangle 317"/>
          <p:cNvSpPr>
            <a:spLocks noChangeArrowheads="1"/>
          </p:cNvSpPr>
          <p:nvPr/>
        </p:nvSpPr>
        <p:spPr bwMode="auto">
          <a:xfrm>
            <a:off x="449360" y="4211796"/>
            <a:ext cx="7774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Отсек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с</a:t>
            </a: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борных шин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" name="Rectangle 317"/>
          <p:cNvSpPr>
            <a:spLocks noChangeArrowheads="1"/>
          </p:cNvSpPr>
          <p:nvPr/>
        </p:nvSpPr>
        <p:spPr bwMode="auto">
          <a:xfrm>
            <a:off x="447704" y="4850576"/>
            <a:ext cx="82715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Отсек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выключателя/</a:t>
            </a:r>
          </a:p>
          <a:p>
            <a:pPr lvl="0"/>
            <a:r>
              <a:rPr lang="ru-RU" altLang="ru-RU" sz="1200" dirty="0" err="1" smtClean="0">
                <a:solidFill>
                  <a:srgbClr val="000000"/>
                </a:solidFill>
                <a:latin typeface="Arial Narrow" panose="020B0606020202030204" pitchFamily="34" charset="0"/>
              </a:rPr>
              <a:t>выкатного</a:t>
            </a:r>
            <a:endParaRPr lang="ru-RU" altLang="ru-RU" sz="1200" dirty="0" smtClean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lvl="0"/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элемента</a:t>
            </a:r>
            <a:endParaRPr kumimoji="0" lang="ru-RU" altLang="ru-RU" sz="12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09" name="Rectangle 317"/>
          <p:cNvSpPr>
            <a:spLocks noChangeArrowheads="1"/>
          </p:cNvSpPr>
          <p:nvPr/>
        </p:nvSpPr>
        <p:spPr bwMode="auto">
          <a:xfrm>
            <a:off x="449360" y="5755322"/>
            <a:ext cx="44403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ru-RU" altLang="ru-RU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Отсек</a:t>
            </a:r>
          </a:p>
          <a:p>
            <a:pPr lvl="0"/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ввода/</a:t>
            </a:r>
          </a:p>
          <a:p>
            <a:pPr lvl="0"/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вывода</a:t>
            </a:r>
            <a:endParaRPr lang="ru-RU" altLang="ru-RU" dirty="0"/>
          </a:p>
        </p:txBody>
      </p:sp>
      <p:sp>
        <p:nvSpPr>
          <p:cNvPr id="110" name="Rectangle 49"/>
          <p:cNvSpPr>
            <a:spLocks noChangeArrowheads="1"/>
          </p:cNvSpPr>
          <p:nvPr/>
        </p:nvSpPr>
        <p:spPr bwMode="auto">
          <a:xfrm>
            <a:off x="2520774" y="2486091"/>
            <a:ext cx="1135062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111" name="Группа 110"/>
          <p:cNvGrpSpPr/>
          <p:nvPr/>
        </p:nvGrpSpPr>
        <p:grpSpPr>
          <a:xfrm>
            <a:off x="2553159" y="2884858"/>
            <a:ext cx="625475" cy="3177958"/>
            <a:chOff x="7968208" y="2907977"/>
            <a:chExt cx="625475" cy="3177958"/>
          </a:xfrm>
        </p:grpSpPr>
        <p:pic>
          <p:nvPicPr>
            <p:cNvPr id="112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9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0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7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8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39" name="Группа 138"/>
          <p:cNvGrpSpPr/>
          <p:nvPr/>
        </p:nvGrpSpPr>
        <p:grpSpPr>
          <a:xfrm>
            <a:off x="3666313" y="2884858"/>
            <a:ext cx="625475" cy="3177958"/>
            <a:chOff x="7968208" y="2907977"/>
            <a:chExt cx="625475" cy="3177958"/>
          </a:xfrm>
        </p:grpSpPr>
        <p:pic>
          <p:nvPicPr>
            <p:cNvPr id="140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1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2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3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4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6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7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9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0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2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3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4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5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6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7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8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9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0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1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2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3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4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5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6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67" name="Группа 166"/>
          <p:cNvGrpSpPr/>
          <p:nvPr/>
        </p:nvGrpSpPr>
        <p:grpSpPr>
          <a:xfrm>
            <a:off x="4951693" y="2884858"/>
            <a:ext cx="625475" cy="3177958"/>
            <a:chOff x="7968208" y="2907977"/>
            <a:chExt cx="625475" cy="3177958"/>
          </a:xfrm>
        </p:grpSpPr>
        <p:pic>
          <p:nvPicPr>
            <p:cNvPr id="168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0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1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2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3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4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5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6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7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8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9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0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1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2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3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4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5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6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7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8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9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0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1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2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3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4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95" name="Группа 194"/>
          <p:cNvGrpSpPr/>
          <p:nvPr/>
        </p:nvGrpSpPr>
        <p:grpSpPr>
          <a:xfrm>
            <a:off x="1552077" y="2884858"/>
            <a:ext cx="625475" cy="2355633"/>
            <a:chOff x="7968208" y="2907977"/>
            <a:chExt cx="625475" cy="2355633"/>
          </a:xfrm>
        </p:grpSpPr>
        <p:pic>
          <p:nvPicPr>
            <p:cNvPr id="196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8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9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0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1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2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3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4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5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6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7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8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9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0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1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2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3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214" name="Двойная стрелка вверх/вниз 213"/>
          <p:cNvSpPr/>
          <p:nvPr/>
        </p:nvSpPr>
        <p:spPr>
          <a:xfrm>
            <a:off x="1601488" y="2276872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5" name="Двойная стрелка вверх/вниз 214"/>
          <p:cNvSpPr/>
          <p:nvPr/>
        </p:nvSpPr>
        <p:spPr>
          <a:xfrm>
            <a:off x="2675890" y="2276872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Двойная стрелка вверх/вниз 215"/>
          <p:cNvSpPr/>
          <p:nvPr/>
        </p:nvSpPr>
        <p:spPr>
          <a:xfrm>
            <a:off x="3810788" y="2276872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Двойная стрелка вверх/вниз 216"/>
          <p:cNvSpPr/>
          <p:nvPr/>
        </p:nvSpPr>
        <p:spPr>
          <a:xfrm>
            <a:off x="5081200" y="2276872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/>
          <p:cNvSpPr/>
          <p:nvPr/>
        </p:nvSpPr>
        <p:spPr>
          <a:xfrm>
            <a:off x="1457490" y="2113675"/>
            <a:ext cx="4270669" cy="163197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Rectangle 300"/>
          <p:cNvSpPr>
            <a:spLocks noChangeArrowheads="1"/>
          </p:cNvSpPr>
          <p:nvPr/>
        </p:nvSpPr>
        <p:spPr bwMode="auto">
          <a:xfrm>
            <a:off x="1552078" y="2112279"/>
            <a:ext cx="150826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CAN-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шина</a:t>
            </a:r>
            <a:r>
              <a:rPr kumimoji="0" lang="ru-RU" altLang="ru-RU" sz="11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1 секции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0" name="Прямоугольник 219"/>
          <p:cNvSpPr/>
          <p:nvPr/>
        </p:nvSpPr>
        <p:spPr>
          <a:xfrm>
            <a:off x="4492449" y="3547616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1" name="Rectangle 300"/>
          <p:cNvSpPr>
            <a:spLocks noChangeArrowheads="1"/>
          </p:cNvSpPr>
          <p:nvPr/>
        </p:nvSpPr>
        <p:spPr bwMode="auto">
          <a:xfrm>
            <a:off x="4517101" y="3600852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22" name="Соединительная линия уступом 221"/>
          <p:cNvCxnSpPr>
            <a:endCxn id="66" idx="3"/>
          </p:cNvCxnSpPr>
          <p:nvPr/>
        </p:nvCxnSpPr>
        <p:spPr>
          <a:xfrm rot="5400000">
            <a:off x="4080228" y="4518516"/>
            <a:ext cx="1210145" cy="18567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Прямоугольник 222"/>
          <p:cNvSpPr/>
          <p:nvPr/>
        </p:nvSpPr>
        <p:spPr>
          <a:xfrm>
            <a:off x="3285230" y="3547616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4" name="Rectangle 300"/>
          <p:cNvSpPr>
            <a:spLocks noChangeArrowheads="1"/>
          </p:cNvSpPr>
          <p:nvPr/>
        </p:nvSpPr>
        <p:spPr bwMode="auto">
          <a:xfrm>
            <a:off x="3309882" y="3600852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25" name="Соединительная линия уступом 224"/>
          <p:cNvCxnSpPr>
            <a:endCxn id="44" idx="3"/>
          </p:cNvCxnSpPr>
          <p:nvPr/>
        </p:nvCxnSpPr>
        <p:spPr>
          <a:xfrm rot="5400000">
            <a:off x="2897532" y="4529637"/>
            <a:ext cx="1210145" cy="16343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Прямоугольник 225"/>
          <p:cNvSpPr/>
          <p:nvPr/>
        </p:nvSpPr>
        <p:spPr>
          <a:xfrm>
            <a:off x="5633936" y="3547616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7" name="Rectangle 300"/>
          <p:cNvSpPr>
            <a:spLocks noChangeArrowheads="1"/>
          </p:cNvSpPr>
          <p:nvPr/>
        </p:nvSpPr>
        <p:spPr bwMode="auto">
          <a:xfrm>
            <a:off x="5658588" y="3600852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28" name="Соединительная линия уступом 227"/>
          <p:cNvCxnSpPr>
            <a:stCxn id="226" idx="3"/>
            <a:endCxn id="85" idx="3"/>
          </p:cNvCxnSpPr>
          <p:nvPr/>
        </p:nvCxnSpPr>
        <p:spPr>
          <a:xfrm flipH="1">
            <a:off x="5818011" y="3763616"/>
            <a:ext cx="139925" cy="1452811"/>
          </a:xfrm>
          <a:prstGeom prst="bentConnector3">
            <a:avLst>
              <a:gd name="adj1" fmla="val -8622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Блок-схема: ссылка на другую страницу 228"/>
          <p:cNvSpPr/>
          <p:nvPr/>
        </p:nvSpPr>
        <p:spPr>
          <a:xfrm rot="5400000" flipH="1">
            <a:off x="10759771" y="1316197"/>
            <a:ext cx="1243225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0" name="Rectangle 317"/>
          <p:cNvSpPr>
            <a:spLocks noChangeArrowheads="1"/>
          </p:cNvSpPr>
          <p:nvPr/>
        </p:nvSpPr>
        <p:spPr bwMode="auto">
          <a:xfrm>
            <a:off x="11006403" y="1694219"/>
            <a:ext cx="807913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ЮНИТ-М300-ЦД</a:t>
            </a:r>
          </a:p>
        </p:txBody>
      </p:sp>
      <p:pic>
        <p:nvPicPr>
          <p:cNvPr id="231" name="Picture 126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110" y="3365553"/>
            <a:ext cx="1050925" cy="124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2" name="Прямая со стрелкой 231"/>
          <p:cNvCxnSpPr/>
          <p:nvPr/>
        </p:nvCxnSpPr>
        <p:spPr>
          <a:xfrm rot="5400000" flipV="1">
            <a:off x="8392763" y="2904771"/>
            <a:ext cx="828000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ectangle 300"/>
          <p:cNvSpPr>
            <a:spLocks noChangeArrowheads="1"/>
          </p:cNvSpPr>
          <p:nvPr/>
        </p:nvSpPr>
        <p:spPr bwMode="auto">
          <a:xfrm>
            <a:off x="8137846" y="2666924"/>
            <a:ext cx="61172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kumimoji="0" lang="en-US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RS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-48</a:t>
            </a:r>
            <a:r>
              <a:rPr kumimoji="0" lang="en-US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5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или </a:t>
            </a:r>
            <a:r>
              <a:rPr kumimoji="0" lang="en-US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E</a:t>
            </a:r>
            <a:r>
              <a:rPr lang="en-US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thernet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4" name="Rectangle 71"/>
          <p:cNvSpPr>
            <a:spLocks noChangeArrowheads="1"/>
          </p:cNvSpPr>
          <p:nvPr/>
        </p:nvSpPr>
        <p:spPr bwMode="auto">
          <a:xfrm>
            <a:off x="4931828" y="4675883"/>
            <a:ext cx="1230591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35" name="Picture 6" descr="https://cdn-icons-png.flaticon.com/512/1043/104331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0014" y="5001446"/>
            <a:ext cx="1197645" cy="1197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6" name="Прямая со стрелкой 235"/>
          <p:cNvCxnSpPr/>
          <p:nvPr/>
        </p:nvCxnSpPr>
        <p:spPr>
          <a:xfrm rot="5400000" flipV="1">
            <a:off x="9056086" y="3732771"/>
            <a:ext cx="2484000" cy="0"/>
          </a:xfrm>
          <a:prstGeom prst="straightConnector1">
            <a:avLst/>
          </a:prstGeom>
          <a:ln w="19050">
            <a:solidFill>
              <a:srgbClr val="4F81BD"/>
            </a:solidFill>
            <a:prstDash val="lg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Rectangle 300"/>
          <p:cNvSpPr>
            <a:spLocks noChangeArrowheads="1"/>
          </p:cNvSpPr>
          <p:nvPr/>
        </p:nvSpPr>
        <p:spPr bwMode="auto">
          <a:xfrm>
            <a:off x="9513696" y="3809509"/>
            <a:ext cx="61172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kumimoji="0" lang="en-US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E</a:t>
            </a:r>
            <a:r>
              <a:rPr lang="en-US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thernet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38" name="Соединительная линия уступом 237"/>
          <p:cNvCxnSpPr/>
          <p:nvPr/>
        </p:nvCxnSpPr>
        <p:spPr>
          <a:xfrm>
            <a:off x="9413043" y="4038851"/>
            <a:ext cx="669019" cy="1020961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Блок-схема: ссылка на другую страницу 238"/>
          <p:cNvSpPr/>
          <p:nvPr/>
        </p:nvSpPr>
        <p:spPr>
          <a:xfrm rot="5400000" flipH="1">
            <a:off x="10759771" y="3523220"/>
            <a:ext cx="1243225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0" name="Rectangle 317"/>
          <p:cNvSpPr>
            <a:spLocks noChangeArrowheads="1"/>
          </p:cNvSpPr>
          <p:nvPr/>
        </p:nvSpPr>
        <p:spPr bwMode="auto">
          <a:xfrm>
            <a:off x="11120737" y="3923415"/>
            <a:ext cx="59631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0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ЮНИТ-ИЧМ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1" name="Блок-схема: ссылка на другую страницу 240"/>
          <p:cNvSpPr/>
          <p:nvPr/>
        </p:nvSpPr>
        <p:spPr>
          <a:xfrm rot="5400000" flipH="1">
            <a:off x="10759771" y="5108630"/>
            <a:ext cx="1243225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2" name="Rectangle 317"/>
          <p:cNvSpPr>
            <a:spLocks noChangeArrowheads="1"/>
          </p:cNvSpPr>
          <p:nvPr/>
        </p:nvSpPr>
        <p:spPr bwMode="auto">
          <a:xfrm>
            <a:off x="11082285" y="5190979"/>
            <a:ext cx="71173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АРМ СРЗА на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подстанции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0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ПО «</a:t>
            </a:r>
            <a:r>
              <a:rPr kumimoji="0" lang="ru-RU" altLang="ru-RU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ЮНИТ-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СЕРВИС»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4" name="Двойная стрелка влево/вверх 243"/>
          <p:cNvSpPr/>
          <p:nvPr/>
        </p:nvSpPr>
        <p:spPr>
          <a:xfrm rot="10800000">
            <a:off x="5484032" y="1719937"/>
            <a:ext cx="2952000" cy="360000"/>
          </a:xfrm>
          <a:prstGeom prst="leftUpArrow">
            <a:avLst>
              <a:gd name="adj1" fmla="val 14951"/>
              <a:gd name="adj2" fmla="val 13276"/>
              <a:gd name="adj3" fmla="val 2835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5" name="Соединительная линия уступом 244"/>
          <p:cNvCxnSpPr/>
          <p:nvPr/>
        </p:nvCxnSpPr>
        <p:spPr>
          <a:xfrm rot="5400000" flipH="1">
            <a:off x="4099076" y="5795491"/>
            <a:ext cx="1152000" cy="16343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Соединительная линия уступом 245"/>
          <p:cNvCxnSpPr/>
          <p:nvPr/>
        </p:nvCxnSpPr>
        <p:spPr>
          <a:xfrm rot="5400000" flipH="1">
            <a:off x="5328286" y="5795491"/>
            <a:ext cx="1152000" cy="16343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Соединительная линия уступом 246"/>
          <p:cNvCxnSpPr/>
          <p:nvPr/>
        </p:nvCxnSpPr>
        <p:spPr>
          <a:xfrm flipH="1">
            <a:off x="7431572" y="2307893"/>
            <a:ext cx="1008000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8" name="Rectangle 300"/>
          <p:cNvSpPr>
            <a:spLocks noChangeArrowheads="1"/>
          </p:cNvSpPr>
          <p:nvPr/>
        </p:nvSpPr>
        <p:spPr bwMode="auto">
          <a:xfrm>
            <a:off x="7071532" y="2550439"/>
            <a:ext cx="77621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kumimoji="0" lang="ru-RU" altLang="ru-RU" sz="11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Отключения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Т1, СВ2,</a:t>
            </a:r>
          </a:p>
          <a:p>
            <a:pPr lvl="0" algn="ctr"/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Запрет АВР, Запрет АПВ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49" name="Соединительная линия уступом 248"/>
          <p:cNvCxnSpPr/>
          <p:nvPr/>
        </p:nvCxnSpPr>
        <p:spPr>
          <a:xfrm rot="16200000" flipH="1">
            <a:off x="3989275" y="3620084"/>
            <a:ext cx="1008000" cy="414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Соединительная линия уступом 249"/>
          <p:cNvCxnSpPr/>
          <p:nvPr/>
        </p:nvCxnSpPr>
        <p:spPr>
          <a:xfrm rot="5400000">
            <a:off x="4248180" y="4671218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Соединительная линия уступом 250"/>
          <p:cNvCxnSpPr/>
          <p:nvPr/>
        </p:nvCxnSpPr>
        <p:spPr>
          <a:xfrm rot="16200000" flipH="1">
            <a:off x="5248934" y="3644958"/>
            <a:ext cx="1008000" cy="360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Соединительная линия уступом 251"/>
          <p:cNvCxnSpPr/>
          <p:nvPr/>
        </p:nvCxnSpPr>
        <p:spPr>
          <a:xfrm rot="5400000">
            <a:off x="5480839" y="4669092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Соединительная линия уступом 252"/>
          <p:cNvCxnSpPr/>
          <p:nvPr/>
        </p:nvCxnSpPr>
        <p:spPr>
          <a:xfrm rot="16200000" flipH="1">
            <a:off x="2848287" y="3644958"/>
            <a:ext cx="1008000" cy="360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Соединительная линия уступом 253"/>
          <p:cNvCxnSpPr/>
          <p:nvPr/>
        </p:nvCxnSpPr>
        <p:spPr>
          <a:xfrm rot="5400000">
            <a:off x="3080192" y="4669092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Прямая соединительная линия 261"/>
          <p:cNvCxnSpPr/>
          <p:nvPr/>
        </p:nvCxnSpPr>
        <p:spPr>
          <a:xfrm flipH="1">
            <a:off x="6599188" y="2022627"/>
            <a:ext cx="1835887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Прямая соединительная линия 263"/>
          <p:cNvCxnSpPr/>
          <p:nvPr/>
        </p:nvCxnSpPr>
        <p:spPr>
          <a:xfrm>
            <a:off x="6599187" y="2022627"/>
            <a:ext cx="1" cy="4425806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единительная линия 265"/>
          <p:cNvCxnSpPr/>
          <p:nvPr/>
        </p:nvCxnSpPr>
        <p:spPr>
          <a:xfrm>
            <a:off x="5986004" y="6448433"/>
            <a:ext cx="614052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Прямая со стрелкой 268"/>
          <p:cNvCxnSpPr/>
          <p:nvPr/>
        </p:nvCxnSpPr>
        <p:spPr>
          <a:xfrm>
            <a:off x="5599710" y="1120112"/>
            <a:ext cx="284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1" name="Rectangle 300"/>
          <p:cNvSpPr>
            <a:spLocks noChangeArrowheads="1"/>
          </p:cNvSpPr>
          <p:nvPr/>
        </p:nvSpPr>
        <p:spPr bwMode="auto">
          <a:xfrm>
            <a:off x="5427125" y="1368747"/>
            <a:ext cx="29292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Токовый контроль питающих присоединений</a:t>
            </a:r>
            <a:endParaRPr kumimoji="0" lang="ru-RU" altLang="ru-RU" sz="11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cxnSp>
        <p:nvCxnSpPr>
          <p:cNvPr id="272" name="Прямая со стрелкой 271"/>
          <p:cNvCxnSpPr/>
          <p:nvPr/>
        </p:nvCxnSpPr>
        <p:spPr>
          <a:xfrm>
            <a:off x="5599710" y="1321372"/>
            <a:ext cx="284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73" name="Rectangle 300"/>
          <p:cNvSpPr>
            <a:spLocks noChangeArrowheads="1"/>
          </p:cNvSpPr>
          <p:nvPr/>
        </p:nvSpPr>
        <p:spPr bwMode="auto">
          <a:xfrm>
            <a:off x="5427125" y="1134733"/>
            <a:ext cx="29292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УРОВ ЗДЗ смежной секции</a:t>
            </a:r>
            <a:endParaRPr kumimoji="0" lang="ru-RU" altLang="ru-RU" sz="11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0252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032" y="36177"/>
            <a:ext cx="8663608" cy="741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Пример построения </a:t>
            </a:r>
            <a:r>
              <a:rPr lang="ru-RU" sz="2000" b="1" cap="all" dirty="0" err="1" smtClean="0">
                <a:solidFill>
                  <a:prstClr val="white"/>
                </a:solidFill>
                <a:latin typeface="Arial Narrow"/>
              </a:rPr>
              <a:t>здз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 </a:t>
            </a:r>
            <a:r>
              <a:rPr lang="ru-RU" sz="2000" b="1" cap="all" dirty="0" err="1" smtClean="0">
                <a:solidFill>
                  <a:prstClr val="white"/>
                </a:solidFill>
                <a:latin typeface="Arial Narrow"/>
              </a:rPr>
              <a:t>ру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 с двумя секциями и одним </a:t>
            </a:r>
            <a:r>
              <a:rPr lang="ru-RU" sz="2000" b="1" cap="all" dirty="0" err="1" smtClean="0">
                <a:solidFill>
                  <a:prstClr val="white"/>
                </a:solidFill>
                <a:latin typeface="Arial Narrow"/>
              </a:rPr>
              <a:t>сВ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 </a:t>
            </a:r>
          </a:p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в соответствии </a:t>
            </a:r>
            <a:r>
              <a:rPr lang="ru-RU" sz="2000" b="1" cap="all" dirty="0">
                <a:solidFill>
                  <a:prstClr val="white"/>
                </a:solidFill>
                <a:latin typeface="Arial Narrow"/>
              </a:rPr>
              <a:t>с СТО 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56947007-33.040.20.295-2019</a:t>
            </a:r>
          </a:p>
        </p:txBody>
      </p:sp>
      <p:cxnSp>
        <p:nvCxnSpPr>
          <p:cNvPr id="259" name="Соединительная линия уступом 258"/>
          <p:cNvCxnSpPr/>
          <p:nvPr/>
        </p:nvCxnSpPr>
        <p:spPr>
          <a:xfrm>
            <a:off x="5708402" y="3528714"/>
            <a:ext cx="310247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0" name="Соединительная линия уступом 259"/>
          <p:cNvCxnSpPr/>
          <p:nvPr/>
        </p:nvCxnSpPr>
        <p:spPr>
          <a:xfrm>
            <a:off x="4556274" y="3528714"/>
            <a:ext cx="362661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1" name="Соединительная линия уступом 260"/>
          <p:cNvCxnSpPr/>
          <p:nvPr/>
        </p:nvCxnSpPr>
        <p:spPr>
          <a:xfrm>
            <a:off x="3362455" y="3528714"/>
            <a:ext cx="362661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3" name="Rectangle 5"/>
          <p:cNvSpPr>
            <a:spLocks noChangeArrowheads="1"/>
          </p:cNvSpPr>
          <p:nvPr/>
        </p:nvSpPr>
        <p:spPr bwMode="auto">
          <a:xfrm>
            <a:off x="1730177" y="2709684"/>
            <a:ext cx="1081087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5" name="Rectangle 6"/>
          <p:cNvSpPr>
            <a:spLocks noChangeArrowheads="1"/>
          </p:cNvSpPr>
          <p:nvPr/>
        </p:nvSpPr>
        <p:spPr bwMode="auto">
          <a:xfrm>
            <a:off x="2811264" y="2709684"/>
            <a:ext cx="1135062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7" name="Rectangle 7"/>
          <p:cNvSpPr>
            <a:spLocks noChangeArrowheads="1"/>
          </p:cNvSpPr>
          <p:nvPr/>
        </p:nvSpPr>
        <p:spPr bwMode="auto">
          <a:xfrm>
            <a:off x="3946327" y="2709684"/>
            <a:ext cx="1279525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8" name="Rectangle 8"/>
          <p:cNvSpPr>
            <a:spLocks noChangeArrowheads="1"/>
          </p:cNvSpPr>
          <p:nvPr/>
        </p:nvSpPr>
        <p:spPr bwMode="auto">
          <a:xfrm>
            <a:off x="5225852" y="2709684"/>
            <a:ext cx="1850702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0" name="Rectangle 10"/>
          <p:cNvSpPr>
            <a:spLocks noChangeArrowheads="1"/>
          </p:cNvSpPr>
          <p:nvPr/>
        </p:nvSpPr>
        <p:spPr bwMode="auto">
          <a:xfrm>
            <a:off x="1730177" y="2702115"/>
            <a:ext cx="1081087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4" name="Rectangle 11"/>
          <p:cNvSpPr>
            <a:spLocks noChangeArrowheads="1"/>
          </p:cNvSpPr>
          <p:nvPr/>
        </p:nvSpPr>
        <p:spPr bwMode="auto">
          <a:xfrm>
            <a:off x="1730177" y="4350569"/>
            <a:ext cx="1081087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5" name="Rectangle 12"/>
          <p:cNvSpPr>
            <a:spLocks noChangeArrowheads="1"/>
          </p:cNvSpPr>
          <p:nvPr/>
        </p:nvSpPr>
        <p:spPr bwMode="auto">
          <a:xfrm>
            <a:off x="1730177" y="4891907"/>
            <a:ext cx="1081087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6" name="Rectangle 13"/>
          <p:cNvSpPr>
            <a:spLocks noChangeArrowheads="1"/>
          </p:cNvSpPr>
          <p:nvPr/>
        </p:nvSpPr>
        <p:spPr bwMode="auto">
          <a:xfrm>
            <a:off x="1730177" y="5972994"/>
            <a:ext cx="1081087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7" name="Rectangle 14"/>
          <p:cNvSpPr>
            <a:spLocks noChangeArrowheads="1"/>
          </p:cNvSpPr>
          <p:nvPr/>
        </p:nvSpPr>
        <p:spPr bwMode="auto">
          <a:xfrm>
            <a:off x="2269927" y="4756969"/>
            <a:ext cx="3873500" cy="53975"/>
          </a:xfrm>
          <a:prstGeom prst="rect">
            <a:avLst/>
          </a:prstGeom>
          <a:solidFill>
            <a:srgbClr val="F8B5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8" name="Rectangle 15"/>
          <p:cNvSpPr>
            <a:spLocks noChangeArrowheads="1"/>
          </p:cNvSpPr>
          <p:nvPr/>
        </p:nvSpPr>
        <p:spPr bwMode="auto">
          <a:xfrm>
            <a:off x="2269927" y="4756969"/>
            <a:ext cx="3873500" cy="53975"/>
          </a:xfrm>
          <a:prstGeom prst="rect">
            <a:avLst/>
          </a:prstGeom>
          <a:noFill/>
          <a:ln w="9525" cap="rnd">
            <a:solidFill>
              <a:srgbClr val="F282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9" name="Oval 16"/>
          <p:cNvSpPr>
            <a:spLocks noChangeArrowheads="1"/>
          </p:cNvSpPr>
          <p:nvPr/>
        </p:nvSpPr>
        <p:spPr bwMode="auto">
          <a:xfrm>
            <a:off x="2396927" y="5360219"/>
            <a:ext cx="252412" cy="2524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0" name="Line 17"/>
          <p:cNvSpPr>
            <a:spLocks noChangeShapeType="1"/>
          </p:cNvSpPr>
          <p:nvPr/>
        </p:nvSpPr>
        <p:spPr bwMode="auto">
          <a:xfrm>
            <a:off x="2522339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1" name="Line 18"/>
          <p:cNvSpPr>
            <a:spLocks noChangeShapeType="1"/>
          </p:cNvSpPr>
          <p:nvPr/>
        </p:nvSpPr>
        <p:spPr bwMode="auto">
          <a:xfrm flipH="1">
            <a:off x="2414389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2" name="Line 19"/>
          <p:cNvSpPr>
            <a:spLocks noChangeShapeType="1"/>
          </p:cNvSpPr>
          <p:nvPr/>
        </p:nvSpPr>
        <p:spPr bwMode="auto">
          <a:xfrm>
            <a:off x="2522339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3" name="Line 20"/>
          <p:cNvSpPr>
            <a:spLocks noChangeShapeType="1"/>
          </p:cNvSpPr>
          <p:nvPr/>
        </p:nvSpPr>
        <p:spPr bwMode="auto">
          <a:xfrm flipH="1">
            <a:off x="2414389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4" name="Line 21"/>
          <p:cNvSpPr>
            <a:spLocks noChangeShapeType="1"/>
          </p:cNvSpPr>
          <p:nvPr/>
        </p:nvSpPr>
        <p:spPr bwMode="auto">
          <a:xfrm>
            <a:off x="2522339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5" name="Line 22"/>
          <p:cNvSpPr>
            <a:spLocks noChangeShapeType="1"/>
          </p:cNvSpPr>
          <p:nvPr/>
        </p:nvSpPr>
        <p:spPr bwMode="auto">
          <a:xfrm>
            <a:off x="2522339" y="5090344"/>
            <a:ext cx="0" cy="26987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6" name="Oval 23"/>
          <p:cNvSpPr>
            <a:spLocks noChangeArrowheads="1"/>
          </p:cNvSpPr>
          <p:nvPr/>
        </p:nvSpPr>
        <p:spPr bwMode="auto">
          <a:xfrm>
            <a:off x="2485827" y="5504682"/>
            <a:ext cx="252412" cy="2524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7" name="Freeform 24"/>
          <p:cNvSpPr>
            <a:spLocks/>
          </p:cNvSpPr>
          <p:nvPr/>
        </p:nvSpPr>
        <p:spPr bwMode="auto">
          <a:xfrm>
            <a:off x="2306439" y="5504682"/>
            <a:ext cx="252412" cy="252413"/>
          </a:xfrm>
          <a:custGeom>
            <a:avLst/>
            <a:gdLst>
              <a:gd name="T0" fmla="*/ 159 w 159"/>
              <a:gd name="T1" fmla="*/ 79 h 159"/>
              <a:gd name="T2" fmla="*/ 80 w 159"/>
              <a:gd name="T3" fmla="*/ 0 h 159"/>
              <a:gd name="T4" fmla="*/ 0 w 159"/>
              <a:gd name="T5" fmla="*/ 79 h 159"/>
              <a:gd name="T6" fmla="*/ 80 w 159"/>
              <a:gd name="T7" fmla="*/ 159 h 159"/>
              <a:gd name="T8" fmla="*/ 159 w 159"/>
              <a:gd name="T9" fmla="*/ 7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9" h="159">
                <a:moveTo>
                  <a:pt x="159" y="79"/>
                </a:moveTo>
                <a:cubicBezTo>
                  <a:pt x="159" y="35"/>
                  <a:pt x="123" y="0"/>
                  <a:pt x="80" y="0"/>
                </a:cubicBezTo>
                <a:cubicBezTo>
                  <a:pt x="35" y="0"/>
                  <a:pt x="0" y="35"/>
                  <a:pt x="0" y="79"/>
                </a:cubicBezTo>
                <a:cubicBezTo>
                  <a:pt x="0" y="123"/>
                  <a:pt x="35" y="159"/>
                  <a:pt x="80" y="159"/>
                </a:cubicBezTo>
                <a:cubicBezTo>
                  <a:pt x="123" y="159"/>
                  <a:pt x="159" y="123"/>
                  <a:pt x="159" y="79"/>
                </a:cubicBez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8" name="Oval 25"/>
          <p:cNvSpPr>
            <a:spLocks noChangeArrowheads="1"/>
          </p:cNvSpPr>
          <p:nvPr/>
        </p:nvSpPr>
        <p:spPr bwMode="auto">
          <a:xfrm>
            <a:off x="2495352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9" name="Oval 26"/>
          <p:cNvSpPr>
            <a:spLocks noChangeArrowheads="1"/>
          </p:cNvSpPr>
          <p:nvPr/>
        </p:nvSpPr>
        <p:spPr bwMode="auto">
          <a:xfrm>
            <a:off x="2495352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0" name="Line 27"/>
          <p:cNvSpPr>
            <a:spLocks noChangeShapeType="1"/>
          </p:cNvSpPr>
          <p:nvPr/>
        </p:nvSpPr>
        <p:spPr bwMode="auto">
          <a:xfrm>
            <a:off x="3585964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1" name="Line 28"/>
          <p:cNvSpPr>
            <a:spLocks noChangeShapeType="1"/>
          </p:cNvSpPr>
          <p:nvPr/>
        </p:nvSpPr>
        <p:spPr bwMode="auto">
          <a:xfrm flipH="1">
            <a:off x="3478014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2" name="Line 29"/>
          <p:cNvSpPr>
            <a:spLocks noChangeShapeType="1"/>
          </p:cNvSpPr>
          <p:nvPr/>
        </p:nvSpPr>
        <p:spPr bwMode="auto">
          <a:xfrm>
            <a:off x="3585964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3" name="Line 30"/>
          <p:cNvSpPr>
            <a:spLocks noChangeShapeType="1"/>
          </p:cNvSpPr>
          <p:nvPr/>
        </p:nvSpPr>
        <p:spPr bwMode="auto">
          <a:xfrm flipH="1">
            <a:off x="3478014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4" name="Line 31"/>
          <p:cNvSpPr>
            <a:spLocks noChangeShapeType="1"/>
          </p:cNvSpPr>
          <p:nvPr/>
        </p:nvSpPr>
        <p:spPr bwMode="auto">
          <a:xfrm>
            <a:off x="3585964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5" name="Line 32"/>
          <p:cNvSpPr>
            <a:spLocks noChangeShapeType="1"/>
          </p:cNvSpPr>
          <p:nvPr/>
        </p:nvSpPr>
        <p:spPr bwMode="auto">
          <a:xfrm>
            <a:off x="3585964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6" name="Oval 33"/>
          <p:cNvSpPr>
            <a:spLocks noChangeArrowheads="1"/>
          </p:cNvSpPr>
          <p:nvPr/>
        </p:nvSpPr>
        <p:spPr bwMode="auto">
          <a:xfrm>
            <a:off x="3558977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7" name="Oval 34"/>
          <p:cNvSpPr>
            <a:spLocks noChangeArrowheads="1"/>
          </p:cNvSpPr>
          <p:nvPr/>
        </p:nvSpPr>
        <p:spPr bwMode="auto">
          <a:xfrm>
            <a:off x="3558977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8" name="Line 35"/>
          <p:cNvSpPr>
            <a:spLocks noChangeShapeType="1"/>
          </p:cNvSpPr>
          <p:nvPr/>
        </p:nvSpPr>
        <p:spPr bwMode="auto">
          <a:xfrm flipV="1">
            <a:off x="3585964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9" name="Line 36"/>
          <p:cNvSpPr>
            <a:spLocks noChangeShapeType="1"/>
          </p:cNvSpPr>
          <p:nvPr/>
        </p:nvSpPr>
        <p:spPr bwMode="auto">
          <a:xfrm flipH="1" flipV="1">
            <a:off x="3478014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0" name="Line 37"/>
          <p:cNvSpPr>
            <a:spLocks noChangeShapeType="1"/>
          </p:cNvSpPr>
          <p:nvPr/>
        </p:nvSpPr>
        <p:spPr bwMode="auto">
          <a:xfrm flipV="1">
            <a:off x="3585964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1" name="Line 38"/>
          <p:cNvSpPr>
            <a:spLocks noChangeShapeType="1"/>
          </p:cNvSpPr>
          <p:nvPr/>
        </p:nvSpPr>
        <p:spPr bwMode="auto">
          <a:xfrm flipH="1" flipV="1">
            <a:off x="3478014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2" name="Rectangle 39"/>
          <p:cNvSpPr>
            <a:spLocks noChangeArrowheads="1"/>
          </p:cNvSpPr>
          <p:nvPr/>
        </p:nvSpPr>
        <p:spPr bwMode="auto">
          <a:xfrm>
            <a:off x="3458964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3" name="Rectangle 40"/>
          <p:cNvSpPr>
            <a:spLocks noChangeArrowheads="1"/>
          </p:cNvSpPr>
          <p:nvPr/>
        </p:nvSpPr>
        <p:spPr bwMode="auto">
          <a:xfrm>
            <a:off x="3458964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4" name="Line 41"/>
          <p:cNvSpPr>
            <a:spLocks noChangeShapeType="1"/>
          </p:cNvSpPr>
          <p:nvPr/>
        </p:nvSpPr>
        <p:spPr bwMode="auto">
          <a:xfrm>
            <a:off x="3585964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5" name="Line 42"/>
          <p:cNvSpPr>
            <a:spLocks noChangeShapeType="1"/>
          </p:cNvSpPr>
          <p:nvPr/>
        </p:nvSpPr>
        <p:spPr bwMode="auto">
          <a:xfrm>
            <a:off x="3585964" y="5868219"/>
            <a:ext cx="0" cy="21272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6" name="Freeform 43"/>
          <p:cNvSpPr>
            <a:spLocks/>
          </p:cNvSpPr>
          <p:nvPr/>
        </p:nvSpPr>
        <p:spPr bwMode="auto">
          <a:xfrm>
            <a:off x="3531989" y="6080944"/>
            <a:ext cx="107950" cy="107950"/>
          </a:xfrm>
          <a:custGeom>
            <a:avLst/>
            <a:gdLst>
              <a:gd name="T0" fmla="*/ 0 w 68"/>
              <a:gd name="T1" fmla="*/ 0 h 68"/>
              <a:gd name="T2" fmla="*/ 68 w 68"/>
              <a:gd name="T3" fmla="*/ 0 h 68"/>
              <a:gd name="T4" fmla="*/ 34 w 68"/>
              <a:gd name="T5" fmla="*/ 68 h 68"/>
              <a:gd name="T6" fmla="*/ 0 w 68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7" name="Freeform 44"/>
          <p:cNvSpPr>
            <a:spLocks/>
          </p:cNvSpPr>
          <p:nvPr/>
        </p:nvSpPr>
        <p:spPr bwMode="auto">
          <a:xfrm>
            <a:off x="3531989" y="6080944"/>
            <a:ext cx="107950" cy="107950"/>
          </a:xfrm>
          <a:custGeom>
            <a:avLst/>
            <a:gdLst>
              <a:gd name="T0" fmla="*/ 0 w 68"/>
              <a:gd name="T1" fmla="*/ 0 h 68"/>
              <a:gd name="T2" fmla="*/ 68 w 68"/>
              <a:gd name="T3" fmla="*/ 0 h 68"/>
              <a:gd name="T4" fmla="*/ 34 w 68"/>
              <a:gd name="T5" fmla="*/ 68 h 68"/>
              <a:gd name="T6" fmla="*/ 0 w 68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8" name="Line 45"/>
          <p:cNvSpPr>
            <a:spLocks noChangeShapeType="1"/>
          </p:cNvSpPr>
          <p:nvPr/>
        </p:nvSpPr>
        <p:spPr bwMode="auto">
          <a:xfrm>
            <a:off x="3585964" y="6188894"/>
            <a:ext cx="0" cy="217488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9" name="Rectangle 46"/>
          <p:cNvSpPr>
            <a:spLocks noChangeArrowheads="1"/>
          </p:cNvSpPr>
          <p:nvPr/>
        </p:nvSpPr>
        <p:spPr bwMode="auto">
          <a:xfrm>
            <a:off x="2811264" y="5972994"/>
            <a:ext cx="1135062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0" name="Rectangle 47"/>
          <p:cNvSpPr>
            <a:spLocks noChangeArrowheads="1"/>
          </p:cNvSpPr>
          <p:nvPr/>
        </p:nvSpPr>
        <p:spPr bwMode="auto">
          <a:xfrm>
            <a:off x="2811264" y="4350569"/>
            <a:ext cx="1135062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1" name="Rectangle 48"/>
          <p:cNvSpPr>
            <a:spLocks noChangeArrowheads="1"/>
          </p:cNvSpPr>
          <p:nvPr/>
        </p:nvSpPr>
        <p:spPr bwMode="auto">
          <a:xfrm>
            <a:off x="2811264" y="4891907"/>
            <a:ext cx="1135062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2" name="Line 50"/>
          <p:cNvSpPr>
            <a:spLocks noChangeShapeType="1"/>
          </p:cNvSpPr>
          <p:nvPr/>
        </p:nvSpPr>
        <p:spPr bwMode="auto">
          <a:xfrm>
            <a:off x="4755952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3" name="Line 51"/>
          <p:cNvSpPr>
            <a:spLocks noChangeShapeType="1"/>
          </p:cNvSpPr>
          <p:nvPr/>
        </p:nvSpPr>
        <p:spPr bwMode="auto">
          <a:xfrm flipH="1">
            <a:off x="4648002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4" name="Line 52"/>
          <p:cNvSpPr>
            <a:spLocks noChangeShapeType="1"/>
          </p:cNvSpPr>
          <p:nvPr/>
        </p:nvSpPr>
        <p:spPr bwMode="auto">
          <a:xfrm>
            <a:off x="4755952" y="4999857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5" name="Line 53"/>
          <p:cNvSpPr>
            <a:spLocks noChangeShapeType="1"/>
          </p:cNvSpPr>
          <p:nvPr/>
        </p:nvSpPr>
        <p:spPr bwMode="auto">
          <a:xfrm flipH="1">
            <a:off x="4648002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6" name="Line 54"/>
          <p:cNvSpPr>
            <a:spLocks noChangeShapeType="1"/>
          </p:cNvSpPr>
          <p:nvPr/>
        </p:nvSpPr>
        <p:spPr bwMode="auto">
          <a:xfrm>
            <a:off x="4755952" y="5090344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7" name="Line 55"/>
          <p:cNvSpPr>
            <a:spLocks noChangeShapeType="1"/>
          </p:cNvSpPr>
          <p:nvPr/>
        </p:nvSpPr>
        <p:spPr bwMode="auto">
          <a:xfrm>
            <a:off x="4755952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8" name="Oval 56"/>
          <p:cNvSpPr>
            <a:spLocks noChangeArrowheads="1"/>
          </p:cNvSpPr>
          <p:nvPr/>
        </p:nvSpPr>
        <p:spPr bwMode="auto">
          <a:xfrm>
            <a:off x="4730552" y="4756969"/>
            <a:ext cx="52387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9" name="Oval 57"/>
          <p:cNvSpPr>
            <a:spLocks noChangeArrowheads="1"/>
          </p:cNvSpPr>
          <p:nvPr/>
        </p:nvSpPr>
        <p:spPr bwMode="auto">
          <a:xfrm>
            <a:off x="4730552" y="4756969"/>
            <a:ext cx="52387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0" name="Line 58"/>
          <p:cNvSpPr>
            <a:spLocks noChangeShapeType="1"/>
          </p:cNvSpPr>
          <p:nvPr/>
        </p:nvSpPr>
        <p:spPr bwMode="auto">
          <a:xfrm flipV="1">
            <a:off x="4755952" y="5760269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1" name="Line 59"/>
          <p:cNvSpPr>
            <a:spLocks noChangeShapeType="1"/>
          </p:cNvSpPr>
          <p:nvPr/>
        </p:nvSpPr>
        <p:spPr bwMode="auto">
          <a:xfrm flipH="1" flipV="1">
            <a:off x="4648002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2" name="Line 60"/>
          <p:cNvSpPr>
            <a:spLocks noChangeShapeType="1"/>
          </p:cNvSpPr>
          <p:nvPr/>
        </p:nvSpPr>
        <p:spPr bwMode="auto">
          <a:xfrm flipV="1">
            <a:off x="4755952" y="5669782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3" name="Line 61"/>
          <p:cNvSpPr>
            <a:spLocks noChangeShapeType="1"/>
          </p:cNvSpPr>
          <p:nvPr/>
        </p:nvSpPr>
        <p:spPr bwMode="auto">
          <a:xfrm flipH="1" flipV="1">
            <a:off x="4648002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4" name="Rectangle 62"/>
          <p:cNvSpPr>
            <a:spLocks noChangeArrowheads="1"/>
          </p:cNvSpPr>
          <p:nvPr/>
        </p:nvSpPr>
        <p:spPr bwMode="auto">
          <a:xfrm>
            <a:off x="4630539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5" name="Rectangle 63"/>
          <p:cNvSpPr>
            <a:spLocks noChangeArrowheads="1"/>
          </p:cNvSpPr>
          <p:nvPr/>
        </p:nvSpPr>
        <p:spPr bwMode="auto">
          <a:xfrm>
            <a:off x="4630539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6" name="Line 64"/>
          <p:cNvSpPr>
            <a:spLocks noChangeShapeType="1"/>
          </p:cNvSpPr>
          <p:nvPr/>
        </p:nvSpPr>
        <p:spPr bwMode="auto">
          <a:xfrm>
            <a:off x="4755952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7" name="Line 65"/>
          <p:cNvSpPr>
            <a:spLocks noChangeShapeType="1"/>
          </p:cNvSpPr>
          <p:nvPr/>
        </p:nvSpPr>
        <p:spPr bwMode="auto">
          <a:xfrm>
            <a:off x="4755952" y="5868219"/>
            <a:ext cx="0" cy="21272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8" name="Freeform 66"/>
          <p:cNvSpPr>
            <a:spLocks/>
          </p:cNvSpPr>
          <p:nvPr/>
        </p:nvSpPr>
        <p:spPr bwMode="auto">
          <a:xfrm>
            <a:off x="4701977" y="6080944"/>
            <a:ext cx="109537" cy="107950"/>
          </a:xfrm>
          <a:custGeom>
            <a:avLst/>
            <a:gdLst>
              <a:gd name="T0" fmla="*/ 0 w 69"/>
              <a:gd name="T1" fmla="*/ 0 h 68"/>
              <a:gd name="T2" fmla="*/ 69 w 69"/>
              <a:gd name="T3" fmla="*/ 0 h 68"/>
              <a:gd name="T4" fmla="*/ 34 w 69"/>
              <a:gd name="T5" fmla="*/ 68 h 68"/>
              <a:gd name="T6" fmla="*/ 0 w 69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68">
                <a:moveTo>
                  <a:pt x="0" y="0"/>
                </a:moveTo>
                <a:lnTo>
                  <a:pt x="69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9" name="Freeform 67"/>
          <p:cNvSpPr>
            <a:spLocks/>
          </p:cNvSpPr>
          <p:nvPr/>
        </p:nvSpPr>
        <p:spPr bwMode="auto">
          <a:xfrm>
            <a:off x="4701977" y="6080944"/>
            <a:ext cx="109537" cy="107950"/>
          </a:xfrm>
          <a:custGeom>
            <a:avLst/>
            <a:gdLst>
              <a:gd name="T0" fmla="*/ 0 w 69"/>
              <a:gd name="T1" fmla="*/ 0 h 68"/>
              <a:gd name="T2" fmla="*/ 69 w 69"/>
              <a:gd name="T3" fmla="*/ 0 h 68"/>
              <a:gd name="T4" fmla="*/ 34 w 69"/>
              <a:gd name="T5" fmla="*/ 68 h 68"/>
              <a:gd name="T6" fmla="*/ 0 w 69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68">
                <a:moveTo>
                  <a:pt x="0" y="0"/>
                </a:moveTo>
                <a:lnTo>
                  <a:pt x="69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0" name="Line 68"/>
          <p:cNvSpPr>
            <a:spLocks noChangeShapeType="1"/>
          </p:cNvSpPr>
          <p:nvPr/>
        </p:nvSpPr>
        <p:spPr bwMode="auto">
          <a:xfrm>
            <a:off x="4755952" y="6188894"/>
            <a:ext cx="0" cy="217488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1" name="Rectangle 69"/>
          <p:cNvSpPr>
            <a:spLocks noChangeArrowheads="1"/>
          </p:cNvSpPr>
          <p:nvPr/>
        </p:nvSpPr>
        <p:spPr bwMode="auto">
          <a:xfrm>
            <a:off x="3946327" y="5972994"/>
            <a:ext cx="1279525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2" name="Rectangle 70"/>
          <p:cNvSpPr>
            <a:spLocks noChangeArrowheads="1"/>
          </p:cNvSpPr>
          <p:nvPr/>
        </p:nvSpPr>
        <p:spPr bwMode="auto">
          <a:xfrm>
            <a:off x="3946327" y="4350569"/>
            <a:ext cx="1279525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3" name="Rectangle 71"/>
          <p:cNvSpPr>
            <a:spLocks noChangeArrowheads="1"/>
          </p:cNvSpPr>
          <p:nvPr/>
        </p:nvSpPr>
        <p:spPr bwMode="auto">
          <a:xfrm>
            <a:off x="3946327" y="4891907"/>
            <a:ext cx="1279525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4" name="Rectangle 72"/>
          <p:cNvSpPr>
            <a:spLocks noChangeArrowheads="1"/>
          </p:cNvSpPr>
          <p:nvPr/>
        </p:nvSpPr>
        <p:spPr bwMode="auto">
          <a:xfrm>
            <a:off x="3946327" y="2702115"/>
            <a:ext cx="1279525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5" name="Line 73"/>
          <p:cNvSpPr>
            <a:spLocks noChangeShapeType="1"/>
          </p:cNvSpPr>
          <p:nvPr/>
        </p:nvSpPr>
        <p:spPr bwMode="auto">
          <a:xfrm>
            <a:off x="5981502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6" name="Line 74"/>
          <p:cNvSpPr>
            <a:spLocks noChangeShapeType="1"/>
          </p:cNvSpPr>
          <p:nvPr/>
        </p:nvSpPr>
        <p:spPr bwMode="auto">
          <a:xfrm flipH="1">
            <a:off x="5873552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7" name="Line 75"/>
          <p:cNvSpPr>
            <a:spLocks noChangeShapeType="1"/>
          </p:cNvSpPr>
          <p:nvPr/>
        </p:nvSpPr>
        <p:spPr bwMode="auto">
          <a:xfrm>
            <a:off x="5981502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8" name="Line 76"/>
          <p:cNvSpPr>
            <a:spLocks noChangeShapeType="1"/>
          </p:cNvSpPr>
          <p:nvPr/>
        </p:nvSpPr>
        <p:spPr bwMode="auto">
          <a:xfrm flipH="1">
            <a:off x="5873552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9" name="Line 77"/>
          <p:cNvSpPr>
            <a:spLocks noChangeShapeType="1"/>
          </p:cNvSpPr>
          <p:nvPr/>
        </p:nvSpPr>
        <p:spPr bwMode="auto">
          <a:xfrm>
            <a:off x="5981502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0" name="Line 78"/>
          <p:cNvSpPr>
            <a:spLocks noChangeShapeType="1"/>
          </p:cNvSpPr>
          <p:nvPr/>
        </p:nvSpPr>
        <p:spPr bwMode="auto">
          <a:xfrm>
            <a:off x="5981502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1" name="Oval 79"/>
          <p:cNvSpPr>
            <a:spLocks noChangeArrowheads="1"/>
          </p:cNvSpPr>
          <p:nvPr/>
        </p:nvSpPr>
        <p:spPr bwMode="auto">
          <a:xfrm>
            <a:off x="5954514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2" name="Oval 80"/>
          <p:cNvSpPr>
            <a:spLocks noChangeArrowheads="1"/>
          </p:cNvSpPr>
          <p:nvPr/>
        </p:nvSpPr>
        <p:spPr bwMode="auto">
          <a:xfrm>
            <a:off x="5954514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3" name="Rectangle 81"/>
          <p:cNvSpPr>
            <a:spLocks noChangeArrowheads="1"/>
          </p:cNvSpPr>
          <p:nvPr/>
        </p:nvSpPr>
        <p:spPr bwMode="auto">
          <a:xfrm>
            <a:off x="5856089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4" name="Rectangle 82"/>
          <p:cNvSpPr>
            <a:spLocks noChangeArrowheads="1"/>
          </p:cNvSpPr>
          <p:nvPr/>
        </p:nvSpPr>
        <p:spPr bwMode="auto">
          <a:xfrm>
            <a:off x="5856089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5" name="Line 83"/>
          <p:cNvSpPr>
            <a:spLocks noChangeShapeType="1"/>
          </p:cNvSpPr>
          <p:nvPr/>
        </p:nvSpPr>
        <p:spPr bwMode="auto">
          <a:xfrm>
            <a:off x="5981502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6" name="Rectangle 84"/>
          <p:cNvSpPr>
            <a:spLocks noChangeArrowheads="1"/>
          </p:cNvSpPr>
          <p:nvPr/>
        </p:nvSpPr>
        <p:spPr bwMode="auto">
          <a:xfrm>
            <a:off x="5225852" y="5972994"/>
            <a:ext cx="1850702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7" name="Rectangle 85"/>
          <p:cNvSpPr>
            <a:spLocks noChangeArrowheads="1"/>
          </p:cNvSpPr>
          <p:nvPr/>
        </p:nvSpPr>
        <p:spPr bwMode="auto">
          <a:xfrm>
            <a:off x="5225852" y="4350569"/>
            <a:ext cx="1850702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8" name="Rectangle 86"/>
          <p:cNvSpPr>
            <a:spLocks noChangeArrowheads="1"/>
          </p:cNvSpPr>
          <p:nvPr/>
        </p:nvSpPr>
        <p:spPr bwMode="auto">
          <a:xfrm>
            <a:off x="5225852" y="4891907"/>
            <a:ext cx="1850702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9" name="Rectangle 87"/>
          <p:cNvSpPr>
            <a:spLocks noChangeArrowheads="1"/>
          </p:cNvSpPr>
          <p:nvPr/>
        </p:nvSpPr>
        <p:spPr bwMode="auto">
          <a:xfrm>
            <a:off x="5225852" y="2702115"/>
            <a:ext cx="1850702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0" name="Freeform 93"/>
          <p:cNvSpPr>
            <a:spLocks noEditPoints="1"/>
          </p:cNvSpPr>
          <p:nvPr/>
        </p:nvSpPr>
        <p:spPr bwMode="auto">
          <a:xfrm>
            <a:off x="5954514" y="5842819"/>
            <a:ext cx="1587700" cy="572546"/>
          </a:xfrm>
          <a:custGeom>
            <a:avLst/>
            <a:gdLst>
              <a:gd name="T0" fmla="*/ 743 w 743"/>
              <a:gd name="T1" fmla="*/ 0 h 286"/>
              <a:gd name="T2" fmla="*/ 731 w 743"/>
              <a:gd name="T3" fmla="*/ 16 h 286"/>
              <a:gd name="T4" fmla="*/ 720 w 743"/>
              <a:gd name="T5" fmla="*/ 0 h 286"/>
              <a:gd name="T6" fmla="*/ 719 w 743"/>
              <a:gd name="T7" fmla="*/ 252 h 286"/>
              <a:gd name="T8" fmla="*/ 24 w 743"/>
              <a:gd name="T9" fmla="*/ 252 h 286"/>
              <a:gd name="T10" fmla="*/ 24 w 743"/>
              <a:gd name="T11" fmla="*/ 0 h 286"/>
              <a:gd name="T12" fmla="*/ 12 w 743"/>
              <a:gd name="T13" fmla="*/ 16 h 286"/>
              <a:gd name="T14" fmla="*/ 1 w 743"/>
              <a:gd name="T15" fmla="*/ 0 h 286"/>
              <a:gd name="T16" fmla="*/ 0 w 743"/>
              <a:gd name="T17" fmla="*/ 252 h 286"/>
              <a:gd name="T18" fmla="*/ 0 w 743"/>
              <a:gd name="T19" fmla="*/ 286 h 286"/>
              <a:gd name="T20" fmla="*/ 743 w 743"/>
              <a:gd name="T21" fmla="*/ 286 h 286"/>
              <a:gd name="T22" fmla="*/ 743 w 743"/>
              <a:gd name="T23" fmla="*/ 0 h 286"/>
              <a:gd name="T24" fmla="*/ 743 w 743"/>
              <a:gd name="T25" fmla="*/ 0 h 286"/>
              <a:gd name="T26" fmla="*/ 720 w 743"/>
              <a:gd name="T27" fmla="*/ 0 h 286"/>
              <a:gd name="T28" fmla="*/ 719 w 743"/>
              <a:gd name="T29" fmla="*/ 0 h 286"/>
              <a:gd name="T30" fmla="*/ 720 w 743"/>
              <a:gd name="T31" fmla="*/ 0 h 286"/>
              <a:gd name="T32" fmla="*/ 1 w 743"/>
              <a:gd name="T33" fmla="*/ 0 h 286"/>
              <a:gd name="T34" fmla="*/ 0 w 743"/>
              <a:gd name="T35" fmla="*/ 0 h 286"/>
              <a:gd name="T36" fmla="*/ 1 w 743"/>
              <a:gd name="T37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743" h="286">
                <a:moveTo>
                  <a:pt x="743" y="0"/>
                </a:moveTo>
                <a:lnTo>
                  <a:pt x="731" y="16"/>
                </a:lnTo>
                <a:lnTo>
                  <a:pt x="720" y="0"/>
                </a:lnTo>
                <a:lnTo>
                  <a:pt x="719" y="252"/>
                </a:lnTo>
                <a:lnTo>
                  <a:pt x="24" y="252"/>
                </a:lnTo>
                <a:lnTo>
                  <a:pt x="24" y="0"/>
                </a:lnTo>
                <a:lnTo>
                  <a:pt x="12" y="16"/>
                </a:lnTo>
                <a:lnTo>
                  <a:pt x="1" y="0"/>
                </a:lnTo>
                <a:lnTo>
                  <a:pt x="0" y="252"/>
                </a:lnTo>
                <a:lnTo>
                  <a:pt x="0" y="286"/>
                </a:lnTo>
                <a:lnTo>
                  <a:pt x="743" y="286"/>
                </a:lnTo>
                <a:lnTo>
                  <a:pt x="743" y="0"/>
                </a:lnTo>
                <a:lnTo>
                  <a:pt x="743" y="0"/>
                </a:lnTo>
                <a:close/>
                <a:moveTo>
                  <a:pt x="720" y="0"/>
                </a:moveTo>
                <a:lnTo>
                  <a:pt x="719" y="0"/>
                </a:lnTo>
                <a:lnTo>
                  <a:pt x="720" y="0"/>
                </a:lnTo>
                <a:close/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8B5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1" name="Freeform 94"/>
          <p:cNvSpPr>
            <a:spLocks noEditPoints="1"/>
          </p:cNvSpPr>
          <p:nvPr/>
        </p:nvSpPr>
        <p:spPr bwMode="auto">
          <a:xfrm>
            <a:off x="5954514" y="5842819"/>
            <a:ext cx="1587700" cy="572546"/>
          </a:xfrm>
          <a:custGeom>
            <a:avLst/>
            <a:gdLst>
              <a:gd name="T0" fmla="*/ 743 w 743"/>
              <a:gd name="T1" fmla="*/ 0 h 286"/>
              <a:gd name="T2" fmla="*/ 731 w 743"/>
              <a:gd name="T3" fmla="*/ 16 h 286"/>
              <a:gd name="T4" fmla="*/ 720 w 743"/>
              <a:gd name="T5" fmla="*/ 0 h 286"/>
              <a:gd name="T6" fmla="*/ 719 w 743"/>
              <a:gd name="T7" fmla="*/ 252 h 286"/>
              <a:gd name="T8" fmla="*/ 24 w 743"/>
              <a:gd name="T9" fmla="*/ 252 h 286"/>
              <a:gd name="T10" fmla="*/ 24 w 743"/>
              <a:gd name="T11" fmla="*/ 0 h 286"/>
              <a:gd name="T12" fmla="*/ 12 w 743"/>
              <a:gd name="T13" fmla="*/ 16 h 286"/>
              <a:gd name="T14" fmla="*/ 1 w 743"/>
              <a:gd name="T15" fmla="*/ 0 h 286"/>
              <a:gd name="T16" fmla="*/ 0 w 743"/>
              <a:gd name="T17" fmla="*/ 252 h 286"/>
              <a:gd name="T18" fmla="*/ 0 w 743"/>
              <a:gd name="T19" fmla="*/ 286 h 286"/>
              <a:gd name="T20" fmla="*/ 743 w 743"/>
              <a:gd name="T21" fmla="*/ 286 h 286"/>
              <a:gd name="T22" fmla="*/ 743 w 743"/>
              <a:gd name="T23" fmla="*/ 0 h 286"/>
              <a:gd name="T24" fmla="*/ 720 w 743"/>
              <a:gd name="T25" fmla="*/ 0 h 286"/>
              <a:gd name="T26" fmla="*/ 719 w 743"/>
              <a:gd name="T27" fmla="*/ 0 h 286"/>
              <a:gd name="T28" fmla="*/ 1 w 743"/>
              <a:gd name="T29" fmla="*/ 0 h 286"/>
              <a:gd name="T30" fmla="*/ 0 w 743"/>
              <a:gd name="T31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43" h="286">
                <a:moveTo>
                  <a:pt x="743" y="0"/>
                </a:moveTo>
                <a:lnTo>
                  <a:pt x="731" y="16"/>
                </a:lnTo>
                <a:lnTo>
                  <a:pt x="720" y="0"/>
                </a:lnTo>
                <a:lnTo>
                  <a:pt x="719" y="252"/>
                </a:lnTo>
                <a:lnTo>
                  <a:pt x="24" y="252"/>
                </a:lnTo>
                <a:lnTo>
                  <a:pt x="24" y="0"/>
                </a:lnTo>
                <a:lnTo>
                  <a:pt x="12" y="16"/>
                </a:lnTo>
                <a:lnTo>
                  <a:pt x="1" y="0"/>
                </a:lnTo>
                <a:lnTo>
                  <a:pt x="0" y="252"/>
                </a:lnTo>
                <a:lnTo>
                  <a:pt x="0" y="286"/>
                </a:lnTo>
                <a:lnTo>
                  <a:pt x="743" y="286"/>
                </a:lnTo>
                <a:lnTo>
                  <a:pt x="743" y="0"/>
                </a:lnTo>
                <a:moveTo>
                  <a:pt x="720" y="0"/>
                </a:moveTo>
                <a:lnTo>
                  <a:pt x="719" y="0"/>
                </a:lnTo>
                <a:moveTo>
                  <a:pt x="1" y="0"/>
                </a:moveTo>
                <a:lnTo>
                  <a:pt x="0" y="0"/>
                </a:lnTo>
              </a:path>
            </a:pathLst>
          </a:custGeom>
          <a:noFill/>
          <a:ln w="9525" cap="rnd">
            <a:solidFill>
              <a:srgbClr val="F282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2" name="Line 224"/>
          <p:cNvSpPr>
            <a:spLocks noChangeShapeType="1"/>
          </p:cNvSpPr>
          <p:nvPr/>
        </p:nvSpPr>
        <p:spPr bwMode="auto">
          <a:xfrm flipV="1">
            <a:off x="5981502" y="5766619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3" name="Line 225"/>
          <p:cNvSpPr>
            <a:spLocks noChangeShapeType="1"/>
          </p:cNvSpPr>
          <p:nvPr/>
        </p:nvSpPr>
        <p:spPr bwMode="auto">
          <a:xfrm flipH="1" flipV="1">
            <a:off x="5879902" y="5766619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4" name="Line 226"/>
          <p:cNvSpPr>
            <a:spLocks noChangeShapeType="1"/>
          </p:cNvSpPr>
          <p:nvPr/>
        </p:nvSpPr>
        <p:spPr bwMode="auto">
          <a:xfrm flipV="1">
            <a:off x="5981502" y="5677719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5" name="Line 227"/>
          <p:cNvSpPr>
            <a:spLocks noChangeShapeType="1"/>
          </p:cNvSpPr>
          <p:nvPr/>
        </p:nvSpPr>
        <p:spPr bwMode="auto">
          <a:xfrm flipH="1" flipV="1">
            <a:off x="5879902" y="5677719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6" name="Rectangle 240"/>
          <p:cNvSpPr>
            <a:spLocks noChangeArrowheads="1"/>
          </p:cNvSpPr>
          <p:nvPr/>
        </p:nvSpPr>
        <p:spPr bwMode="auto">
          <a:xfrm>
            <a:off x="1065014" y="6236519"/>
            <a:ext cx="9207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-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7" name="Rectangle 300"/>
          <p:cNvSpPr>
            <a:spLocks noChangeArrowheads="1"/>
          </p:cNvSpPr>
          <p:nvPr/>
        </p:nvSpPr>
        <p:spPr bwMode="auto">
          <a:xfrm>
            <a:off x="1730177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ТН1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8" name="Rectangle 300"/>
          <p:cNvSpPr>
            <a:spLocks noChangeArrowheads="1"/>
          </p:cNvSpPr>
          <p:nvPr/>
        </p:nvSpPr>
        <p:spPr bwMode="auto">
          <a:xfrm>
            <a:off x="2832845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ОЛ1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9" name="Rectangle 300"/>
          <p:cNvSpPr>
            <a:spLocks noChangeArrowheads="1"/>
          </p:cNvSpPr>
          <p:nvPr/>
        </p:nvSpPr>
        <p:spPr bwMode="auto">
          <a:xfrm>
            <a:off x="4055865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ВВ1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0" name="Rectangle 300"/>
          <p:cNvSpPr>
            <a:spLocks noChangeArrowheads="1"/>
          </p:cNvSpPr>
          <p:nvPr/>
        </p:nvSpPr>
        <p:spPr bwMode="auto">
          <a:xfrm>
            <a:off x="5225852" y="2798162"/>
            <a:ext cx="185070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СВ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1" name="Rectangle 300"/>
          <p:cNvSpPr>
            <a:spLocks noChangeArrowheads="1"/>
          </p:cNvSpPr>
          <p:nvPr/>
        </p:nvSpPr>
        <p:spPr bwMode="auto">
          <a:xfrm>
            <a:off x="7076554" y="2798162"/>
            <a:ext cx="90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СР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2" name="Блок-схема: ссылка на другую страницу 361"/>
          <p:cNvSpPr/>
          <p:nvPr/>
        </p:nvSpPr>
        <p:spPr>
          <a:xfrm rot="16200000">
            <a:off x="334848" y="3062395"/>
            <a:ext cx="1648453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3" name="Rectangle 317"/>
          <p:cNvSpPr>
            <a:spLocks noChangeArrowheads="1"/>
          </p:cNvSpPr>
          <p:nvPr/>
        </p:nvSpPr>
        <p:spPr bwMode="auto">
          <a:xfrm>
            <a:off x="739850" y="3284984"/>
            <a:ext cx="74699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Релейный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отсек 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ЮНИТ-ДЗ-М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4" name="Блок-схема: ссылка на другую страницу 363"/>
          <p:cNvSpPr/>
          <p:nvPr/>
        </p:nvSpPr>
        <p:spPr>
          <a:xfrm rot="16200000">
            <a:off x="892908" y="4161794"/>
            <a:ext cx="532334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5" name="Блок-схема: ссылка на другую страницу 364"/>
          <p:cNvSpPr/>
          <p:nvPr/>
        </p:nvSpPr>
        <p:spPr>
          <a:xfrm rot="16200000">
            <a:off x="616152" y="4966125"/>
            <a:ext cx="1085849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6" name="Блок-схема: ссылка на другую страницу 365"/>
          <p:cNvSpPr/>
          <p:nvPr/>
        </p:nvSpPr>
        <p:spPr>
          <a:xfrm rot="16200000">
            <a:off x="892515" y="5782237"/>
            <a:ext cx="533121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7" name="Rectangle 317"/>
          <p:cNvSpPr>
            <a:spLocks noChangeArrowheads="1"/>
          </p:cNvSpPr>
          <p:nvPr/>
        </p:nvSpPr>
        <p:spPr bwMode="auto">
          <a:xfrm>
            <a:off x="739850" y="4427820"/>
            <a:ext cx="7774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Отсек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с</a:t>
            </a: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борных шин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8" name="Rectangle 317"/>
          <p:cNvSpPr>
            <a:spLocks noChangeArrowheads="1"/>
          </p:cNvSpPr>
          <p:nvPr/>
        </p:nvSpPr>
        <p:spPr bwMode="auto">
          <a:xfrm>
            <a:off x="738194" y="5066600"/>
            <a:ext cx="82715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Отсек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выключателя/</a:t>
            </a:r>
          </a:p>
          <a:p>
            <a:pPr lvl="0"/>
            <a:r>
              <a:rPr lang="ru-RU" altLang="ru-RU" sz="1200" dirty="0" err="1" smtClean="0">
                <a:solidFill>
                  <a:srgbClr val="000000"/>
                </a:solidFill>
                <a:latin typeface="Arial Narrow" panose="020B0606020202030204" pitchFamily="34" charset="0"/>
              </a:rPr>
              <a:t>выкатного</a:t>
            </a:r>
            <a:endParaRPr lang="ru-RU" altLang="ru-RU" sz="1200" dirty="0" smtClean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lvl="0"/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элемента</a:t>
            </a:r>
            <a:endParaRPr kumimoji="0" lang="ru-RU" altLang="ru-RU" sz="12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369" name="Rectangle 317"/>
          <p:cNvSpPr>
            <a:spLocks noChangeArrowheads="1"/>
          </p:cNvSpPr>
          <p:nvPr/>
        </p:nvSpPr>
        <p:spPr bwMode="auto">
          <a:xfrm>
            <a:off x="739850" y="5971346"/>
            <a:ext cx="44403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ru-RU" altLang="ru-RU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Отсек</a:t>
            </a:r>
          </a:p>
          <a:p>
            <a:pPr lvl="0"/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ввода/</a:t>
            </a:r>
          </a:p>
          <a:p>
            <a:pPr lvl="0"/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вывода</a:t>
            </a:r>
            <a:endParaRPr lang="ru-RU" altLang="ru-RU" dirty="0"/>
          </a:p>
        </p:txBody>
      </p:sp>
      <p:sp>
        <p:nvSpPr>
          <p:cNvPr id="370" name="Rectangle 49"/>
          <p:cNvSpPr>
            <a:spLocks noChangeArrowheads="1"/>
          </p:cNvSpPr>
          <p:nvPr/>
        </p:nvSpPr>
        <p:spPr bwMode="auto">
          <a:xfrm>
            <a:off x="2811264" y="2702115"/>
            <a:ext cx="1135062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371" name="Группа 370"/>
          <p:cNvGrpSpPr/>
          <p:nvPr/>
        </p:nvGrpSpPr>
        <p:grpSpPr>
          <a:xfrm>
            <a:off x="2843649" y="3100882"/>
            <a:ext cx="625475" cy="3177958"/>
            <a:chOff x="7968208" y="2907977"/>
            <a:chExt cx="625475" cy="3177958"/>
          </a:xfrm>
        </p:grpSpPr>
        <p:pic>
          <p:nvPicPr>
            <p:cNvPr id="372" name="Picture 9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3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74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75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76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77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78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79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0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1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2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3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4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5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6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7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8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9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0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1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2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3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4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5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6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7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8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399" name="Группа 398"/>
          <p:cNvGrpSpPr/>
          <p:nvPr/>
        </p:nvGrpSpPr>
        <p:grpSpPr>
          <a:xfrm>
            <a:off x="3956803" y="3100882"/>
            <a:ext cx="625475" cy="3177958"/>
            <a:chOff x="7968208" y="2907977"/>
            <a:chExt cx="625475" cy="3177958"/>
          </a:xfrm>
        </p:grpSpPr>
        <p:pic>
          <p:nvPicPr>
            <p:cNvPr id="400" name="Picture 9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1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2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3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4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5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6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7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8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9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0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1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2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3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4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5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6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7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8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9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0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1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2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3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4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5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6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27" name="Группа 426"/>
          <p:cNvGrpSpPr/>
          <p:nvPr/>
        </p:nvGrpSpPr>
        <p:grpSpPr>
          <a:xfrm>
            <a:off x="5242183" y="3100882"/>
            <a:ext cx="625475" cy="3177958"/>
            <a:chOff x="7968208" y="2907977"/>
            <a:chExt cx="625475" cy="3177958"/>
          </a:xfrm>
        </p:grpSpPr>
        <p:pic>
          <p:nvPicPr>
            <p:cNvPr id="428" name="Picture 9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9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0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1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2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3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4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5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6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7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8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9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0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1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2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3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4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9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0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1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2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3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4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55" name="Группа 454"/>
          <p:cNvGrpSpPr/>
          <p:nvPr/>
        </p:nvGrpSpPr>
        <p:grpSpPr>
          <a:xfrm>
            <a:off x="1842567" y="3100882"/>
            <a:ext cx="625475" cy="2355633"/>
            <a:chOff x="7968208" y="2907977"/>
            <a:chExt cx="625475" cy="2355633"/>
          </a:xfrm>
        </p:grpSpPr>
        <p:pic>
          <p:nvPicPr>
            <p:cNvPr id="456" name="Picture 9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7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8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9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0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1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2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3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4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5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6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7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8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9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0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1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2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3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474" name="Двойная стрелка вверх/вниз 473"/>
          <p:cNvSpPr/>
          <p:nvPr/>
        </p:nvSpPr>
        <p:spPr>
          <a:xfrm>
            <a:off x="1891978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5" name="Двойная стрелка вверх/вниз 474"/>
          <p:cNvSpPr/>
          <p:nvPr/>
        </p:nvSpPr>
        <p:spPr>
          <a:xfrm>
            <a:off x="2966380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6" name="Двойная стрелка вверх/вниз 475"/>
          <p:cNvSpPr/>
          <p:nvPr/>
        </p:nvSpPr>
        <p:spPr>
          <a:xfrm>
            <a:off x="4101278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7" name="Двойная стрелка вверх/вниз 476"/>
          <p:cNvSpPr/>
          <p:nvPr/>
        </p:nvSpPr>
        <p:spPr>
          <a:xfrm>
            <a:off x="5371690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8" name="Прямоугольник 477"/>
          <p:cNvSpPr/>
          <p:nvPr/>
        </p:nvSpPr>
        <p:spPr>
          <a:xfrm>
            <a:off x="1747980" y="2348880"/>
            <a:ext cx="3960000" cy="14401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9" name="Rectangle 300"/>
          <p:cNvSpPr>
            <a:spLocks noChangeArrowheads="1"/>
          </p:cNvSpPr>
          <p:nvPr/>
        </p:nvSpPr>
        <p:spPr bwMode="auto">
          <a:xfrm>
            <a:off x="1842568" y="2328303"/>
            <a:ext cx="150826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CAN-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шина</a:t>
            </a:r>
            <a:r>
              <a:rPr kumimoji="0" lang="ru-RU" altLang="ru-RU" sz="11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1 секции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0" name="Прямоугольник 479"/>
          <p:cNvSpPr/>
          <p:nvPr/>
        </p:nvSpPr>
        <p:spPr>
          <a:xfrm>
            <a:off x="4782939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1" name="Rectangle 300"/>
          <p:cNvSpPr>
            <a:spLocks noChangeArrowheads="1"/>
          </p:cNvSpPr>
          <p:nvPr/>
        </p:nvSpPr>
        <p:spPr bwMode="auto">
          <a:xfrm>
            <a:off x="4807591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2" name="Соединительная линия уступом 481"/>
          <p:cNvCxnSpPr>
            <a:endCxn id="325" idx="3"/>
          </p:cNvCxnSpPr>
          <p:nvPr/>
        </p:nvCxnSpPr>
        <p:spPr>
          <a:xfrm rot="5400000">
            <a:off x="4370718" y="4734540"/>
            <a:ext cx="1210145" cy="18567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Прямоугольник 482"/>
          <p:cNvSpPr/>
          <p:nvPr/>
        </p:nvSpPr>
        <p:spPr>
          <a:xfrm>
            <a:off x="3589120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4" name="Rectangle 300"/>
          <p:cNvSpPr>
            <a:spLocks noChangeArrowheads="1"/>
          </p:cNvSpPr>
          <p:nvPr/>
        </p:nvSpPr>
        <p:spPr bwMode="auto">
          <a:xfrm>
            <a:off x="3613772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5" name="Соединительная линия уступом 484"/>
          <p:cNvCxnSpPr>
            <a:endCxn id="303" idx="3"/>
          </p:cNvCxnSpPr>
          <p:nvPr/>
        </p:nvCxnSpPr>
        <p:spPr>
          <a:xfrm rot="5400000">
            <a:off x="3188022" y="4745661"/>
            <a:ext cx="1210145" cy="16343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6" name="Прямоугольник 485"/>
          <p:cNvSpPr/>
          <p:nvPr/>
        </p:nvSpPr>
        <p:spPr>
          <a:xfrm>
            <a:off x="5924426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7" name="Rectangle 300"/>
          <p:cNvSpPr>
            <a:spLocks noChangeArrowheads="1"/>
          </p:cNvSpPr>
          <p:nvPr/>
        </p:nvSpPr>
        <p:spPr bwMode="auto">
          <a:xfrm>
            <a:off x="5949078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8" name="Соединительная линия уступом 487"/>
          <p:cNvCxnSpPr/>
          <p:nvPr/>
        </p:nvCxnSpPr>
        <p:spPr>
          <a:xfrm flipH="1">
            <a:off x="6108501" y="3979640"/>
            <a:ext cx="139925" cy="1452811"/>
          </a:xfrm>
          <a:prstGeom prst="bentConnector3">
            <a:avLst>
              <a:gd name="adj1" fmla="val -8622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9" name="Группа 488"/>
          <p:cNvGrpSpPr/>
          <p:nvPr/>
        </p:nvGrpSpPr>
        <p:grpSpPr>
          <a:xfrm>
            <a:off x="6307063" y="3100882"/>
            <a:ext cx="625475" cy="3177958"/>
            <a:chOff x="7968208" y="2907977"/>
            <a:chExt cx="625475" cy="3177958"/>
          </a:xfrm>
        </p:grpSpPr>
        <p:pic>
          <p:nvPicPr>
            <p:cNvPr id="490" name="Picture 9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2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3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4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5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6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7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8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9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00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01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02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03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04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05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06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07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08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cxnSp>
        <p:nvCxnSpPr>
          <p:cNvPr id="509" name="Соединительная линия уступом 508"/>
          <p:cNvCxnSpPr/>
          <p:nvPr/>
        </p:nvCxnSpPr>
        <p:spPr>
          <a:xfrm rot="10800000" flipV="1">
            <a:off x="6132648" y="3528714"/>
            <a:ext cx="163170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0" name="Прямоугольник 509"/>
          <p:cNvSpPr/>
          <p:nvPr/>
        </p:nvSpPr>
        <p:spPr>
          <a:xfrm>
            <a:off x="6089452" y="2348880"/>
            <a:ext cx="5616000" cy="14401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1" name="Rectangle 300"/>
          <p:cNvSpPr>
            <a:spLocks noChangeArrowheads="1"/>
          </p:cNvSpPr>
          <p:nvPr/>
        </p:nvSpPr>
        <p:spPr bwMode="auto">
          <a:xfrm>
            <a:off x="6184039" y="2328303"/>
            <a:ext cx="150826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CAN-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шина</a:t>
            </a:r>
            <a:r>
              <a:rPr kumimoji="0" lang="ru-RU" altLang="ru-RU" sz="11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2 секции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" name="Блок-схема: ссылка на другую страницу 511"/>
          <p:cNvSpPr/>
          <p:nvPr/>
        </p:nvSpPr>
        <p:spPr>
          <a:xfrm rot="16200000">
            <a:off x="286581" y="1365674"/>
            <a:ext cx="1744987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3" name="Rectangle 317"/>
          <p:cNvSpPr>
            <a:spLocks noChangeArrowheads="1"/>
          </p:cNvSpPr>
          <p:nvPr/>
        </p:nvSpPr>
        <p:spPr bwMode="auto">
          <a:xfrm>
            <a:off x="739850" y="1552620"/>
            <a:ext cx="80791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ЮНИТ-М310-ЦД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0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и</a:t>
            </a:r>
            <a:r>
              <a:rPr kumimoji="0" lang="ru-RU" altLang="ru-RU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ли</a:t>
            </a:r>
          </a:p>
          <a:p>
            <a:r>
              <a:rPr lang="ru-RU" altLang="ru-RU" sz="10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ЮНИТ-М314-ЦД</a:t>
            </a:r>
          </a:p>
          <a:p>
            <a:r>
              <a:rPr lang="ru-RU" altLang="ru-RU" sz="10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+</a:t>
            </a:r>
            <a:endParaRPr lang="ru-RU" altLang="ru-RU" sz="10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r>
              <a:rPr lang="ru-RU" altLang="ru-RU" sz="1000" b="1" dirty="0">
                <a:solidFill>
                  <a:srgbClr val="000000"/>
                </a:solidFill>
                <a:latin typeface="Arial Narrow" panose="020B0606020202030204" pitchFamily="34" charset="0"/>
              </a:rPr>
              <a:t>ЮНИТ-ИЧМ</a:t>
            </a:r>
            <a:endParaRPr lang="ru-RU" altLang="ru-RU" sz="1000" dirty="0">
              <a:latin typeface="Arial Narrow" panose="020B0606020202030204" pitchFamily="34" charset="0"/>
            </a:endParaRPr>
          </a:p>
          <a:p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4" name="Picture 2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072" y="950777"/>
            <a:ext cx="208915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5" name="Двойная стрелка влево/вверх 514"/>
          <p:cNvSpPr/>
          <p:nvPr/>
        </p:nvSpPr>
        <p:spPr>
          <a:xfrm rot="16200000">
            <a:off x="9256534" y="1936534"/>
            <a:ext cx="394764" cy="379128"/>
          </a:xfrm>
          <a:prstGeom prst="leftUpArrow">
            <a:avLst>
              <a:gd name="adj1" fmla="val 14951"/>
              <a:gd name="adj2" fmla="val 13276"/>
              <a:gd name="adj3" fmla="val 2835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6" name="Двойная стрелка вверх/вниз 515"/>
          <p:cNvSpPr/>
          <p:nvPr/>
        </p:nvSpPr>
        <p:spPr>
          <a:xfrm>
            <a:off x="6745827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7" name="Соединительная линия уступом 516"/>
          <p:cNvCxnSpPr/>
          <p:nvPr/>
        </p:nvCxnSpPr>
        <p:spPr>
          <a:xfrm>
            <a:off x="8825929" y="3528714"/>
            <a:ext cx="362661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8" name="Rectangle 7"/>
          <p:cNvSpPr>
            <a:spLocks noChangeArrowheads="1"/>
          </p:cNvSpPr>
          <p:nvPr/>
        </p:nvSpPr>
        <p:spPr bwMode="auto">
          <a:xfrm>
            <a:off x="8215982" y="2709684"/>
            <a:ext cx="1279525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9" name="Line 50"/>
          <p:cNvSpPr>
            <a:spLocks noChangeShapeType="1"/>
          </p:cNvSpPr>
          <p:nvPr/>
        </p:nvSpPr>
        <p:spPr bwMode="auto">
          <a:xfrm>
            <a:off x="9025607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0" name="Line 51"/>
          <p:cNvSpPr>
            <a:spLocks noChangeShapeType="1"/>
          </p:cNvSpPr>
          <p:nvPr/>
        </p:nvSpPr>
        <p:spPr bwMode="auto">
          <a:xfrm flipH="1">
            <a:off x="8917657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1" name="Line 52"/>
          <p:cNvSpPr>
            <a:spLocks noChangeShapeType="1"/>
          </p:cNvSpPr>
          <p:nvPr/>
        </p:nvSpPr>
        <p:spPr bwMode="auto">
          <a:xfrm>
            <a:off x="9025607" y="4999857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2" name="Line 53"/>
          <p:cNvSpPr>
            <a:spLocks noChangeShapeType="1"/>
          </p:cNvSpPr>
          <p:nvPr/>
        </p:nvSpPr>
        <p:spPr bwMode="auto">
          <a:xfrm flipH="1">
            <a:off x="8917657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3" name="Line 54"/>
          <p:cNvSpPr>
            <a:spLocks noChangeShapeType="1"/>
          </p:cNvSpPr>
          <p:nvPr/>
        </p:nvSpPr>
        <p:spPr bwMode="auto">
          <a:xfrm>
            <a:off x="9025607" y="5090344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4" name="Line 55"/>
          <p:cNvSpPr>
            <a:spLocks noChangeShapeType="1"/>
          </p:cNvSpPr>
          <p:nvPr/>
        </p:nvSpPr>
        <p:spPr bwMode="auto">
          <a:xfrm>
            <a:off x="9025607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5" name="Oval 56"/>
          <p:cNvSpPr>
            <a:spLocks noChangeArrowheads="1"/>
          </p:cNvSpPr>
          <p:nvPr/>
        </p:nvSpPr>
        <p:spPr bwMode="auto">
          <a:xfrm>
            <a:off x="9000207" y="4756969"/>
            <a:ext cx="52387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6" name="Oval 57"/>
          <p:cNvSpPr>
            <a:spLocks noChangeArrowheads="1"/>
          </p:cNvSpPr>
          <p:nvPr/>
        </p:nvSpPr>
        <p:spPr bwMode="auto">
          <a:xfrm>
            <a:off x="9000207" y="4756969"/>
            <a:ext cx="52387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7" name="Line 58"/>
          <p:cNvSpPr>
            <a:spLocks noChangeShapeType="1"/>
          </p:cNvSpPr>
          <p:nvPr/>
        </p:nvSpPr>
        <p:spPr bwMode="auto">
          <a:xfrm flipV="1">
            <a:off x="9025607" y="5760269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8" name="Line 59"/>
          <p:cNvSpPr>
            <a:spLocks noChangeShapeType="1"/>
          </p:cNvSpPr>
          <p:nvPr/>
        </p:nvSpPr>
        <p:spPr bwMode="auto">
          <a:xfrm flipH="1" flipV="1">
            <a:off x="8917657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9" name="Line 60"/>
          <p:cNvSpPr>
            <a:spLocks noChangeShapeType="1"/>
          </p:cNvSpPr>
          <p:nvPr/>
        </p:nvSpPr>
        <p:spPr bwMode="auto">
          <a:xfrm flipV="1">
            <a:off x="9025607" y="5669782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0" name="Line 61"/>
          <p:cNvSpPr>
            <a:spLocks noChangeShapeType="1"/>
          </p:cNvSpPr>
          <p:nvPr/>
        </p:nvSpPr>
        <p:spPr bwMode="auto">
          <a:xfrm flipH="1" flipV="1">
            <a:off x="8917657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1" name="Rectangle 62"/>
          <p:cNvSpPr>
            <a:spLocks noChangeArrowheads="1"/>
          </p:cNvSpPr>
          <p:nvPr/>
        </p:nvSpPr>
        <p:spPr bwMode="auto">
          <a:xfrm>
            <a:off x="8900194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" name="Rectangle 63"/>
          <p:cNvSpPr>
            <a:spLocks noChangeArrowheads="1"/>
          </p:cNvSpPr>
          <p:nvPr/>
        </p:nvSpPr>
        <p:spPr bwMode="auto">
          <a:xfrm>
            <a:off x="8900194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3" name="Line 64"/>
          <p:cNvSpPr>
            <a:spLocks noChangeShapeType="1"/>
          </p:cNvSpPr>
          <p:nvPr/>
        </p:nvSpPr>
        <p:spPr bwMode="auto">
          <a:xfrm>
            <a:off x="9025607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4" name="Line 65"/>
          <p:cNvSpPr>
            <a:spLocks noChangeShapeType="1"/>
          </p:cNvSpPr>
          <p:nvPr/>
        </p:nvSpPr>
        <p:spPr bwMode="auto">
          <a:xfrm>
            <a:off x="9025607" y="5868219"/>
            <a:ext cx="0" cy="21272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5" name="Freeform 66"/>
          <p:cNvSpPr>
            <a:spLocks/>
          </p:cNvSpPr>
          <p:nvPr/>
        </p:nvSpPr>
        <p:spPr bwMode="auto">
          <a:xfrm>
            <a:off x="8971632" y="6080944"/>
            <a:ext cx="109537" cy="107950"/>
          </a:xfrm>
          <a:custGeom>
            <a:avLst/>
            <a:gdLst>
              <a:gd name="T0" fmla="*/ 0 w 69"/>
              <a:gd name="T1" fmla="*/ 0 h 68"/>
              <a:gd name="T2" fmla="*/ 69 w 69"/>
              <a:gd name="T3" fmla="*/ 0 h 68"/>
              <a:gd name="T4" fmla="*/ 34 w 69"/>
              <a:gd name="T5" fmla="*/ 68 h 68"/>
              <a:gd name="T6" fmla="*/ 0 w 69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68">
                <a:moveTo>
                  <a:pt x="0" y="0"/>
                </a:moveTo>
                <a:lnTo>
                  <a:pt x="69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6" name="Freeform 67"/>
          <p:cNvSpPr>
            <a:spLocks/>
          </p:cNvSpPr>
          <p:nvPr/>
        </p:nvSpPr>
        <p:spPr bwMode="auto">
          <a:xfrm>
            <a:off x="8971632" y="6080944"/>
            <a:ext cx="109537" cy="107950"/>
          </a:xfrm>
          <a:custGeom>
            <a:avLst/>
            <a:gdLst>
              <a:gd name="T0" fmla="*/ 0 w 69"/>
              <a:gd name="T1" fmla="*/ 0 h 68"/>
              <a:gd name="T2" fmla="*/ 69 w 69"/>
              <a:gd name="T3" fmla="*/ 0 h 68"/>
              <a:gd name="T4" fmla="*/ 34 w 69"/>
              <a:gd name="T5" fmla="*/ 68 h 68"/>
              <a:gd name="T6" fmla="*/ 0 w 69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68">
                <a:moveTo>
                  <a:pt x="0" y="0"/>
                </a:moveTo>
                <a:lnTo>
                  <a:pt x="69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7" name="Line 68"/>
          <p:cNvSpPr>
            <a:spLocks noChangeShapeType="1"/>
          </p:cNvSpPr>
          <p:nvPr/>
        </p:nvSpPr>
        <p:spPr bwMode="auto">
          <a:xfrm>
            <a:off x="9025607" y="6188894"/>
            <a:ext cx="0" cy="217488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8" name="Rectangle 69"/>
          <p:cNvSpPr>
            <a:spLocks noChangeArrowheads="1"/>
          </p:cNvSpPr>
          <p:nvPr/>
        </p:nvSpPr>
        <p:spPr bwMode="auto">
          <a:xfrm>
            <a:off x="8215982" y="5972994"/>
            <a:ext cx="1279525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9" name="Rectangle 70"/>
          <p:cNvSpPr>
            <a:spLocks noChangeArrowheads="1"/>
          </p:cNvSpPr>
          <p:nvPr/>
        </p:nvSpPr>
        <p:spPr bwMode="auto">
          <a:xfrm>
            <a:off x="8215982" y="4350569"/>
            <a:ext cx="1279525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0" name="Rectangle 71"/>
          <p:cNvSpPr>
            <a:spLocks noChangeArrowheads="1"/>
          </p:cNvSpPr>
          <p:nvPr/>
        </p:nvSpPr>
        <p:spPr bwMode="auto">
          <a:xfrm>
            <a:off x="8215982" y="4891907"/>
            <a:ext cx="1279525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1" name="Rectangle 72"/>
          <p:cNvSpPr>
            <a:spLocks noChangeArrowheads="1"/>
          </p:cNvSpPr>
          <p:nvPr/>
        </p:nvSpPr>
        <p:spPr bwMode="auto">
          <a:xfrm>
            <a:off x="8215982" y="2702115"/>
            <a:ext cx="1279525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2" name="Rectangle 300"/>
          <p:cNvSpPr>
            <a:spLocks noChangeArrowheads="1"/>
          </p:cNvSpPr>
          <p:nvPr/>
        </p:nvSpPr>
        <p:spPr bwMode="auto">
          <a:xfrm>
            <a:off x="8325520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ВВ2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43" name="Прямоугольник 542"/>
          <p:cNvSpPr/>
          <p:nvPr/>
        </p:nvSpPr>
        <p:spPr>
          <a:xfrm>
            <a:off x="9052594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4" name="Rectangle 300"/>
          <p:cNvSpPr>
            <a:spLocks noChangeArrowheads="1"/>
          </p:cNvSpPr>
          <p:nvPr/>
        </p:nvSpPr>
        <p:spPr bwMode="auto">
          <a:xfrm>
            <a:off x="9077246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45" name="Соединительная линия уступом 544"/>
          <p:cNvCxnSpPr>
            <a:endCxn id="532" idx="3"/>
          </p:cNvCxnSpPr>
          <p:nvPr/>
        </p:nvCxnSpPr>
        <p:spPr>
          <a:xfrm rot="5400000">
            <a:off x="8640373" y="4734540"/>
            <a:ext cx="1210145" cy="18567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Rectangle 6"/>
          <p:cNvSpPr>
            <a:spLocks noChangeArrowheads="1"/>
          </p:cNvSpPr>
          <p:nvPr/>
        </p:nvSpPr>
        <p:spPr bwMode="auto">
          <a:xfrm>
            <a:off x="7077654" y="2709684"/>
            <a:ext cx="1137360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7" name="Rectangle 87"/>
          <p:cNvSpPr>
            <a:spLocks noChangeArrowheads="1"/>
          </p:cNvSpPr>
          <p:nvPr/>
        </p:nvSpPr>
        <p:spPr bwMode="auto">
          <a:xfrm>
            <a:off x="7080151" y="2702115"/>
            <a:ext cx="1138284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8" name="Rectangle 14"/>
          <p:cNvSpPr>
            <a:spLocks noChangeArrowheads="1"/>
          </p:cNvSpPr>
          <p:nvPr/>
        </p:nvSpPr>
        <p:spPr bwMode="auto">
          <a:xfrm>
            <a:off x="7294008" y="4756969"/>
            <a:ext cx="4248000" cy="53975"/>
          </a:xfrm>
          <a:prstGeom prst="rect">
            <a:avLst/>
          </a:prstGeom>
          <a:solidFill>
            <a:srgbClr val="F8B5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9" name="Rectangle 15"/>
          <p:cNvSpPr>
            <a:spLocks noChangeArrowheads="1"/>
          </p:cNvSpPr>
          <p:nvPr/>
        </p:nvSpPr>
        <p:spPr bwMode="auto">
          <a:xfrm>
            <a:off x="7294008" y="4756969"/>
            <a:ext cx="4248000" cy="53975"/>
          </a:xfrm>
          <a:prstGeom prst="rect">
            <a:avLst/>
          </a:prstGeom>
          <a:noFill/>
          <a:ln w="9525" cap="rnd">
            <a:solidFill>
              <a:srgbClr val="F282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0" name="Oval 56"/>
          <p:cNvSpPr>
            <a:spLocks noChangeArrowheads="1"/>
          </p:cNvSpPr>
          <p:nvPr/>
        </p:nvSpPr>
        <p:spPr bwMode="auto">
          <a:xfrm>
            <a:off x="9002291" y="4756969"/>
            <a:ext cx="52387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1" name="Oval 57"/>
          <p:cNvSpPr>
            <a:spLocks noChangeArrowheads="1"/>
          </p:cNvSpPr>
          <p:nvPr/>
        </p:nvSpPr>
        <p:spPr bwMode="auto">
          <a:xfrm>
            <a:off x="9002291" y="4756969"/>
            <a:ext cx="52387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2" name="Oval 79"/>
          <p:cNvSpPr>
            <a:spLocks noChangeArrowheads="1"/>
          </p:cNvSpPr>
          <p:nvPr/>
        </p:nvSpPr>
        <p:spPr bwMode="auto">
          <a:xfrm>
            <a:off x="10978595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3" name="Oval 80"/>
          <p:cNvSpPr>
            <a:spLocks noChangeArrowheads="1"/>
          </p:cNvSpPr>
          <p:nvPr/>
        </p:nvSpPr>
        <p:spPr bwMode="auto">
          <a:xfrm>
            <a:off x="10978595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4" name="Line 50"/>
          <p:cNvSpPr>
            <a:spLocks noChangeShapeType="1"/>
          </p:cNvSpPr>
          <p:nvPr/>
        </p:nvSpPr>
        <p:spPr bwMode="auto">
          <a:xfrm>
            <a:off x="7516093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5" name="Line 51"/>
          <p:cNvSpPr>
            <a:spLocks noChangeShapeType="1"/>
          </p:cNvSpPr>
          <p:nvPr/>
        </p:nvSpPr>
        <p:spPr bwMode="auto">
          <a:xfrm flipH="1">
            <a:off x="7408143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6" name="Line 52"/>
          <p:cNvSpPr>
            <a:spLocks noChangeShapeType="1"/>
          </p:cNvSpPr>
          <p:nvPr/>
        </p:nvSpPr>
        <p:spPr bwMode="auto">
          <a:xfrm>
            <a:off x="7516093" y="4999857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7" name="Line 53"/>
          <p:cNvSpPr>
            <a:spLocks noChangeShapeType="1"/>
          </p:cNvSpPr>
          <p:nvPr/>
        </p:nvSpPr>
        <p:spPr bwMode="auto">
          <a:xfrm flipH="1">
            <a:off x="7408143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8" name="Line 54"/>
          <p:cNvSpPr>
            <a:spLocks noChangeShapeType="1"/>
          </p:cNvSpPr>
          <p:nvPr/>
        </p:nvSpPr>
        <p:spPr bwMode="auto">
          <a:xfrm>
            <a:off x="7516093" y="5090344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9" name="Line 55"/>
          <p:cNvSpPr>
            <a:spLocks noChangeShapeType="1"/>
          </p:cNvSpPr>
          <p:nvPr/>
        </p:nvSpPr>
        <p:spPr bwMode="auto">
          <a:xfrm>
            <a:off x="7516093" y="5090344"/>
            <a:ext cx="0" cy="6840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60" name="Oval 56"/>
          <p:cNvSpPr>
            <a:spLocks noChangeArrowheads="1"/>
          </p:cNvSpPr>
          <p:nvPr/>
        </p:nvSpPr>
        <p:spPr bwMode="auto">
          <a:xfrm>
            <a:off x="7490693" y="4756969"/>
            <a:ext cx="52387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61" name="Oval 57"/>
          <p:cNvSpPr>
            <a:spLocks noChangeArrowheads="1"/>
          </p:cNvSpPr>
          <p:nvPr/>
        </p:nvSpPr>
        <p:spPr bwMode="auto">
          <a:xfrm>
            <a:off x="7490693" y="4756969"/>
            <a:ext cx="52387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62" name="Line 58"/>
          <p:cNvSpPr>
            <a:spLocks noChangeShapeType="1"/>
          </p:cNvSpPr>
          <p:nvPr/>
        </p:nvSpPr>
        <p:spPr bwMode="auto">
          <a:xfrm flipV="1">
            <a:off x="7516093" y="5760269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63" name="Line 59"/>
          <p:cNvSpPr>
            <a:spLocks noChangeShapeType="1"/>
          </p:cNvSpPr>
          <p:nvPr/>
        </p:nvSpPr>
        <p:spPr bwMode="auto">
          <a:xfrm flipH="1" flipV="1">
            <a:off x="7408143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64" name="Line 60"/>
          <p:cNvSpPr>
            <a:spLocks noChangeShapeType="1"/>
          </p:cNvSpPr>
          <p:nvPr/>
        </p:nvSpPr>
        <p:spPr bwMode="auto">
          <a:xfrm flipV="1">
            <a:off x="7516093" y="5669782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65" name="Line 61"/>
          <p:cNvSpPr>
            <a:spLocks noChangeShapeType="1"/>
          </p:cNvSpPr>
          <p:nvPr/>
        </p:nvSpPr>
        <p:spPr bwMode="auto">
          <a:xfrm flipH="1" flipV="1">
            <a:off x="7408143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66" name="Rectangle 69"/>
          <p:cNvSpPr>
            <a:spLocks noChangeArrowheads="1"/>
          </p:cNvSpPr>
          <p:nvPr/>
        </p:nvSpPr>
        <p:spPr bwMode="auto">
          <a:xfrm>
            <a:off x="7076843" y="5972994"/>
            <a:ext cx="1139140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67" name="Rectangle 48"/>
          <p:cNvSpPr>
            <a:spLocks noChangeArrowheads="1"/>
          </p:cNvSpPr>
          <p:nvPr/>
        </p:nvSpPr>
        <p:spPr bwMode="auto">
          <a:xfrm>
            <a:off x="7078142" y="4891907"/>
            <a:ext cx="1136003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68" name="Группа 567"/>
          <p:cNvGrpSpPr/>
          <p:nvPr/>
        </p:nvGrpSpPr>
        <p:grpSpPr>
          <a:xfrm>
            <a:off x="8226458" y="3100882"/>
            <a:ext cx="625475" cy="3177958"/>
            <a:chOff x="7968208" y="2907977"/>
            <a:chExt cx="625475" cy="3177958"/>
          </a:xfrm>
        </p:grpSpPr>
        <p:pic>
          <p:nvPicPr>
            <p:cNvPr id="569" name="Picture 9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0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1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2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3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4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5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6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7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8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9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0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1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2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3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4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5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6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7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8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9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0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1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2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3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4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5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96" name="Группа 595"/>
          <p:cNvGrpSpPr/>
          <p:nvPr/>
        </p:nvGrpSpPr>
        <p:grpSpPr>
          <a:xfrm>
            <a:off x="7531199" y="3100882"/>
            <a:ext cx="625475" cy="3177958"/>
            <a:chOff x="7968208" y="2907977"/>
            <a:chExt cx="625475" cy="3177958"/>
          </a:xfrm>
        </p:grpSpPr>
        <p:pic>
          <p:nvPicPr>
            <p:cNvPr id="597" name="Picture 9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8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8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9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0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1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2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3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4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5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6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7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8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9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0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1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2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3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624" name="Двойная стрелка вверх/вниз 623"/>
          <p:cNvSpPr/>
          <p:nvPr/>
        </p:nvSpPr>
        <p:spPr>
          <a:xfrm>
            <a:off x="7946256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5" name="Двойная стрелка вверх/вниз 624"/>
          <p:cNvSpPr/>
          <p:nvPr/>
        </p:nvSpPr>
        <p:spPr>
          <a:xfrm>
            <a:off x="8435214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6" name="Соединительная линия уступом 625"/>
          <p:cNvCxnSpPr/>
          <p:nvPr/>
        </p:nvCxnSpPr>
        <p:spPr>
          <a:xfrm>
            <a:off x="11128753" y="3528714"/>
            <a:ext cx="362661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7" name="Rectangle 5"/>
          <p:cNvSpPr>
            <a:spLocks noChangeArrowheads="1"/>
          </p:cNvSpPr>
          <p:nvPr/>
        </p:nvSpPr>
        <p:spPr bwMode="auto">
          <a:xfrm>
            <a:off x="9496475" y="2709684"/>
            <a:ext cx="1081087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28" name="Rectangle 6"/>
          <p:cNvSpPr>
            <a:spLocks noChangeArrowheads="1"/>
          </p:cNvSpPr>
          <p:nvPr/>
        </p:nvSpPr>
        <p:spPr bwMode="auto">
          <a:xfrm>
            <a:off x="10577562" y="2709684"/>
            <a:ext cx="1135062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29" name="Rectangle 10"/>
          <p:cNvSpPr>
            <a:spLocks noChangeArrowheads="1"/>
          </p:cNvSpPr>
          <p:nvPr/>
        </p:nvSpPr>
        <p:spPr bwMode="auto">
          <a:xfrm>
            <a:off x="9496475" y="2702115"/>
            <a:ext cx="1081087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0" name="Rectangle 11"/>
          <p:cNvSpPr>
            <a:spLocks noChangeArrowheads="1"/>
          </p:cNvSpPr>
          <p:nvPr/>
        </p:nvSpPr>
        <p:spPr bwMode="auto">
          <a:xfrm>
            <a:off x="9496475" y="4350569"/>
            <a:ext cx="1081087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1" name="Rectangle 12"/>
          <p:cNvSpPr>
            <a:spLocks noChangeArrowheads="1"/>
          </p:cNvSpPr>
          <p:nvPr/>
        </p:nvSpPr>
        <p:spPr bwMode="auto">
          <a:xfrm>
            <a:off x="9496475" y="4891907"/>
            <a:ext cx="1081087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2" name="Rectangle 13"/>
          <p:cNvSpPr>
            <a:spLocks noChangeArrowheads="1"/>
          </p:cNvSpPr>
          <p:nvPr/>
        </p:nvSpPr>
        <p:spPr bwMode="auto">
          <a:xfrm>
            <a:off x="9496475" y="5972994"/>
            <a:ext cx="1081087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3" name="Oval 16"/>
          <p:cNvSpPr>
            <a:spLocks noChangeArrowheads="1"/>
          </p:cNvSpPr>
          <p:nvPr/>
        </p:nvSpPr>
        <p:spPr bwMode="auto">
          <a:xfrm>
            <a:off x="10163225" y="5360219"/>
            <a:ext cx="252412" cy="2524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4" name="Line 17"/>
          <p:cNvSpPr>
            <a:spLocks noChangeShapeType="1"/>
          </p:cNvSpPr>
          <p:nvPr/>
        </p:nvSpPr>
        <p:spPr bwMode="auto">
          <a:xfrm>
            <a:off x="10288637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5" name="Line 18"/>
          <p:cNvSpPr>
            <a:spLocks noChangeShapeType="1"/>
          </p:cNvSpPr>
          <p:nvPr/>
        </p:nvSpPr>
        <p:spPr bwMode="auto">
          <a:xfrm flipH="1">
            <a:off x="10180687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6" name="Line 19"/>
          <p:cNvSpPr>
            <a:spLocks noChangeShapeType="1"/>
          </p:cNvSpPr>
          <p:nvPr/>
        </p:nvSpPr>
        <p:spPr bwMode="auto">
          <a:xfrm>
            <a:off x="10288637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7" name="Line 20"/>
          <p:cNvSpPr>
            <a:spLocks noChangeShapeType="1"/>
          </p:cNvSpPr>
          <p:nvPr/>
        </p:nvSpPr>
        <p:spPr bwMode="auto">
          <a:xfrm flipH="1">
            <a:off x="10180687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8" name="Line 21"/>
          <p:cNvSpPr>
            <a:spLocks noChangeShapeType="1"/>
          </p:cNvSpPr>
          <p:nvPr/>
        </p:nvSpPr>
        <p:spPr bwMode="auto">
          <a:xfrm>
            <a:off x="10288637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9" name="Line 22"/>
          <p:cNvSpPr>
            <a:spLocks noChangeShapeType="1"/>
          </p:cNvSpPr>
          <p:nvPr/>
        </p:nvSpPr>
        <p:spPr bwMode="auto">
          <a:xfrm>
            <a:off x="10288637" y="5090344"/>
            <a:ext cx="0" cy="26987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40" name="Oval 23"/>
          <p:cNvSpPr>
            <a:spLocks noChangeArrowheads="1"/>
          </p:cNvSpPr>
          <p:nvPr/>
        </p:nvSpPr>
        <p:spPr bwMode="auto">
          <a:xfrm>
            <a:off x="10252125" y="5504682"/>
            <a:ext cx="252412" cy="2524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41" name="Freeform 24"/>
          <p:cNvSpPr>
            <a:spLocks/>
          </p:cNvSpPr>
          <p:nvPr/>
        </p:nvSpPr>
        <p:spPr bwMode="auto">
          <a:xfrm>
            <a:off x="10072737" y="5504682"/>
            <a:ext cx="252412" cy="252413"/>
          </a:xfrm>
          <a:custGeom>
            <a:avLst/>
            <a:gdLst>
              <a:gd name="T0" fmla="*/ 159 w 159"/>
              <a:gd name="T1" fmla="*/ 79 h 159"/>
              <a:gd name="T2" fmla="*/ 80 w 159"/>
              <a:gd name="T3" fmla="*/ 0 h 159"/>
              <a:gd name="T4" fmla="*/ 0 w 159"/>
              <a:gd name="T5" fmla="*/ 79 h 159"/>
              <a:gd name="T6" fmla="*/ 80 w 159"/>
              <a:gd name="T7" fmla="*/ 159 h 159"/>
              <a:gd name="T8" fmla="*/ 159 w 159"/>
              <a:gd name="T9" fmla="*/ 7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9" h="159">
                <a:moveTo>
                  <a:pt x="159" y="79"/>
                </a:moveTo>
                <a:cubicBezTo>
                  <a:pt x="159" y="35"/>
                  <a:pt x="123" y="0"/>
                  <a:pt x="80" y="0"/>
                </a:cubicBezTo>
                <a:cubicBezTo>
                  <a:pt x="35" y="0"/>
                  <a:pt x="0" y="35"/>
                  <a:pt x="0" y="79"/>
                </a:cubicBezTo>
                <a:cubicBezTo>
                  <a:pt x="0" y="123"/>
                  <a:pt x="35" y="159"/>
                  <a:pt x="80" y="159"/>
                </a:cubicBezTo>
                <a:cubicBezTo>
                  <a:pt x="123" y="159"/>
                  <a:pt x="159" y="123"/>
                  <a:pt x="159" y="79"/>
                </a:cubicBez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42" name="Oval 25"/>
          <p:cNvSpPr>
            <a:spLocks noChangeArrowheads="1"/>
          </p:cNvSpPr>
          <p:nvPr/>
        </p:nvSpPr>
        <p:spPr bwMode="auto">
          <a:xfrm>
            <a:off x="10261650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43" name="Oval 26"/>
          <p:cNvSpPr>
            <a:spLocks noChangeArrowheads="1"/>
          </p:cNvSpPr>
          <p:nvPr/>
        </p:nvSpPr>
        <p:spPr bwMode="auto">
          <a:xfrm>
            <a:off x="10261650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44" name="Line 27"/>
          <p:cNvSpPr>
            <a:spLocks noChangeShapeType="1"/>
          </p:cNvSpPr>
          <p:nvPr/>
        </p:nvSpPr>
        <p:spPr bwMode="auto">
          <a:xfrm>
            <a:off x="11352262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45" name="Line 28"/>
          <p:cNvSpPr>
            <a:spLocks noChangeShapeType="1"/>
          </p:cNvSpPr>
          <p:nvPr/>
        </p:nvSpPr>
        <p:spPr bwMode="auto">
          <a:xfrm flipH="1">
            <a:off x="11244312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46" name="Line 29"/>
          <p:cNvSpPr>
            <a:spLocks noChangeShapeType="1"/>
          </p:cNvSpPr>
          <p:nvPr/>
        </p:nvSpPr>
        <p:spPr bwMode="auto">
          <a:xfrm>
            <a:off x="11352262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47" name="Line 30"/>
          <p:cNvSpPr>
            <a:spLocks noChangeShapeType="1"/>
          </p:cNvSpPr>
          <p:nvPr/>
        </p:nvSpPr>
        <p:spPr bwMode="auto">
          <a:xfrm flipH="1">
            <a:off x="11244312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48" name="Line 31"/>
          <p:cNvSpPr>
            <a:spLocks noChangeShapeType="1"/>
          </p:cNvSpPr>
          <p:nvPr/>
        </p:nvSpPr>
        <p:spPr bwMode="auto">
          <a:xfrm>
            <a:off x="11352262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49" name="Line 32"/>
          <p:cNvSpPr>
            <a:spLocks noChangeShapeType="1"/>
          </p:cNvSpPr>
          <p:nvPr/>
        </p:nvSpPr>
        <p:spPr bwMode="auto">
          <a:xfrm>
            <a:off x="11352262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50" name="Oval 33"/>
          <p:cNvSpPr>
            <a:spLocks noChangeArrowheads="1"/>
          </p:cNvSpPr>
          <p:nvPr/>
        </p:nvSpPr>
        <p:spPr bwMode="auto">
          <a:xfrm>
            <a:off x="11325275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51" name="Oval 34"/>
          <p:cNvSpPr>
            <a:spLocks noChangeArrowheads="1"/>
          </p:cNvSpPr>
          <p:nvPr/>
        </p:nvSpPr>
        <p:spPr bwMode="auto">
          <a:xfrm>
            <a:off x="11325275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52" name="Line 35"/>
          <p:cNvSpPr>
            <a:spLocks noChangeShapeType="1"/>
          </p:cNvSpPr>
          <p:nvPr/>
        </p:nvSpPr>
        <p:spPr bwMode="auto">
          <a:xfrm flipV="1">
            <a:off x="11352262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53" name="Line 36"/>
          <p:cNvSpPr>
            <a:spLocks noChangeShapeType="1"/>
          </p:cNvSpPr>
          <p:nvPr/>
        </p:nvSpPr>
        <p:spPr bwMode="auto">
          <a:xfrm flipH="1" flipV="1">
            <a:off x="11244312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54" name="Line 37"/>
          <p:cNvSpPr>
            <a:spLocks noChangeShapeType="1"/>
          </p:cNvSpPr>
          <p:nvPr/>
        </p:nvSpPr>
        <p:spPr bwMode="auto">
          <a:xfrm flipV="1">
            <a:off x="11352262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55" name="Line 38"/>
          <p:cNvSpPr>
            <a:spLocks noChangeShapeType="1"/>
          </p:cNvSpPr>
          <p:nvPr/>
        </p:nvSpPr>
        <p:spPr bwMode="auto">
          <a:xfrm flipH="1" flipV="1">
            <a:off x="11244312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56" name="Rectangle 39"/>
          <p:cNvSpPr>
            <a:spLocks noChangeArrowheads="1"/>
          </p:cNvSpPr>
          <p:nvPr/>
        </p:nvSpPr>
        <p:spPr bwMode="auto">
          <a:xfrm>
            <a:off x="11225262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57" name="Rectangle 40"/>
          <p:cNvSpPr>
            <a:spLocks noChangeArrowheads="1"/>
          </p:cNvSpPr>
          <p:nvPr/>
        </p:nvSpPr>
        <p:spPr bwMode="auto">
          <a:xfrm>
            <a:off x="11225262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58" name="Line 41"/>
          <p:cNvSpPr>
            <a:spLocks noChangeShapeType="1"/>
          </p:cNvSpPr>
          <p:nvPr/>
        </p:nvSpPr>
        <p:spPr bwMode="auto">
          <a:xfrm>
            <a:off x="11352262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59" name="Line 42"/>
          <p:cNvSpPr>
            <a:spLocks noChangeShapeType="1"/>
          </p:cNvSpPr>
          <p:nvPr/>
        </p:nvSpPr>
        <p:spPr bwMode="auto">
          <a:xfrm>
            <a:off x="11352262" y="5868219"/>
            <a:ext cx="0" cy="21272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60" name="Freeform 43"/>
          <p:cNvSpPr>
            <a:spLocks/>
          </p:cNvSpPr>
          <p:nvPr/>
        </p:nvSpPr>
        <p:spPr bwMode="auto">
          <a:xfrm>
            <a:off x="11298287" y="6080944"/>
            <a:ext cx="107950" cy="107950"/>
          </a:xfrm>
          <a:custGeom>
            <a:avLst/>
            <a:gdLst>
              <a:gd name="T0" fmla="*/ 0 w 68"/>
              <a:gd name="T1" fmla="*/ 0 h 68"/>
              <a:gd name="T2" fmla="*/ 68 w 68"/>
              <a:gd name="T3" fmla="*/ 0 h 68"/>
              <a:gd name="T4" fmla="*/ 34 w 68"/>
              <a:gd name="T5" fmla="*/ 68 h 68"/>
              <a:gd name="T6" fmla="*/ 0 w 68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61" name="Freeform 44"/>
          <p:cNvSpPr>
            <a:spLocks/>
          </p:cNvSpPr>
          <p:nvPr/>
        </p:nvSpPr>
        <p:spPr bwMode="auto">
          <a:xfrm>
            <a:off x="11298287" y="6080944"/>
            <a:ext cx="107950" cy="107950"/>
          </a:xfrm>
          <a:custGeom>
            <a:avLst/>
            <a:gdLst>
              <a:gd name="T0" fmla="*/ 0 w 68"/>
              <a:gd name="T1" fmla="*/ 0 h 68"/>
              <a:gd name="T2" fmla="*/ 68 w 68"/>
              <a:gd name="T3" fmla="*/ 0 h 68"/>
              <a:gd name="T4" fmla="*/ 34 w 68"/>
              <a:gd name="T5" fmla="*/ 68 h 68"/>
              <a:gd name="T6" fmla="*/ 0 w 68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62" name="Line 45"/>
          <p:cNvSpPr>
            <a:spLocks noChangeShapeType="1"/>
          </p:cNvSpPr>
          <p:nvPr/>
        </p:nvSpPr>
        <p:spPr bwMode="auto">
          <a:xfrm>
            <a:off x="11352262" y="6188894"/>
            <a:ext cx="0" cy="217488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63" name="Rectangle 46"/>
          <p:cNvSpPr>
            <a:spLocks noChangeArrowheads="1"/>
          </p:cNvSpPr>
          <p:nvPr/>
        </p:nvSpPr>
        <p:spPr bwMode="auto">
          <a:xfrm>
            <a:off x="10577562" y="5972994"/>
            <a:ext cx="1135062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64" name="Rectangle 47"/>
          <p:cNvSpPr>
            <a:spLocks noChangeArrowheads="1"/>
          </p:cNvSpPr>
          <p:nvPr/>
        </p:nvSpPr>
        <p:spPr bwMode="auto">
          <a:xfrm>
            <a:off x="10577562" y="4350569"/>
            <a:ext cx="1135062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65" name="Rectangle 48"/>
          <p:cNvSpPr>
            <a:spLocks noChangeArrowheads="1"/>
          </p:cNvSpPr>
          <p:nvPr/>
        </p:nvSpPr>
        <p:spPr bwMode="auto">
          <a:xfrm>
            <a:off x="10577562" y="4891907"/>
            <a:ext cx="1135062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66" name="Rectangle 300"/>
          <p:cNvSpPr>
            <a:spLocks noChangeArrowheads="1"/>
          </p:cNvSpPr>
          <p:nvPr/>
        </p:nvSpPr>
        <p:spPr bwMode="auto">
          <a:xfrm>
            <a:off x="9496475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ТН2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7" name="Rectangle 300"/>
          <p:cNvSpPr>
            <a:spLocks noChangeArrowheads="1"/>
          </p:cNvSpPr>
          <p:nvPr/>
        </p:nvSpPr>
        <p:spPr bwMode="auto">
          <a:xfrm>
            <a:off x="10599143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ОЛ2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8" name="Rectangle 49"/>
          <p:cNvSpPr>
            <a:spLocks noChangeArrowheads="1"/>
          </p:cNvSpPr>
          <p:nvPr/>
        </p:nvSpPr>
        <p:spPr bwMode="auto">
          <a:xfrm>
            <a:off x="10577562" y="2702115"/>
            <a:ext cx="1135062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669" name="Группа 668"/>
          <p:cNvGrpSpPr/>
          <p:nvPr/>
        </p:nvGrpSpPr>
        <p:grpSpPr>
          <a:xfrm>
            <a:off x="10609947" y="3100882"/>
            <a:ext cx="625475" cy="3177958"/>
            <a:chOff x="7968208" y="2907977"/>
            <a:chExt cx="625475" cy="3177958"/>
          </a:xfrm>
        </p:grpSpPr>
        <p:pic>
          <p:nvPicPr>
            <p:cNvPr id="670" name="Picture 9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1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2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3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4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5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6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7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8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9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80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81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82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83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84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85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86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87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88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89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90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91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92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93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94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95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96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97" name="Группа 696"/>
          <p:cNvGrpSpPr/>
          <p:nvPr/>
        </p:nvGrpSpPr>
        <p:grpSpPr>
          <a:xfrm>
            <a:off x="9608865" y="3100882"/>
            <a:ext cx="625475" cy="2355633"/>
            <a:chOff x="7968208" y="2907977"/>
            <a:chExt cx="625475" cy="2355633"/>
          </a:xfrm>
        </p:grpSpPr>
        <p:pic>
          <p:nvPicPr>
            <p:cNvPr id="698" name="Picture 9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99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0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1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2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3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4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5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6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7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8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9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0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1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2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3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4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5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716" name="Прямоугольник 715"/>
          <p:cNvSpPr/>
          <p:nvPr/>
        </p:nvSpPr>
        <p:spPr>
          <a:xfrm>
            <a:off x="11355418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7" name="Rectangle 300"/>
          <p:cNvSpPr>
            <a:spLocks noChangeArrowheads="1"/>
          </p:cNvSpPr>
          <p:nvPr/>
        </p:nvSpPr>
        <p:spPr bwMode="auto">
          <a:xfrm>
            <a:off x="11380070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18" name="Соединительная линия уступом 717"/>
          <p:cNvCxnSpPr>
            <a:endCxn id="657" idx="3"/>
          </p:cNvCxnSpPr>
          <p:nvPr/>
        </p:nvCxnSpPr>
        <p:spPr>
          <a:xfrm rot="5400000">
            <a:off x="10954320" y="4745661"/>
            <a:ext cx="1210145" cy="16343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" name="Двойная стрелка вверх/вниз 718"/>
          <p:cNvSpPr/>
          <p:nvPr/>
        </p:nvSpPr>
        <p:spPr>
          <a:xfrm>
            <a:off x="9684372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0" name="Двойная стрелка вверх/вниз 719"/>
          <p:cNvSpPr/>
          <p:nvPr/>
        </p:nvSpPr>
        <p:spPr>
          <a:xfrm>
            <a:off x="10733188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23" name="Picture 2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082" y="957127"/>
            <a:ext cx="208915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6" name="Двойная стрелка влево/вверх 725"/>
          <p:cNvSpPr/>
          <p:nvPr/>
        </p:nvSpPr>
        <p:spPr>
          <a:xfrm rot="10800000">
            <a:off x="3055990" y="1936534"/>
            <a:ext cx="394764" cy="379128"/>
          </a:xfrm>
          <a:prstGeom prst="leftUpArrow">
            <a:avLst>
              <a:gd name="adj1" fmla="val 14951"/>
              <a:gd name="adj2" fmla="val 13276"/>
              <a:gd name="adj3" fmla="val 2835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7" name="Прямая со стрелкой 726"/>
          <p:cNvCxnSpPr/>
          <p:nvPr/>
        </p:nvCxnSpPr>
        <p:spPr>
          <a:xfrm>
            <a:off x="5620777" y="1052736"/>
            <a:ext cx="14557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28" name="Прямая со стрелкой 727"/>
          <p:cNvCxnSpPr/>
          <p:nvPr/>
        </p:nvCxnSpPr>
        <p:spPr>
          <a:xfrm flipH="1">
            <a:off x="5620777" y="1479451"/>
            <a:ext cx="14557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29" name="Rectangle 300"/>
          <p:cNvSpPr>
            <a:spLocks noChangeArrowheads="1"/>
          </p:cNvSpPr>
          <p:nvPr/>
        </p:nvSpPr>
        <p:spPr bwMode="auto">
          <a:xfrm>
            <a:off x="5574740" y="1110964"/>
            <a:ext cx="15018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УРОВ ЗДЗ смежной секции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30" name="Соединительная линия уступом 729"/>
          <p:cNvCxnSpPr/>
          <p:nvPr/>
        </p:nvCxnSpPr>
        <p:spPr>
          <a:xfrm flipV="1">
            <a:off x="6108501" y="3945756"/>
            <a:ext cx="404412" cy="1584000"/>
          </a:xfrm>
          <a:prstGeom prst="bentConnector2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Соединительная линия уступом 730"/>
          <p:cNvCxnSpPr/>
          <p:nvPr/>
        </p:nvCxnSpPr>
        <p:spPr>
          <a:xfrm>
            <a:off x="5569729" y="1844824"/>
            <a:ext cx="310247" cy="144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2" name="Rectangle 300"/>
          <p:cNvSpPr>
            <a:spLocks noChangeArrowheads="1"/>
          </p:cNvSpPr>
          <p:nvPr/>
        </p:nvSpPr>
        <p:spPr bwMode="auto">
          <a:xfrm>
            <a:off x="5591944" y="1988840"/>
            <a:ext cx="588225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Откл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. Т1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33" name="Соединительная линия уступом 732"/>
          <p:cNvCxnSpPr/>
          <p:nvPr/>
        </p:nvCxnSpPr>
        <p:spPr>
          <a:xfrm flipH="1">
            <a:off x="6793865" y="1844824"/>
            <a:ext cx="310247" cy="144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4" name="Rectangle 300"/>
          <p:cNvSpPr>
            <a:spLocks noChangeArrowheads="1"/>
          </p:cNvSpPr>
          <p:nvPr/>
        </p:nvSpPr>
        <p:spPr bwMode="auto">
          <a:xfrm>
            <a:off x="6499752" y="1988840"/>
            <a:ext cx="588225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Откл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. Т2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35" name="Соединительная линия уступом 734"/>
          <p:cNvCxnSpPr/>
          <p:nvPr/>
        </p:nvCxnSpPr>
        <p:spPr>
          <a:xfrm rot="16200000" flipH="1">
            <a:off x="3126755" y="3860982"/>
            <a:ext cx="1008000" cy="360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Соединительная линия уступом 735"/>
          <p:cNvCxnSpPr/>
          <p:nvPr/>
        </p:nvCxnSpPr>
        <p:spPr>
          <a:xfrm rot="5400000">
            <a:off x="3368210" y="4885116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Соединительная линия уступом 736"/>
          <p:cNvCxnSpPr/>
          <p:nvPr/>
        </p:nvCxnSpPr>
        <p:spPr>
          <a:xfrm rot="16200000" flipH="1">
            <a:off x="4280482" y="3831824"/>
            <a:ext cx="1008000" cy="414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Соединительная линия уступом 737"/>
          <p:cNvCxnSpPr/>
          <p:nvPr/>
        </p:nvCxnSpPr>
        <p:spPr>
          <a:xfrm rot="5400000">
            <a:off x="4539387" y="4882958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Соединительная линия уступом 738"/>
          <p:cNvCxnSpPr/>
          <p:nvPr/>
        </p:nvCxnSpPr>
        <p:spPr>
          <a:xfrm rot="16200000" flipH="1">
            <a:off x="5561316" y="3836632"/>
            <a:ext cx="1008000" cy="396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Соединительная линия уступом 739"/>
          <p:cNvCxnSpPr/>
          <p:nvPr/>
        </p:nvCxnSpPr>
        <p:spPr>
          <a:xfrm rot="5400000">
            <a:off x="5790498" y="4851766"/>
            <a:ext cx="792000" cy="162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Соединительная линия уступом 740"/>
          <p:cNvCxnSpPr/>
          <p:nvPr/>
        </p:nvCxnSpPr>
        <p:spPr>
          <a:xfrm rot="16200000" flipH="1">
            <a:off x="8541654" y="3833982"/>
            <a:ext cx="1008000" cy="414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Соединительная линия уступом 741"/>
          <p:cNvCxnSpPr/>
          <p:nvPr/>
        </p:nvCxnSpPr>
        <p:spPr>
          <a:xfrm rot="5400000">
            <a:off x="8800559" y="4885116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Соединительная линия уступом 742"/>
          <p:cNvCxnSpPr/>
          <p:nvPr/>
        </p:nvCxnSpPr>
        <p:spPr>
          <a:xfrm rot="16200000" flipH="1">
            <a:off x="10903658" y="3860982"/>
            <a:ext cx="1008000" cy="360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Соединительная линия уступом 743"/>
          <p:cNvCxnSpPr/>
          <p:nvPr/>
        </p:nvCxnSpPr>
        <p:spPr>
          <a:xfrm rot="5400000">
            <a:off x="11136565" y="4885116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Прямая со стрелкой 744"/>
          <p:cNvCxnSpPr/>
          <p:nvPr/>
        </p:nvCxnSpPr>
        <p:spPr>
          <a:xfrm>
            <a:off x="1747980" y="1735679"/>
            <a:ext cx="16834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46" name="Rectangle 300"/>
          <p:cNvSpPr>
            <a:spLocks noChangeArrowheads="1"/>
          </p:cNvSpPr>
          <p:nvPr/>
        </p:nvSpPr>
        <p:spPr bwMode="auto">
          <a:xfrm>
            <a:off x="422622" y="1547634"/>
            <a:ext cx="29292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ТК от защит</a:t>
            </a:r>
            <a:r>
              <a:rPr kumimoji="0" lang="ru-RU" altLang="ru-RU" sz="11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Т1, ВВ1, СВ</a:t>
            </a:r>
            <a:endParaRPr kumimoji="0" lang="ru-RU" altLang="ru-RU" sz="11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747" name="Rectangle 300"/>
          <p:cNvSpPr>
            <a:spLocks noChangeArrowheads="1"/>
          </p:cNvSpPr>
          <p:nvPr/>
        </p:nvSpPr>
        <p:spPr bwMode="auto">
          <a:xfrm>
            <a:off x="413621" y="1163425"/>
            <a:ext cx="29292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Цепи напряжения 1 секции</a:t>
            </a:r>
            <a:endParaRPr kumimoji="0" lang="ru-RU" altLang="ru-RU" sz="11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cxnSp>
        <p:nvCxnSpPr>
          <p:cNvPr id="748" name="Прямая со стрелкой 747"/>
          <p:cNvCxnSpPr/>
          <p:nvPr/>
        </p:nvCxnSpPr>
        <p:spPr>
          <a:xfrm>
            <a:off x="1747980" y="1348085"/>
            <a:ext cx="16822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49" name="Прямая со стрелкой 748"/>
          <p:cNvCxnSpPr/>
          <p:nvPr/>
        </p:nvCxnSpPr>
        <p:spPr>
          <a:xfrm flipH="1">
            <a:off x="9247500" y="1744470"/>
            <a:ext cx="1650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50" name="Rectangle 300"/>
          <p:cNvSpPr>
            <a:spLocks noChangeArrowheads="1"/>
          </p:cNvSpPr>
          <p:nvPr/>
        </p:nvSpPr>
        <p:spPr bwMode="auto">
          <a:xfrm>
            <a:off x="9381072" y="1548120"/>
            <a:ext cx="29292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ТК от защит</a:t>
            </a:r>
            <a:r>
              <a:rPr kumimoji="0" lang="ru-RU" altLang="ru-RU" sz="11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Т2, ВВ2, СВ</a:t>
            </a:r>
            <a:endParaRPr kumimoji="0" lang="ru-RU" altLang="ru-RU" sz="11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751" name="Rectangle 300"/>
          <p:cNvSpPr>
            <a:spLocks noChangeArrowheads="1"/>
          </p:cNvSpPr>
          <p:nvPr/>
        </p:nvSpPr>
        <p:spPr bwMode="auto">
          <a:xfrm>
            <a:off x="9376594" y="1163122"/>
            <a:ext cx="29292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Цепи напряжения 2 секции</a:t>
            </a:r>
            <a:endParaRPr kumimoji="0" lang="ru-RU" altLang="ru-RU" sz="11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cxnSp>
        <p:nvCxnSpPr>
          <p:cNvPr id="752" name="Прямая со стрелкой 751"/>
          <p:cNvCxnSpPr/>
          <p:nvPr/>
        </p:nvCxnSpPr>
        <p:spPr>
          <a:xfrm flipH="1">
            <a:off x="9247499" y="1356876"/>
            <a:ext cx="16504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4387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032" y="36177"/>
            <a:ext cx="86636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Пример построения </a:t>
            </a:r>
            <a:r>
              <a:rPr lang="ru-RU" sz="2000" b="1" cap="all" dirty="0" err="1" smtClean="0">
                <a:solidFill>
                  <a:prstClr val="white"/>
                </a:solidFill>
                <a:latin typeface="Arial Narrow"/>
              </a:rPr>
              <a:t>здз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 </a:t>
            </a:r>
            <a:r>
              <a:rPr lang="ru-RU" sz="2000" b="1" cap="all" dirty="0" err="1" smtClean="0">
                <a:solidFill>
                  <a:prstClr val="white"/>
                </a:solidFill>
                <a:latin typeface="Arial Narrow"/>
              </a:rPr>
              <a:t>ру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 с двумя секциями и двумя </a:t>
            </a:r>
            <a:r>
              <a:rPr lang="ru-RU" sz="2000" b="1" cap="all" dirty="0" err="1" smtClean="0">
                <a:solidFill>
                  <a:prstClr val="white"/>
                </a:solidFill>
                <a:latin typeface="Arial Narrow"/>
              </a:rPr>
              <a:t>сВ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 </a:t>
            </a:r>
          </a:p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в соответствии </a:t>
            </a:r>
            <a:r>
              <a:rPr lang="ru-RU" sz="2000" b="1" cap="all" dirty="0">
                <a:solidFill>
                  <a:prstClr val="white"/>
                </a:solidFill>
                <a:latin typeface="Arial Narrow"/>
              </a:rPr>
              <a:t>с СТО 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56947007-33.040.20.295-2019</a:t>
            </a:r>
          </a:p>
        </p:txBody>
      </p:sp>
      <p:cxnSp>
        <p:nvCxnSpPr>
          <p:cNvPr id="721" name="Соединительная линия уступом 720"/>
          <p:cNvCxnSpPr/>
          <p:nvPr/>
        </p:nvCxnSpPr>
        <p:spPr>
          <a:xfrm>
            <a:off x="5708402" y="3528714"/>
            <a:ext cx="310247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2" name="Соединительная линия уступом 721"/>
          <p:cNvCxnSpPr/>
          <p:nvPr/>
        </p:nvCxnSpPr>
        <p:spPr>
          <a:xfrm>
            <a:off x="4556274" y="3528714"/>
            <a:ext cx="362661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4" name="Соединительная линия уступом 723"/>
          <p:cNvCxnSpPr/>
          <p:nvPr/>
        </p:nvCxnSpPr>
        <p:spPr>
          <a:xfrm>
            <a:off x="2260360" y="3528714"/>
            <a:ext cx="362661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5" name="Rectangle 5"/>
          <p:cNvSpPr>
            <a:spLocks noChangeArrowheads="1"/>
          </p:cNvSpPr>
          <p:nvPr/>
        </p:nvSpPr>
        <p:spPr bwMode="auto">
          <a:xfrm>
            <a:off x="1730177" y="2709684"/>
            <a:ext cx="1081087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3" name="Rectangle 6"/>
          <p:cNvSpPr>
            <a:spLocks noChangeArrowheads="1"/>
          </p:cNvSpPr>
          <p:nvPr/>
        </p:nvSpPr>
        <p:spPr bwMode="auto">
          <a:xfrm>
            <a:off x="2811264" y="2709684"/>
            <a:ext cx="1135062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4" name="Rectangle 7"/>
          <p:cNvSpPr>
            <a:spLocks noChangeArrowheads="1"/>
          </p:cNvSpPr>
          <p:nvPr/>
        </p:nvSpPr>
        <p:spPr bwMode="auto">
          <a:xfrm>
            <a:off x="3946327" y="2709684"/>
            <a:ext cx="1284800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5" name="Rectangle 8"/>
          <p:cNvSpPr>
            <a:spLocks noChangeArrowheads="1"/>
          </p:cNvSpPr>
          <p:nvPr/>
        </p:nvSpPr>
        <p:spPr bwMode="auto">
          <a:xfrm>
            <a:off x="5231849" y="2709684"/>
            <a:ext cx="1221060" cy="358437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6" name="Rectangle 10"/>
          <p:cNvSpPr>
            <a:spLocks noChangeArrowheads="1"/>
          </p:cNvSpPr>
          <p:nvPr/>
        </p:nvSpPr>
        <p:spPr bwMode="auto">
          <a:xfrm>
            <a:off x="1730177" y="2702115"/>
            <a:ext cx="1081087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7" name="Rectangle 11"/>
          <p:cNvSpPr>
            <a:spLocks noChangeArrowheads="1"/>
          </p:cNvSpPr>
          <p:nvPr/>
        </p:nvSpPr>
        <p:spPr bwMode="auto">
          <a:xfrm>
            <a:off x="1730177" y="4350569"/>
            <a:ext cx="1081087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8" name="Rectangle 12"/>
          <p:cNvSpPr>
            <a:spLocks noChangeArrowheads="1"/>
          </p:cNvSpPr>
          <p:nvPr/>
        </p:nvSpPr>
        <p:spPr bwMode="auto">
          <a:xfrm>
            <a:off x="1730177" y="4891907"/>
            <a:ext cx="1081087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9" name="Rectangle 13"/>
          <p:cNvSpPr>
            <a:spLocks noChangeArrowheads="1"/>
          </p:cNvSpPr>
          <p:nvPr/>
        </p:nvSpPr>
        <p:spPr bwMode="auto">
          <a:xfrm>
            <a:off x="1730177" y="5972994"/>
            <a:ext cx="1081087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60" name="Rectangle 14"/>
          <p:cNvSpPr>
            <a:spLocks noChangeArrowheads="1"/>
          </p:cNvSpPr>
          <p:nvPr/>
        </p:nvSpPr>
        <p:spPr bwMode="auto">
          <a:xfrm>
            <a:off x="2269927" y="4756969"/>
            <a:ext cx="3873500" cy="53975"/>
          </a:xfrm>
          <a:prstGeom prst="rect">
            <a:avLst/>
          </a:prstGeom>
          <a:solidFill>
            <a:srgbClr val="F8B5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61" name="Rectangle 15"/>
          <p:cNvSpPr>
            <a:spLocks noChangeArrowheads="1"/>
          </p:cNvSpPr>
          <p:nvPr/>
        </p:nvSpPr>
        <p:spPr bwMode="auto">
          <a:xfrm>
            <a:off x="2269927" y="4756969"/>
            <a:ext cx="3873500" cy="53975"/>
          </a:xfrm>
          <a:prstGeom prst="rect">
            <a:avLst/>
          </a:prstGeom>
          <a:noFill/>
          <a:ln w="9525" cap="rnd">
            <a:solidFill>
              <a:srgbClr val="F282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62" name="Oval 16"/>
          <p:cNvSpPr>
            <a:spLocks noChangeArrowheads="1"/>
          </p:cNvSpPr>
          <p:nvPr/>
        </p:nvSpPr>
        <p:spPr bwMode="auto">
          <a:xfrm>
            <a:off x="3380483" y="5360219"/>
            <a:ext cx="252412" cy="2524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63" name="Line 17"/>
          <p:cNvSpPr>
            <a:spLocks noChangeShapeType="1"/>
          </p:cNvSpPr>
          <p:nvPr/>
        </p:nvSpPr>
        <p:spPr bwMode="auto">
          <a:xfrm>
            <a:off x="3505895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64" name="Line 18"/>
          <p:cNvSpPr>
            <a:spLocks noChangeShapeType="1"/>
          </p:cNvSpPr>
          <p:nvPr/>
        </p:nvSpPr>
        <p:spPr bwMode="auto">
          <a:xfrm flipH="1">
            <a:off x="3397945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65" name="Line 19"/>
          <p:cNvSpPr>
            <a:spLocks noChangeShapeType="1"/>
          </p:cNvSpPr>
          <p:nvPr/>
        </p:nvSpPr>
        <p:spPr bwMode="auto">
          <a:xfrm>
            <a:off x="3505895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66" name="Line 20"/>
          <p:cNvSpPr>
            <a:spLocks noChangeShapeType="1"/>
          </p:cNvSpPr>
          <p:nvPr/>
        </p:nvSpPr>
        <p:spPr bwMode="auto">
          <a:xfrm flipH="1">
            <a:off x="3397945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67" name="Line 21"/>
          <p:cNvSpPr>
            <a:spLocks noChangeShapeType="1"/>
          </p:cNvSpPr>
          <p:nvPr/>
        </p:nvSpPr>
        <p:spPr bwMode="auto">
          <a:xfrm>
            <a:off x="3505895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68" name="Line 22"/>
          <p:cNvSpPr>
            <a:spLocks noChangeShapeType="1"/>
          </p:cNvSpPr>
          <p:nvPr/>
        </p:nvSpPr>
        <p:spPr bwMode="auto">
          <a:xfrm>
            <a:off x="3505895" y="5090344"/>
            <a:ext cx="0" cy="26987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69" name="Oval 23"/>
          <p:cNvSpPr>
            <a:spLocks noChangeArrowheads="1"/>
          </p:cNvSpPr>
          <p:nvPr/>
        </p:nvSpPr>
        <p:spPr bwMode="auto">
          <a:xfrm>
            <a:off x="3469383" y="5504682"/>
            <a:ext cx="252412" cy="2524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70" name="Freeform 24"/>
          <p:cNvSpPr>
            <a:spLocks/>
          </p:cNvSpPr>
          <p:nvPr/>
        </p:nvSpPr>
        <p:spPr bwMode="auto">
          <a:xfrm>
            <a:off x="3289995" y="5504682"/>
            <a:ext cx="252412" cy="252413"/>
          </a:xfrm>
          <a:custGeom>
            <a:avLst/>
            <a:gdLst>
              <a:gd name="T0" fmla="*/ 159 w 159"/>
              <a:gd name="T1" fmla="*/ 79 h 159"/>
              <a:gd name="T2" fmla="*/ 80 w 159"/>
              <a:gd name="T3" fmla="*/ 0 h 159"/>
              <a:gd name="T4" fmla="*/ 0 w 159"/>
              <a:gd name="T5" fmla="*/ 79 h 159"/>
              <a:gd name="T6" fmla="*/ 80 w 159"/>
              <a:gd name="T7" fmla="*/ 159 h 159"/>
              <a:gd name="T8" fmla="*/ 159 w 159"/>
              <a:gd name="T9" fmla="*/ 7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9" h="159">
                <a:moveTo>
                  <a:pt x="159" y="79"/>
                </a:moveTo>
                <a:cubicBezTo>
                  <a:pt x="159" y="35"/>
                  <a:pt x="123" y="0"/>
                  <a:pt x="80" y="0"/>
                </a:cubicBezTo>
                <a:cubicBezTo>
                  <a:pt x="35" y="0"/>
                  <a:pt x="0" y="35"/>
                  <a:pt x="0" y="79"/>
                </a:cubicBezTo>
                <a:cubicBezTo>
                  <a:pt x="0" y="123"/>
                  <a:pt x="35" y="159"/>
                  <a:pt x="80" y="159"/>
                </a:cubicBezTo>
                <a:cubicBezTo>
                  <a:pt x="123" y="159"/>
                  <a:pt x="159" y="123"/>
                  <a:pt x="159" y="79"/>
                </a:cubicBez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71" name="Oval 25"/>
          <p:cNvSpPr>
            <a:spLocks noChangeArrowheads="1"/>
          </p:cNvSpPr>
          <p:nvPr/>
        </p:nvSpPr>
        <p:spPr bwMode="auto">
          <a:xfrm>
            <a:off x="3478908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72" name="Oval 26"/>
          <p:cNvSpPr>
            <a:spLocks noChangeArrowheads="1"/>
          </p:cNvSpPr>
          <p:nvPr/>
        </p:nvSpPr>
        <p:spPr bwMode="auto">
          <a:xfrm>
            <a:off x="3478908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73" name="Line 27"/>
          <p:cNvSpPr>
            <a:spLocks noChangeShapeType="1"/>
          </p:cNvSpPr>
          <p:nvPr/>
        </p:nvSpPr>
        <p:spPr bwMode="auto">
          <a:xfrm>
            <a:off x="2483869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74" name="Line 28"/>
          <p:cNvSpPr>
            <a:spLocks noChangeShapeType="1"/>
          </p:cNvSpPr>
          <p:nvPr/>
        </p:nvSpPr>
        <p:spPr bwMode="auto">
          <a:xfrm flipH="1">
            <a:off x="2375919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75" name="Line 29"/>
          <p:cNvSpPr>
            <a:spLocks noChangeShapeType="1"/>
          </p:cNvSpPr>
          <p:nvPr/>
        </p:nvSpPr>
        <p:spPr bwMode="auto">
          <a:xfrm>
            <a:off x="2483869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76" name="Line 30"/>
          <p:cNvSpPr>
            <a:spLocks noChangeShapeType="1"/>
          </p:cNvSpPr>
          <p:nvPr/>
        </p:nvSpPr>
        <p:spPr bwMode="auto">
          <a:xfrm flipH="1">
            <a:off x="2375919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77" name="Line 31"/>
          <p:cNvSpPr>
            <a:spLocks noChangeShapeType="1"/>
          </p:cNvSpPr>
          <p:nvPr/>
        </p:nvSpPr>
        <p:spPr bwMode="auto">
          <a:xfrm>
            <a:off x="2483869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78" name="Line 32"/>
          <p:cNvSpPr>
            <a:spLocks noChangeShapeType="1"/>
          </p:cNvSpPr>
          <p:nvPr/>
        </p:nvSpPr>
        <p:spPr bwMode="auto">
          <a:xfrm>
            <a:off x="2483869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79" name="Oval 33"/>
          <p:cNvSpPr>
            <a:spLocks noChangeArrowheads="1"/>
          </p:cNvSpPr>
          <p:nvPr/>
        </p:nvSpPr>
        <p:spPr bwMode="auto">
          <a:xfrm>
            <a:off x="2456882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80" name="Oval 34"/>
          <p:cNvSpPr>
            <a:spLocks noChangeArrowheads="1"/>
          </p:cNvSpPr>
          <p:nvPr/>
        </p:nvSpPr>
        <p:spPr bwMode="auto">
          <a:xfrm>
            <a:off x="2456882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81" name="Line 35"/>
          <p:cNvSpPr>
            <a:spLocks noChangeShapeType="1"/>
          </p:cNvSpPr>
          <p:nvPr/>
        </p:nvSpPr>
        <p:spPr bwMode="auto">
          <a:xfrm flipV="1">
            <a:off x="2483869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82" name="Line 36"/>
          <p:cNvSpPr>
            <a:spLocks noChangeShapeType="1"/>
          </p:cNvSpPr>
          <p:nvPr/>
        </p:nvSpPr>
        <p:spPr bwMode="auto">
          <a:xfrm flipH="1" flipV="1">
            <a:off x="2375919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83" name="Line 37"/>
          <p:cNvSpPr>
            <a:spLocks noChangeShapeType="1"/>
          </p:cNvSpPr>
          <p:nvPr/>
        </p:nvSpPr>
        <p:spPr bwMode="auto">
          <a:xfrm flipV="1">
            <a:off x="2483869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84" name="Line 38"/>
          <p:cNvSpPr>
            <a:spLocks noChangeShapeType="1"/>
          </p:cNvSpPr>
          <p:nvPr/>
        </p:nvSpPr>
        <p:spPr bwMode="auto">
          <a:xfrm flipH="1" flipV="1">
            <a:off x="2375919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85" name="Rectangle 39"/>
          <p:cNvSpPr>
            <a:spLocks noChangeArrowheads="1"/>
          </p:cNvSpPr>
          <p:nvPr/>
        </p:nvSpPr>
        <p:spPr bwMode="auto">
          <a:xfrm>
            <a:off x="2356869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86" name="Rectangle 40"/>
          <p:cNvSpPr>
            <a:spLocks noChangeArrowheads="1"/>
          </p:cNvSpPr>
          <p:nvPr/>
        </p:nvSpPr>
        <p:spPr bwMode="auto">
          <a:xfrm>
            <a:off x="2356869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87" name="Line 41"/>
          <p:cNvSpPr>
            <a:spLocks noChangeShapeType="1"/>
          </p:cNvSpPr>
          <p:nvPr/>
        </p:nvSpPr>
        <p:spPr bwMode="auto">
          <a:xfrm>
            <a:off x="2483869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88" name="Line 42"/>
          <p:cNvSpPr>
            <a:spLocks noChangeShapeType="1"/>
          </p:cNvSpPr>
          <p:nvPr/>
        </p:nvSpPr>
        <p:spPr bwMode="auto">
          <a:xfrm>
            <a:off x="2483869" y="5868219"/>
            <a:ext cx="0" cy="21272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89" name="Freeform 43"/>
          <p:cNvSpPr>
            <a:spLocks/>
          </p:cNvSpPr>
          <p:nvPr/>
        </p:nvSpPr>
        <p:spPr bwMode="auto">
          <a:xfrm>
            <a:off x="2429894" y="6080944"/>
            <a:ext cx="107950" cy="107950"/>
          </a:xfrm>
          <a:custGeom>
            <a:avLst/>
            <a:gdLst>
              <a:gd name="T0" fmla="*/ 0 w 68"/>
              <a:gd name="T1" fmla="*/ 0 h 68"/>
              <a:gd name="T2" fmla="*/ 68 w 68"/>
              <a:gd name="T3" fmla="*/ 0 h 68"/>
              <a:gd name="T4" fmla="*/ 34 w 68"/>
              <a:gd name="T5" fmla="*/ 68 h 68"/>
              <a:gd name="T6" fmla="*/ 0 w 68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90" name="Freeform 44"/>
          <p:cNvSpPr>
            <a:spLocks/>
          </p:cNvSpPr>
          <p:nvPr/>
        </p:nvSpPr>
        <p:spPr bwMode="auto">
          <a:xfrm>
            <a:off x="2429894" y="6080944"/>
            <a:ext cx="107950" cy="107950"/>
          </a:xfrm>
          <a:custGeom>
            <a:avLst/>
            <a:gdLst>
              <a:gd name="T0" fmla="*/ 0 w 68"/>
              <a:gd name="T1" fmla="*/ 0 h 68"/>
              <a:gd name="T2" fmla="*/ 68 w 68"/>
              <a:gd name="T3" fmla="*/ 0 h 68"/>
              <a:gd name="T4" fmla="*/ 34 w 68"/>
              <a:gd name="T5" fmla="*/ 68 h 68"/>
              <a:gd name="T6" fmla="*/ 0 w 68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91" name="Line 45"/>
          <p:cNvSpPr>
            <a:spLocks noChangeShapeType="1"/>
          </p:cNvSpPr>
          <p:nvPr/>
        </p:nvSpPr>
        <p:spPr bwMode="auto">
          <a:xfrm>
            <a:off x="2483869" y="6188894"/>
            <a:ext cx="0" cy="217488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92" name="Rectangle 46"/>
          <p:cNvSpPr>
            <a:spLocks noChangeArrowheads="1"/>
          </p:cNvSpPr>
          <p:nvPr/>
        </p:nvSpPr>
        <p:spPr bwMode="auto">
          <a:xfrm>
            <a:off x="2811264" y="5972994"/>
            <a:ext cx="1135062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93" name="Rectangle 47"/>
          <p:cNvSpPr>
            <a:spLocks noChangeArrowheads="1"/>
          </p:cNvSpPr>
          <p:nvPr/>
        </p:nvSpPr>
        <p:spPr bwMode="auto">
          <a:xfrm>
            <a:off x="2811264" y="4350569"/>
            <a:ext cx="1135062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94" name="Rectangle 48"/>
          <p:cNvSpPr>
            <a:spLocks noChangeArrowheads="1"/>
          </p:cNvSpPr>
          <p:nvPr/>
        </p:nvSpPr>
        <p:spPr bwMode="auto">
          <a:xfrm>
            <a:off x="2811264" y="4891907"/>
            <a:ext cx="1135062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95" name="Line 50"/>
          <p:cNvSpPr>
            <a:spLocks noChangeShapeType="1"/>
          </p:cNvSpPr>
          <p:nvPr/>
        </p:nvSpPr>
        <p:spPr bwMode="auto">
          <a:xfrm>
            <a:off x="4755952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96" name="Line 51"/>
          <p:cNvSpPr>
            <a:spLocks noChangeShapeType="1"/>
          </p:cNvSpPr>
          <p:nvPr/>
        </p:nvSpPr>
        <p:spPr bwMode="auto">
          <a:xfrm flipH="1">
            <a:off x="4648002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97" name="Line 52"/>
          <p:cNvSpPr>
            <a:spLocks noChangeShapeType="1"/>
          </p:cNvSpPr>
          <p:nvPr/>
        </p:nvSpPr>
        <p:spPr bwMode="auto">
          <a:xfrm>
            <a:off x="4755952" y="4999857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98" name="Line 53"/>
          <p:cNvSpPr>
            <a:spLocks noChangeShapeType="1"/>
          </p:cNvSpPr>
          <p:nvPr/>
        </p:nvSpPr>
        <p:spPr bwMode="auto">
          <a:xfrm flipH="1">
            <a:off x="4648002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99" name="Line 54"/>
          <p:cNvSpPr>
            <a:spLocks noChangeShapeType="1"/>
          </p:cNvSpPr>
          <p:nvPr/>
        </p:nvSpPr>
        <p:spPr bwMode="auto">
          <a:xfrm>
            <a:off x="4755952" y="5090344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00" name="Line 55"/>
          <p:cNvSpPr>
            <a:spLocks noChangeShapeType="1"/>
          </p:cNvSpPr>
          <p:nvPr/>
        </p:nvSpPr>
        <p:spPr bwMode="auto">
          <a:xfrm>
            <a:off x="4755952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01" name="Oval 56"/>
          <p:cNvSpPr>
            <a:spLocks noChangeArrowheads="1"/>
          </p:cNvSpPr>
          <p:nvPr/>
        </p:nvSpPr>
        <p:spPr bwMode="auto">
          <a:xfrm>
            <a:off x="4730552" y="4756969"/>
            <a:ext cx="52387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02" name="Oval 57"/>
          <p:cNvSpPr>
            <a:spLocks noChangeArrowheads="1"/>
          </p:cNvSpPr>
          <p:nvPr/>
        </p:nvSpPr>
        <p:spPr bwMode="auto">
          <a:xfrm>
            <a:off x="4730552" y="4756969"/>
            <a:ext cx="52387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03" name="Line 58"/>
          <p:cNvSpPr>
            <a:spLocks noChangeShapeType="1"/>
          </p:cNvSpPr>
          <p:nvPr/>
        </p:nvSpPr>
        <p:spPr bwMode="auto">
          <a:xfrm flipV="1">
            <a:off x="4755952" y="5760269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04" name="Line 59"/>
          <p:cNvSpPr>
            <a:spLocks noChangeShapeType="1"/>
          </p:cNvSpPr>
          <p:nvPr/>
        </p:nvSpPr>
        <p:spPr bwMode="auto">
          <a:xfrm flipH="1" flipV="1">
            <a:off x="4648002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05" name="Line 60"/>
          <p:cNvSpPr>
            <a:spLocks noChangeShapeType="1"/>
          </p:cNvSpPr>
          <p:nvPr/>
        </p:nvSpPr>
        <p:spPr bwMode="auto">
          <a:xfrm flipV="1">
            <a:off x="4755952" y="5669782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06" name="Line 61"/>
          <p:cNvSpPr>
            <a:spLocks noChangeShapeType="1"/>
          </p:cNvSpPr>
          <p:nvPr/>
        </p:nvSpPr>
        <p:spPr bwMode="auto">
          <a:xfrm flipH="1" flipV="1">
            <a:off x="4648002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07" name="Rectangle 62"/>
          <p:cNvSpPr>
            <a:spLocks noChangeArrowheads="1"/>
          </p:cNvSpPr>
          <p:nvPr/>
        </p:nvSpPr>
        <p:spPr bwMode="auto">
          <a:xfrm>
            <a:off x="4630539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08" name="Rectangle 63"/>
          <p:cNvSpPr>
            <a:spLocks noChangeArrowheads="1"/>
          </p:cNvSpPr>
          <p:nvPr/>
        </p:nvSpPr>
        <p:spPr bwMode="auto">
          <a:xfrm>
            <a:off x="4630539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09" name="Line 64"/>
          <p:cNvSpPr>
            <a:spLocks noChangeShapeType="1"/>
          </p:cNvSpPr>
          <p:nvPr/>
        </p:nvSpPr>
        <p:spPr bwMode="auto">
          <a:xfrm>
            <a:off x="4755952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10" name="Line 65"/>
          <p:cNvSpPr>
            <a:spLocks noChangeShapeType="1"/>
          </p:cNvSpPr>
          <p:nvPr/>
        </p:nvSpPr>
        <p:spPr bwMode="auto">
          <a:xfrm>
            <a:off x="4755952" y="5868219"/>
            <a:ext cx="0" cy="21272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11" name="Freeform 66"/>
          <p:cNvSpPr>
            <a:spLocks/>
          </p:cNvSpPr>
          <p:nvPr/>
        </p:nvSpPr>
        <p:spPr bwMode="auto">
          <a:xfrm>
            <a:off x="4701977" y="6080944"/>
            <a:ext cx="109537" cy="107950"/>
          </a:xfrm>
          <a:custGeom>
            <a:avLst/>
            <a:gdLst>
              <a:gd name="T0" fmla="*/ 0 w 69"/>
              <a:gd name="T1" fmla="*/ 0 h 68"/>
              <a:gd name="T2" fmla="*/ 69 w 69"/>
              <a:gd name="T3" fmla="*/ 0 h 68"/>
              <a:gd name="T4" fmla="*/ 34 w 69"/>
              <a:gd name="T5" fmla="*/ 68 h 68"/>
              <a:gd name="T6" fmla="*/ 0 w 69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68">
                <a:moveTo>
                  <a:pt x="0" y="0"/>
                </a:moveTo>
                <a:lnTo>
                  <a:pt x="69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12" name="Freeform 67"/>
          <p:cNvSpPr>
            <a:spLocks/>
          </p:cNvSpPr>
          <p:nvPr/>
        </p:nvSpPr>
        <p:spPr bwMode="auto">
          <a:xfrm>
            <a:off x="4701977" y="6080944"/>
            <a:ext cx="109537" cy="107950"/>
          </a:xfrm>
          <a:custGeom>
            <a:avLst/>
            <a:gdLst>
              <a:gd name="T0" fmla="*/ 0 w 69"/>
              <a:gd name="T1" fmla="*/ 0 h 68"/>
              <a:gd name="T2" fmla="*/ 69 w 69"/>
              <a:gd name="T3" fmla="*/ 0 h 68"/>
              <a:gd name="T4" fmla="*/ 34 w 69"/>
              <a:gd name="T5" fmla="*/ 68 h 68"/>
              <a:gd name="T6" fmla="*/ 0 w 69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68">
                <a:moveTo>
                  <a:pt x="0" y="0"/>
                </a:moveTo>
                <a:lnTo>
                  <a:pt x="69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13" name="Line 68"/>
          <p:cNvSpPr>
            <a:spLocks noChangeShapeType="1"/>
          </p:cNvSpPr>
          <p:nvPr/>
        </p:nvSpPr>
        <p:spPr bwMode="auto">
          <a:xfrm>
            <a:off x="4755952" y="6188894"/>
            <a:ext cx="0" cy="217488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14" name="Rectangle 69"/>
          <p:cNvSpPr>
            <a:spLocks noChangeArrowheads="1"/>
          </p:cNvSpPr>
          <p:nvPr/>
        </p:nvSpPr>
        <p:spPr bwMode="auto">
          <a:xfrm>
            <a:off x="3946327" y="5972994"/>
            <a:ext cx="1279525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15" name="Rectangle 70"/>
          <p:cNvSpPr>
            <a:spLocks noChangeArrowheads="1"/>
          </p:cNvSpPr>
          <p:nvPr/>
        </p:nvSpPr>
        <p:spPr bwMode="auto">
          <a:xfrm>
            <a:off x="3946327" y="4350569"/>
            <a:ext cx="1279525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16" name="Rectangle 71"/>
          <p:cNvSpPr>
            <a:spLocks noChangeArrowheads="1"/>
          </p:cNvSpPr>
          <p:nvPr/>
        </p:nvSpPr>
        <p:spPr bwMode="auto">
          <a:xfrm>
            <a:off x="3946327" y="4891907"/>
            <a:ext cx="1279525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17" name="Rectangle 72"/>
          <p:cNvSpPr>
            <a:spLocks noChangeArrowheads="1"/>
          </p:cNvSpPr>
          <p:nvPr/>
        </p:nvSpPr>
        <p:spPr bwMode="auto">
          <a:xfrm>
            <a:off x="3946327" y="2702115"/>
            <a:ext cx="1287461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18" name="Line 73"/>
          <p:cNvSpPr>
            <a:spLocks noChangeShapeType="1"/>
          </p:cNvSpPr>
          <p:nvPr/>
        </p:nvSpPr>
        <p:spPr bwMode="auto">
          <a:xfrm>
            <a:off x="5981502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19" name="Line 74"/>
          <p:cNvSpPr>
            <a:spLocks noChangeShapeType="1"/>
          </p:cNvSpPr>
          <p:nvPr/>
        </p:nvSpPr>
        <p:spPr bwMode="auto">
          <a:xfrm flipH="1">
            <a:off x="5873552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20" name="Line 75"/>
          <p:cNvSpPr>
            <a:spLocks noChangeShapeType="1"/>
          </p:cNvSpPr>
          <p:nvPr/>
        </p:nvSpPr>
        <p:spPr bwMode="auto">
          <a:xfrm>
            <a:off x="5981502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21" name="Line 76"/>
          <p:cNvSpPr>
            <a:spLocks noChangeShapeType="1"/>
          </p:cNvSpPr>
          <p:nvPr/>
        </p:nvSpPr>
        <p:spPr bwMode="auto">
          <a:xfrm flipH="1">
            <a:off x="5873552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22" name="Line 77"/>
          <p:cNvSpPr>
            <a:spLocks noChangeShapeType="1"/>
          </p:cNvSpPr>
          <p:nvPr/>
        </p:nvSpPr>
        <p:spPr bwMode="auto">
          <a:xfrm>
            <a:off x="5981502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23" name="Line 78"/>
          <p:cNvSpPr>
            <a:spLocks noChangeShapeType="1"/>
          </p:cNvSpPr>
          <p:nvPr/>
        </p:nvSpPr>
        <p:spPr bwMode="auto">
          <a:xfrm>
            <a:off x="5981502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24" name="Oval 79"/>
          <p:cNvSpPr>
            <a:spLocks noChangeArrowheads="1"/>
          </p:cNvSpPr>
          <p:nvPr/>
        </p:nvSpPr>
        <p:spPr bwMode="auto">
          <a:xfrm>
            <a:off x="5954514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25" name="Oval 80"/>
          <p:cNvSpPr>
            <a:spLocks noChangeArrowheads="1"/>
          </p:cNvSpPr>
          <p:nvPr/>
        </p:nvSpPr>
        <p:spPr bwMode="auto">
          <a:xfrm>
            <a:off x="5954514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26" name="Rectangle 81"/>
          <p:cNvSpPr>
            <a:spLocks noChangeArrowheads="1"/>
          </p:cNvSpPr>
          <p:nvPr/>
        </p:nvSpPr>
        <p:spPr bwMode="auto">
          <a:xfrm>
            <a:off x="5856089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27" name="Rectangle 82"/>
          <p:cNvSpPr>
            <a:spLocks noChangeArrowheads="1"/>
          </p:cNvSpPr>
          <p:nvPr/>
        </p:nvSpPr>
        <p:spPr bwMode="auto">
          <a:xfrm>
            <a:off x="5856089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28" name="Line 83"/>
          <p:cNvSpPr>
            <a:spLocks noChangeShapeType="1"/>
          </p:cNvSpPr>
          <p:nvPr/>
        </p:nvSpPr>
        <p:spPr bwMode="auto">
          <a:xfrm>
            <a:off x="5981502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29" name="Rectangle 84"/>
          <p:cNvSpPr>
            <a:spLocks noChangeArrowheads="1"/>
          </p:cNvSpPr>
          <p:nvPr/>
        </p:nvSpPr>
        <p:spPr bwMode="auto">
          <a:xfrm>
            <a:off x="5224080" y="5972994"/>
            <a:ext cx="1232277" cy="53686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30" name="Rectangle 85"/>
          <p:cNvSpPr>
            <a:spLocks noChangeArrowheads="1"/>
          </p:cNvSpPr>
          <p:nvPr/>
        </p:nvSpPr>
        <p:spPr bwMode="auto">
          <a:xfrm>
            <a:off x="5225853" y="4355218"/>
            <a:ext cx="1229694" cy="536689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31" name="Rectangle 87"/>
          <p:cNvSpPr>
            <a:spLocks noChangeArrowheads="1"/>
          </p:cNvSpPr>
          <p:nvPr/>
        </p:nvSpPr>
        <p:spPr bwMode="auto">
          <a:xfrm>
            <a:off x="5231127" y="2702115"/>
            <a:ext cx="1221782" cy="1648454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32" name="Freeform 93"/>
          <p:cNvSpPr>
            <a:spLocks noEditPoints="1"/>
          </p:cNvSpPr>
          <p:nvPr/>
        </p:nvSpPr>
        <p:spPr bwMode="auto">
          <a:xfrm>
            <a:off x="5954514" y="5842819"/>
            <a:ext cx="1008000" cy="572546"/>
          </a:xfrm>
          <a:custGeom>
            <a:avLst/>
            <a:gdLst>
              <a:gd name="T0" fmla="*/ 743 w 743"/>
              <a:gd name="T1" fmla="*/ 0 h 286"/>
              <a:gd name="T2" fmla="*/ 731 w 743"/>
              <a:gd name="T3" fmla="*/ 16 h 286"/>
              <a:gd name="T4" fmla="*/ 720 w 743"/>
              <a:gd name="T5" fmla="*/ 0 h 286"/>
              <a:gd name="T6" fmla="*/ 719 w 743"/>
              <a:gd name="T7" fmla="*/ 252 h 286"/>
              <a:gd name="T8" fmla="*/ 24 w 743"/>
              <a:gd name="T9" fmla="*/ 252 h 286"/>
              <a:gd name="T10" fmla="*/ 24 w 743"/>
              <a:gd name="T11" fmla="*/ 0 h 286"/>
              <a:gd name="T12" fmla="*/ 12 w 743"/>
              <a:gd name="T13" fmla="*/ 16 h 286"/>
              <a:gd name="T14" fmla="*/ 1 w 743"/>
              <a:gd name="T15" fmla="*/ 0 h 286"/>
              <a:gd name="T16" fmla="*/ 0 w 743"/>
              <a:gd name="T17" fmla="*/ 252 h 286"/>
              <a:gd name="T18" fmla="*/ 0 w 743"/>
              <a:gd name="T19" fmla="*/ 286 h 286"/>
              <a:gd name="T20" fmla="*/ 743 w 743"/>
              <a:gd name="T21" fmla="*/ 286 h 286"/>
              <a:gd name="T22" fmla="*/ 743 w 743"/>
              <a:gd name="T23" fmla="*/ 0 h 286"/>
              <a:gd name="T24" fmla="*/ 743 w 743"/>
              <a:gd name="T25" fmla="*/ 0 h 286"/>
              <a:gd name="T26" fmla="*/ 720 w 743"/>
              <a:gd name="T27" fmla="*/ 0 h 286"/>
              <a:gd name="T28" fmla="*/ 719 w 743"/>
              <a:gd name="T29" fmla="*/ 0 h 286"/>
              <a:gd name="T30" fmla="*/ 720 w 743"/>
              <a:gd name="T31" fmla="*/ 0 h 286"/>
              <a:gd name="T32" fmla="*/ 1 w 743"/>
              <a:gd name="T33" fmla="*/ 0 h 286"/>
              <a:gd name="T34" fmla="*/ 0 w 743"/>
              <a:gd name="T35" fmla="*/ 0 h 286"/>
              <a:gd name="T36" fmla="*/ 1 w 743"/>
              <a:gd name="T37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743" h="286">
                <a:moveTo>
                  <a:pt x="743" y="0"/>
                </a:moveTo>
                <a:lnTo>
                  <a:pt x="731" y="16"/>
                </a:lnTo>
                <a:lnTo>
                  <a:pt x="720" y="0"/>
                </a:lnTo>
                <a:lnTo>
                  <a:pt x="719" y="252"/>
                </a:lnTo>
                <a:lnTo>
                  <a:pt x="24" y="252"/>
                </a:lnTo>
                <a:lnTo>
                  <a:pt x="24" y="0"/>
                </a:lnTo>
                <a:lnTo>
                  <a:pt x="12" y="16"/>
                </a:lnTo>
                <a:lnTo>
                  <a:pt x="1" y="0"/>
                </a:lnTo>
                <a:lnTo>
                  <a:pt x="0" y="252"/>
                </a:lnTo>
                <a:lnTo>
                  <a:pt x="0" y="286"/>
                </a:lnTo>
                <a:lnTo>
                  <a:pt x="743" y="286"/>
                </a:lnTo>
                <a:lnTo>
                  <a:pt x="743" y="0"/>
                </a:lnTo>
                <a:lnTo>
                  <a:pt x="743" y="0"/>
                </a:lnTo>
                <a:close/>
                <a:moveTo>
                  <a:pt x="720" y="0"/>
                </a:moveTo>
                <a:lnTo>
                  <a:pt x="719" y="0"/>
                </a:lnTo>
                <a:lnTo>
                  <a:pt x="720" y="0"/>
                </a:lnTo>
                <a:close/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8B5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33" name="Freeform 94"/>
          <p:cNvSpPr>
            <a:spLocks noEditPoints="1"/>
          </p:cNvSpPr>
          <p:nvPr/>
        </p:nvSpPr>
        <p:spPr bwMode="auto">
          <a:xfrm>
            <a:off x="5954514" y="5842819"/>
            <a:ext cx="1008000" cy="572546"/>
          </a:xfrm>
          <a:custGeom>
            <a:avLst/>
            <a:gdLst>
              <a:gd name="T0" fmla="*/ 743 w 743"/>
              <a:gd name="T1" fmla="*/ 0 h 286"/>
              <a:gd name="T2" fmla="*/ 731 w 743"/>
              <a:gd name="T3" fmla="*/ 16 h 286"/>
              <a:gd name="T4" fmla="*/ 720 w 743"/>
              <a:gd name="T5" fmla="*/ 0 h 286"/>
              <a:gd name="T6" fmla="*/ 719 w 743"/>
              <a:gd name="T7" fmla="*/ 252 h 286"/>
              <a:gd name="T8" fmla="*/ 24 w 743"/>
              <a:gd name="T9" fmla="*/ 252 h 286"/>
              <a:gd name="T10" fmla="*/ 24 w 743"/>
              <a:gd name="T11" fmla="*/ 0 h 286"/>
              <a:gd name="T12" fmla="*/ 12 w 743"/>
              <a:gd name="T13" fmla="*/ 16 h 286"/>
              <a:gd name="T14" fmla="*/ 1 w 743"/>
              <a:gd name="T15" fmla="*/ 0 h 286"/>
              <a:gd name="T16" fmla="*/ 0 w 743"/>
              <a:gd name="T17" fmla="*/ 252 h 286"/>
              <a:gd name="T18" fmla="*/ 0 w 743"/>
              <a:gd name="T19" fmla="*/ 286 h 286"/>
              <a:gd name="T20" fmla="*/ 743 w 743"/>
              <a:gd name="T21" fmla="*/ 286 h 286"/>
              <a:gd name="T22" fmla="*/ 743 w 743"/>
              <a:gd name="T23" fmla="*/ 0 h 286"/>
              <a:gd name="T24" fmla="*/ 720 w 743"/>
              <a:gd name="T25" fmla="*/ 0 h 286"/>
              <a:gd name="T26" fmla="*/ 719 w 743"/>
              <a:gd name="T27" fmla="*/ 0 h 286"/>
              <a:gd name="T28" fmla="*/ 1 w 743"/>
              <a:gd name="T29" fmla="*/ 0 h 286"/>
              <a:gd name="T30" fmla="*/ 0 w 743"/>
              <a:gd name="T31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43" h="286">
                <a:moveTo>
                  <a:pt x="743" y="0"/>
                </a:moveTo>
                <a:lnTo>
                  <a:pt x="731" y="16"/>
                </a:lnTo>
                <a:lnTo>
                  <a:pt x="720" y="0"/>
                </a:lnTo>
                <a:lnTo>
                  <a:pt x="719" y="252"/>
                </a:lnTo>
                <a:lnTo>
                  <a:pt x="24" y="252"/>
                </a:lnTo>
                <a:lnTo>
                  <a:pt x="24" y="0"/>
                </a:lnTo>
                <a:lnTo>
                  <a:pt x="12" y="16"/>
                </a:lnTo>
                <a:lnTo>
                  <a:pt x="1" y="0"/>
                </a:lnTo>
                <a:lnTo>
                  <a:pt x="0" y="252"/>
                </a:lnTo>
                <a:lnTo>
                  <a:pt x="0" y="286"/>
                </a:lnTo>
                <a:lnTo>
                  <a:pt x="743" y="286"/>
                </a:lnTo>
                <a:lnTo>
                  <a:pt x="743" y="0"/>
                </a:lnTo>
                <a:moveTo>
                  <a:pt x="720" y="0"/>
                </a:moveTo>
                <a:lnTo>
                  <a:pt x="719" y="0"/>
                </a:lnTo>
                <a:moveTo>
                  <a:pt x="1" y="0"/>
                </a:moveTo>
                <a:lnTo>
                  <a:pt x="0" y="0"/>
                </a:lnTo>
              </a:path>
            </a:pathLst>
          </a:custGeom>
          <a:noFill/>
          <a:ln w="9525" cap="rnd">
            <a:solidFill>
              <a:srgbClr val="F282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34" name="Line 224"/>
          <p:cNvSpPr>
            <a:spLocks noChangeShapeType="1"/>
          </p:cNvSpPr>
          <p:nvPr/>
        </p:nvSpPr>
        <p:spPr bwMode="auto">
          <a:xfrm flipV="1">
            <a:off x="5981502" y="5766619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35" name="Line 225"/>
          <p:cNvSpPr>
            <a:spLocks noChangeShapeType="1"/>
          </p:cNvSpPr>
          <p:nvPr/>
        </p:nvSpPr>
        <p:spPr bwMode="auto">
          <a:xfrm flipH="1" flipV="1">
            <a:off x="5879902" y="5766619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36" name="Line 226"/>
          <p:cNvSpPr>
            <a:spLocks noChangeShapeType="1"/>
          </p:cNvSpPr>
          <p:nvPr/>
        </p:nvSpPr>
        <p:spPr bwMode="auto">
          <a:xfrm flipV="1">
            <a:off x="5981502" y="5677719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37" name="Line 227"/>
          <p:cNvSpPr>
            <a:spLocks noChangeShapeType="1"/>
          </p:cNvSpPr>
          <p:nvPr/>
        </p:nvSpPr>
        <p:spPr bwMode="auto">
          <a:xfrm flipH="1" flipV="1">
            <a:off x="5879902" y="5677719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38" name="Rectangle 240"/>
          <p:cNvSpPr>
            <a:spLocks noChangeArrowheads="1"/>
          </p:cNvSpPr>
          <p:nvPr/>
        </p:nvSpPr>
        <p:spPr bwMode="auto">
          <a:xfrm>
            <a:off x="1065014" y="6236519"/>
            <a:ext cx="9207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-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39" name="Picture 2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082" y="957127"/>
            <a:ext cx="208915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0" name="Rectangle 300"/>
          <p:cNvSpPr>
            <a:spLocks noChangeArrowheads="1"/>
          </p:cNvSpPr>
          <p:nvPr/>
        </p:nvSpPr>
        <p:spPr bwMode="auto">
          <a:xfrm>
            <a:off x="1730177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</a:t>
            </a: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ОЛ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41" name="Rectangle 300"/>
          <p:cNvSpPr>
            <a:spLocks noChangeArrowheads="1"/>
          </p:cNvSpPr>
          <p:nvPr/>
        </p:nvSpPr>
        <p:spPr bwMode="auto">
          <a:xfrm>
            <a:off x="2832845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ТН1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42" name="Rectangle 300"/>
          <p:cNvSpPr>
            <a:spLocks noChangeArrowheads="1"/>
          </p:cNvSpPr>
          <p:nvPr/>
        </p:nvSpPr>
        <p:spPr bwMode="auto">
          <a:xfrm>
            <a:off x="4055865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ВВ1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43" name="Rectangle 300"/>
          <p:cNvSpPr>
            <a:spLocks noChangeArrowheads="1"/>
          </p:cNvSpPr>
          <p:nvPr/>
        </p:nvSpPr>
        <p:spPr bwMode="auto">
          <a:xfrm>
            <a:off x="5225852" y="2798162"/>
            <a:ext cx="132478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СВ1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44" name="Rectangle 300"/>
          <p:cNvSpPr>
            <a:spLocks noChangeArrowheads="1"/>
          </p:cNvSpPr>
          <p:nvPr/>
        </p:nvSpPr>
        <p:spPr bwMode="auto">
          <a:xfrm>
            <a:off x="6508654" y="2798162"/>
            <a:ext cx="90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СВ2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45" name="Блок-схема: ссылка на другую страницу 844"/>
          <p:cNvSpPr/>
          <p:nvPr/>
        </p:nvSpPr>
        <p:spPr>
          <a:xfrm rot="16200000">
            <a:off x="334848" y="3062395"/>
            <a:ext cx="1648453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6" name="Rectangle 317"/>
          <p:cNvSpPr>
            <a:spLocks noChangeArrowheads="1"/>
          </p:cNvSpPr>
          <p:nvPr/>
        </p:nvSpPr>
        <p:spPr bwMode="auto">
          <a:xfrm>
            <a:off x="739850" y="3284984"/>
            <a:ext cx="74699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Релейный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отсек 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ЮНИТ-ДЗ-М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47" name="Блок-схема: ссылка на другую страницу 846"/>
          <p:cNvSpPr/>
          <p:nvPr/>
        </p:nvSpPr>
        <p:spPr>
          <a:xfrm rot="16200000">
            <a:off x="892908" y="4161794"/>
            <a:ext cx="532334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8" name="Блок-схема: ссылка на другую страницу 847"/>
          <p:cNvSpPr/>
          <p:nvPr/>
        </p:nvSpPr>
        <p:spPr>
          <a:xfrm rot="16200000">
            <a:off x="616152" y="4966125"/>
            <a:ext cx="1085849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9" name="Блок-схема: ссылка на другую страницу 848"/>
          <p:cNvSpPr/>
          <p:nvPr/>
        </p:nvSpPr>
        <p:spPr>
          <a:xfrm rot="16200000">
            <a:off x="892515" y="5782237"/>
            <a:ext cx="533121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0" name="Rectangle 317"/>
          <p:cNvSpPr>
            <a:spLocks noChangeArrowheads="1"/>
          </p:cNvSpPr>
          <p:nvPr/>
        </p:nvSpPr>
        <p:spPr bwMode="auto">
          <a:xfrm>
            <a:off x="739850" y="4427820"/>
            <a:ext cx="7774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Отсек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с</a:t>
            </a: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борных шин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51" name="Rectangle 317"/>
          <p:cNvSpPr>
            <a:spLocks noChangeArrowheads="1"/>
          </p:cNvSpPr>
          <p:nvPr/>
        </p:nvSpPr>
        <p:spPr bwMode="auto">
          <a:xfrm>
            <a:off x="738194" y="5066600"/>
            <a:ext cx="82715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Отсек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выключателя/</a:t>
            </a:r>
          </a:p>
          <a:p>
            <a:pPr lvl="0"/>
            <a:r>
              <a:rPr lang="ru-RU" altLang="ru-RU" sz="1200" dirty="0" err="1" smtClean="0">
                <a:solidFill>
                  <a:srgbClr val="000000"/>
                </a:solidFill>
                <a:latin typeface="Arial Narrow" panose="020B0606020202030204" pitchFamily="34" charset="0"/>
              </a:rPr>
              <a:t>выкатного</a:t>
            </a:r>
            <a:endParaRPr lang="ru-RU" altLang="ru-RU" sz="1200" dirty="0" smtClean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lvl="0"/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элемента</a:t>
            </a:r>
            <a:endParaRPr kumimoji="0" lang="ru-RU" altLang="ru-RU" sz="12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852" name="Rectangle 317"/>
          <p:cNvSpPr>
            <a:spLocks noChangeArrowheads="1"/>
          </p:cNvSpPr>
          <p:nvPr/>
        </p:nvSpPr>
        <p:spPr bwMode="auto">
          <a:xfrm>
            <a:off x="739850" y="5971346"/>
            <a:ext cx="44403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ru-RU" altLang="ru-RU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Отсек</a:t>
            </a:r>
          </a:p>
          <a:p>
            <a:pPr lvl="0"/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ввода/</a:t>
            </a:r>
          </a:p>
          <a:p>
            <a:pPr lvl="0"/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вывода</a:t>
            </a:r>
            <a:endParaRPr lang="ru-RU" altLang="ru-RU" dirty="0"/>
          </a:p>
        </p:txBody>
      </p:sp>
      <p:sp>
        <p:nvSpPr>
          <p:cNvPr id="853" name="Rectangle 49"/>
          <p:cNvSpPr>
            <a:spLocks noChangeArrowheads="1"/>
          </p:cNvSpPr>
          <p:nvPr/>
        </p:nvSpPr>
        <p:spPr bwMode="auto">
          <a:xfrm>
            <a:off x="2811264" y="2702115"/>
            <a:ext cx="1135062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854" name="Группа 853"/>
          <p:cNvGrpSpPr/>
          <p:nvPr/>
        </p:nvGrpSpPr>
        <p:grpSpPr>
          <a:xfrm>
            <a:off x="1741554" y="3100882"/>
            <a:ext cx="625475" cy="3177958"/>
            <a:chOff x="7968208" y="2907977"/>
            <a:chExt cx="625475" cy="3177958"/>
          </a:xfrm>
        </p:grpSpPr>
        <p:pic>
          <p:nvPicPr>
            <p:cNvPr id="855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6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57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58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59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0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1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2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3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4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5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6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7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8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9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0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1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2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3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4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5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6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7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8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9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0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1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882" name="Группа 881"/>
          <p:cNvGrpSpPr/>
          <p:nvPr/>
        </p:nvGrpSpPr>
        <p:grpSpPr>
          <a:xfrm>
            <a:off x="3956803" y="3100882"/>
            <a:ext cx="625475" cy="3177958"/>
            <a:chOff x="7968208" y="2907977"/>
            <a:chExt cx="625475" cy="3177958"/>
          </a:xfrm>
        </p:grpSpPr>
        <p:pic>
          <p:nvPicPr>
            <p:cNvPr id="883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4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5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6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7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8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9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0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1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2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3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4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5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6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7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8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9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0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1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2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3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4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5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6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7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8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9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910" name="Группа 909"/>
          <p:cNvGrpSpPr/>
          <p:nvPr/>
        </p:nvGrpSpPr>
        <p:grpSpPr>
          <a:xfrm>
            <a:off x="5242183" y="3100882"/>
            <a:ext cx="625475" cy="3177958"/>
            <a:chOff x="7968208" y="2907977"/>
            <a:chExt cx="625475" cy="3177958"/>
          </a:xfrm>
        </p:grpSpPr>
        <p:pic>
          <p:nvPicPr>
            <p:cNvPr id="911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2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13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14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15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16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17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18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19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20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21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22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23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24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25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26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27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28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29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30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31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32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33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34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35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36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37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938" name="Группа 937"/>
          <p:cNvGrpSpPr/>
          <p:nvPr/>
        </p:nvGrpSpPr>
        <p:grpSpPr>
          <a:xfrm>
            <a:off x="2826123" y="3100882"/>
            <a:ext cx="625475" cy="2355633"/>
            <a:chOff x="7968208" y="2907977"/>
            <a:chExt cx="625475" cy="2355633"/>
          </a:xfrm>
        </p:grpSpPr>
        <p:pic>
          <p:nvPicPr>
            <p:cNvPr id="939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0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41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42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43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44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45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46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47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48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49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50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51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52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53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54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55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56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957" name="Двойная стрелка вверх/вниз 956"/>
          <p:cNvSpPr/>
          <p:nvPr/>
        </p:nvSpPr>
        <p:spPr>
          <a:xfrm>
            <a:off x="2875534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58" name="Двойная стрелка вверх/вниз 957"/>
          <p:cNvSpPr/>
          <p:nvPr/>
        </p:nvSpPr>
        <p:spPr>
          <a:xfrm>
            <a:off x="1864285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59" name="Двойная стрелка вверх/вниз 958"/>
          <p:cNvSpPr/>
          <p:nvPr/>
        </p:nvSpPr>
        <p:spPr>
          <a:xfrm>
            <a:off x="4101278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0" name="Двойная стрелка вверх/вниз 959"/>
          <p:cNvSpPr/>
          <p:nvPr/>
        </p:nvSpPr>
        <p:spPr>
          <a:xfrm>
            <a:off x="5371690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1" name="Прямоугольник 960"/>
          <p:cNvSpPr/>
          <p:nvPr/>
        </p:nvSpPr>
        <p:spPr>
          <a:xfrm>
            <a:off x="1747980" y="2348880"/>
            <a:ext cx="4392000" cy="14401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2" name="Rectangle 300"/>
          <p:cNvSpPr>
            <a:spLocks noChangeArrowheads="1"/>
          </p:cNvSpPr>
          <p:nvPr/>
        </p:nvSpPr>
        <p:spPr bwMode="auto">
          <a:xfrm>
            <a:off x="1842568" y="2328303"/>
            <a:ext cx="150826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CAN-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шина</a:t>
            </a:r>
            <a:r>
              <a:rPr kumimoji="0" lang="ru-RU" altLang="ru-RU" sz="11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1 секции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63" name="Двойная стрелка влево/вверх 962"/>
          <p:cNvSpPr/>
          <p:nvPr/>
        </p:nvSpPr>
        <p:spPr>
          <a:xfrm rot="16200000">
            <a:off x="9244097" y="1936534"/>
            <a:ext cx="394764" cy="379128"/>
          </a:xfrm>
          <a:prstGeom prst="leftUpArrow">
            <a:avLst>
              <a:gd name="adj1" fmla="val 14951"/>
              <a:gd name="adj2" fmla="val 13276"/>
              <a:gd name="adj3" fmla="val 2835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4" name="Прямоугольник 963"/>
          <p:cNvSpPr/>
          <p:nvPr/>
        </p:nvSpPr>
        <p:spPr>
          <a:xfrm>
            <a:off x="4782939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5" name="Rectangle 300"/>
          <p:cNvSpPr>
            <a:spLocks noChangeArrowheads="1"/>
          </p:cNvSpPr>
          <p:nvPr/>
        </p:nvSpPr>
        <p:spPr bwMode="auto">
          <a:xfrm>
            <a:off x="4807591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66" name="Соединительная линия уступом 965"/>
          <p:cNvCxnSpPr>
            <a:endCxn id="808" idx="3"/>
          </p:cNvCxnSpPr>
          <p:nvPr/>
        </p:nvCxnSpPr>
        <p:spPr>
          <a:xfrm rot="5400000">
            <a:off x="4370718" y="4734540"/>
            <a:ext cx="1210145" cy="18567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7" name="Прямоугольник 966"/>
          <p:cNvSpPr/>
          <p:nvPr/>
        </p:nvSpPr>
        <p:spPr>
          <a:xfrm>
            <a:off x="2473625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8" name="Rectangle 300"/>
          <p:cNvSpPr>
            <a:spLocks noChangeArrowheads="1"/>
          </p:cNvSpPr>
          <p:nvPr/>
        </p:nvSpPr>
        <p:spPr bwMode="auto">
          <a:xfrm>
            <a:off x="2498277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69" name="Соединительная линия уступом 968"/>
          <p:cNvCxnSpPr>
            <a:endCxn id="786" idx="3"/>
          </p:cNvCxnSpPr>
          <p:nvPr/>
        </p:nvCxnSpPr>
        <p:spPr>
          <a:xfrm rot="5400000">
            <a:off x="2085927" y="4745661"/>
            <a:ext cx="1210145" cy="16343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0" name="Прямоугольник 969"/>
          <p:cNvSpPr/>
          <p:nvPr/>
        </p:nvSpPr>
        <p:spPr>
          <a:xfrm>
            <a:off x="5924426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1" name="Rectangle 300"/>
          <p:cNvSpPr>
            <a:spLocks noChangeArrowheads="1"/>
          </p:cNvSpPr>
          <p:nvPr/>
        </p:nvSpPr>
        <p:spPr bwMode="auto">
          <a:xfrm>
            <a:off x="5949078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72" name="Соединительная линия уступом 971"/>
          <p:cNvCxnSpPr>
            <a:stCxn id="970" idx="3"/>
            <a:endCxn id="827" idx="3"/>
          </p:cNvCxnSpPr>
          <p:nvPr/>
        </p:nvCxnSpPr>
        <p:spPr>
          <a:xfrm flipH="1">
            <a:off x="6108501" y="3979640"/>
            <a:ext cx="139925" cy="1452811"/>
          </a:xfrm>
          <a:prstGeom prst="bentConnector3">
            <a:avLst>
              <a:gd name="adj1" fmla="val -6920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3" name="Прямоугольник 972"/>
          <p:cNvSpPr/>
          <p:nvPr/>
        </p:nvSpPr>
        <p:spPr>
          <a:xfrm>
            <a:off x="6636568" y="2348880"/>
            <a:ext cx="4572000" cy="14401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4" name="Rectangle 300"/>
          <p:cNvSpPr>
            <a:spLocks noChangeArrowheads="1"/>
          </p:cNvSpPr>
          <p:nvPr/>
        </p:nvSpPr>
        <p:spPr bwMode="auto">
          <a:xfrm>
            <a:off x="6731155" y="2328303"/>
            <a:ext cx="150826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CAN-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шина</a:t>
            </a:r>
            <a:r>
              <a:rPr kumimoji="0" lang="ru-RU" altLang="ru-RU" sz="11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2 секции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75" name="Блок-схема: ссылка на другую страницу 974"/>
          <p:cNvSpPr/>
          <p:nvPr/>
        </p:nvSpPr>
        <p:spPr>
          <a:xfrm rot="16200000">
            <a:off x="286581" y="1365674"/>
            <a:ext cx="1744987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6" name="Rectangle 317"/>
          <p:cNvSpPr>
            <a:spLocks noChangeArrowheads="1"/>
          </p:cNvSpPr>
          <p:nvPr/>
        </p:nvSpPr>
        <p:spPr bwMode="auto">
          <a:xfrm>
            <a:off x="739850" y="1552620"/>
            <a:ext cx="80791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ЮНИТ-М310-ЦД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0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и</a:t>
            </a:r>
            <a:r>
              <a:rPr kumimoji="0" lang="ru-RU" altLang="ru-RU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ли</a:t>
            </a:r>
          </a:p>
          <a:p>
            <a:r>
              <a:rPr lang="ru-RU" altLang="ru-RU" sz="10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ЮНИТ-М314-ЦД</a:t>
            </a:r>
          </a:p>
          <a:p>
            <a:r>
              <a:rPr lang="ru-RU" altLang="ru-RU" sz="10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+</a:t>
            </a:r>
            <a:endParaRPr lang="ru-RU" altLang="ru-RU" sz="10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r>
              <a:rPr lang="ru-RU" altLang="ru-RU" sz="10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ЮНИТ-ИЧМ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77" name="Picture 2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072" y="950777"/>
            <a:ext cx="208915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8" name="Двойная стрелка влево/вверх 977"/>
          <p:cNvSpPr/>
          <p:nvPr/>
        </p:nvSpPr>
        <p:spPr>
          <a:xfrm rot="10800000">
            <a:off x="3058888" y="1917022"/>
            <a:ext cx="394764" cy="398639"/>
          </a:xfrm>
          <a:prstGeom prst="leftUpArrow">
            <a:avLst>
              <a:gd name="adj1" fmla="val 14951"/>
              <a:gd name="adj2" fmla="val 13276"/>
              <a:gd name="adj3" fmla="val 2835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79" name="Соединительная линия уступом 978"/>
          <p:cNvCxnSpPr/>
          <p:nvPr/>
        </p:nvCxnSpPr>
        <p:spPr>
          <a:xfrm>
            <a:off x="8258029" y="3528714"/>
            <a:ext cx="362661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0" name="Rectangle 7"/>
          <p:cNvSpPr>
            <a:spLocks noChangeArrowheads="1"/>
          </p:cNvSpPr>
          <p:nvPr/>
        </p:nvSpPr>
        <p:spPr bwMode="auto">
          <a:xfrm>
            <a:off x="7648082" y="2709684"/>
            <a:ext cx="1279525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81" name="Line 50"/>
          <p:cNvSpPr>
            <a:spLocks noChangeShapeType="1"/>
          </p:cNvSpPr>
          <p:nvPr/>
        </p:nvSpPr>
        <p:spPr bwMode="auto">
          <a:xfrm>
            <a:off x="8457707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82" name="Line 51"/>
          <p:cNvSpPr>
            <a:spLocks noChangeShapeType="1"/>
          </p:cNvSpPr>
          <p:nvPr/>
        </p:nvSpPr>
        <p:spPr bwMode="auto">
          <a:xfrm flipH="1">
            <a:off x="8349757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83" name="Line 52"/>
          <p:cNvSpPr>
            <a:spLocks noChangeShapeType="1"/>
          </p:cNvSpPr>
          <p:nvPr/>
        </p:nvSpPr>
        <p:spPr bwMode="auto">
          <a:xfrm>
            <a:off x="8457707" y="4999857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84" name="Line 53"/>
          <p:cNvSpPr>
            <a:spLocks noChangeShapeType="1"/>
          </p:cNvSpPr>
          <p:nvPr/>
        </p:nvSpPr>
        <p:spPr bwMode="auto">
          <a:xfrm flipH="1">
            <a:off x="8349757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85" name="Line 54"/>
          <p:cNvSpPr>
            <a:spLocks noChangeShapeType="1"/>
          </p:cNvSpPr>
          <p:nvPr/>
        </p:nvSpPr>
        <p:spPr bwMode="auto">
          <a:xfrm>
            <a:off x="8457707" y="5090344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86" name="Line 55"/>
          <p:cNvSpPr>
            <a:spLocks noChangeShapeType="1"/>
          </p:cNvSpPr>
          <p:nvPr/>
        </p:nvSpPr>
        <p:spPr bwMode="auto">
          <a:xfrm>
            <a:off x="8457707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87" name="Oval 56"/>
          <p:cNvSpPr>
            <a:spLocks noChangeArrowheads="1"/>
          </p:cNvSpPr>
          <p:nvPr/>
        </p:nvSpPr>
        <p:spPr bwMode="auto">
          <a:xfrm>
            <a:off x="8432307" y="4756969"/>
            <a:ext cx="52387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88" name="Oval 57"/>
          <p:cNvSpPr>
            <a:spLocks noChangeArrowheads="1"/>
          </p:cNvSpPr>
          <p:nvPr/>
        </p:nvSpPr>
        <p:spPr bwMode="auto">
          <a:xfrm>
            <a:off x="8432307" y="4756969"/>
            <a:ext cx="52387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89" name="Line 58"/>
          <p:cNvSpPr>
            <a:spLocks noChangeShapeType="1"/>
          </p:cNvSpPr>
          <p:nvPr/>
        </p:nvSpPr>
        <p:spPr bwMode="auto">
          <a:xfrm flipV="1">
            <a:off x="8457707" y="5760269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90" name="Line 59"/>
          <p:cNvSpPr>
            <a:spLocks noChangeShapeType="1"/>
          </p:cNvSpPr>
          <p:nvPr/>
        </p:nvSpPr>
        <p:spPr bwMode="auto">
          <a:xfrm flipH="1" flipV="1">
            <a:off x="8349757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91" name="Line 60"/>
          <p:cNvSpPr>
            <a:spLocks noChangeShapeType="1"/>
          </p:cNvSpPr>
          <p:nvPr/>
        </p:nvSpPr>
        <p:spPr bwMode="auto">
          <a:xfrm flipV="1">
            <a:off x="8457707" y="5669782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92" name="Line 61"/>
          <p:cNvSpPr>
            <a:spLocks noChangeShapeType="1"/>
          </p:cNvSpPr>
          <p:nvPr/>
        </p:nvSpPr>
        <p:spPr bwMode="auto">
          <a:xfrm flipH="1" flipV="1">
            <a:off x="8349757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93" name="Rectangle 62"/>
          <p:cNvSpPr>
            <a:spLocks noChangeArrowheads="1"/>
          </p:cNvSpPr>
          <p:nvPr/>
        </p:nvSpPr>
        <p:spPr bwMode="auto">
          <a:xfrm>
            <a:off x="8332294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94" name="Rectangle 63"/>
          <p:cNvSpPr>
            <a:spLocks noChangeArrowheads="1"/>
          </p:cNvSpPr>
          <p:nvPr/>
        </p:nvSpPr>
        <p:spPr bwMode="auto">
          <a:xfrm>
            <a:off x="8332294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95" name="Line 64"/>
          <p:cNvSpPr>
            <a:spLocks noChangeShapeType="1"/>
          </p:cNvSpPr>
          <p:nvPr/>
        </p:nvSpPr>
        <p:spPr bwMode="auto">
          <a:xfrm>
            <a:off x="8457707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96" name="Line 65"/>
          <p:cNvSpPr>
            <a:spLocks noChangeShapeType="1"/>
          </p:cNvSpPr>
          <p:nvPr/>
        </p:nvSpPr>
        <p:spPr bwMode="auto">
          <a:xfrm>
            <a:off x="8457707" y="5868219"/>
            <a:ext cx="0" cy="21272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97" name="Freeform 66"/>
          <p:cNvSpPr>
            <a:spLocks/>
          </p:cNvSpPr>
          <p:nvPr/>
        </p:nvSpPr>
        <p:spPr bwMode="auto">
          <a:xfrm>
            <a:off x="8403732" y="6080944"/>
            <a:ext cx="109537" cy="107950"/>
          </a:xfrm>
          <a:custGeom>
            <a:avLst/>
            <a:gdLst>
              <a:gd name="T0" fmla="*/ 0 w 69"/>
              <a:gd name="T1" fmla="*/ 0 h 68"/>
              <a:gd name="T2" fmla="*/ 69 w 69"/>
              <a:gd name="T3" fmla="*/ 0 h 68"/>
              <a:gd name="T4" fmla="*/ 34 w 69"/>
              <a:gd name="T5" fmla="*/ 68 h 68"/>
              <a:gd name="T6" fmla="*/ 0 w 69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68">
                <a:moveTo>
                  <a:pt x="0" y="0"/>
                </a:moveTo>
                <a:lnTo>
                  <a:pt x="69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98" name="Freeform 67"/>
          <p:cNvSpPr>
            <a:spLocks/>
          </p:cNvSpPr>
          <p:nvPr/>
        </p:nvSpPr>
        <p:spPr bwMode="auto">
          <a:xfrm>
            <a:off x="8403732" y="6080944"/>
            <a:ext cx="109537" cy="107950"/>
          </a:xfrm>
          <a:custGeom>
            <a:avLst/>
            <a:gdLst>
              <a:gd name="T0" fmla="*/ 0 w 69"/>
              <a:gd name="T1" fmla="*/ 0 h 68"/>
              <a:gd name="T2" fmla="*/ 69 w 69"/>
              <a:gd name="T3" fmla="*/ 0 h 68"/>
              <a:gd name="T4" fmla="*/ 34 w 69"/>
              <a:gd name="T5" fmla="*/ 68 h 68"/>
              <a:gd name="T6" fmla="*/ 0 w 69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68">
                <a:moveTo>
                  <a:pt x="0" y="0"/>
                </a:moveTo>
                <a:lnTo>
                  <a:pt x="69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99" name="Line 68"/>
          <p:cNvSpPr>
            <a:spLocks noChangeShapeType="1"/>
          </p:cNvSpPr>
          <p:nvPr/>
        </p:nvSpPr>
        <p:spPr bwMode="auto">
          <a:xfrm>
            <a:off x="8457707" y="6188894"/>
            <a:ext cx="0" cy="217488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00" name="Rectangle 69"/>
          <p:cNvSpPr>
            <a:spLocks noChangeArrowheads="1"/>
          </p:cNvSpPr>
          <p:nvPr/>
        </p:nvSpPr>
        <p:spPr bwMode="auto">
          <a:xfrm>
            <a:off x="7648082" y="5972994"/>
            <a:ext cx="1279525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01" name="Rectangle 70"/>
          <p:cNvSpPr>
            <a:spLocks noChangeArrowheads="1"/>
          </p:cNvSpPr>
          <p:nvPr/>
        </p:nvSpPr>
        <p:spPr bwMode="auto">
          <a:xfrm>
            <a:off x="7648082" y="4350569"/>
            <a:ext cx="1279525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02" name="Rectangle 71"/>
          <p:cNvSpPr>
            <a:spLocks noChangeArrowheads="1"/>
          </p:cNvSpPr>
          <p:nvPr/>
        </p:nvSpPr>
        <p:spPr bwMode="auto">
          <a:xfrm>
            <a:off x="7648082" y="4891907"/>
            <a:ext cx="1279525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03" name="Rectangle 72"/>
          <p:cNvSpPr>
            <a:spLocks noChangeArrowheads="1"/>
          </p:cNvSpPr>
          <p:nvPr/>
        </p:nvSpPr>
        <p:spPr bwMode="auto">
          <a:xfrm>
            <a:off x="7648082" y="2702115"/>
            <a:ext cx="1279525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04" name="Rectangle 300"/>
          <p:cNvSpPr>
            <a:spLocks noChangeArrowheads="1"/>
          </p:cNvSpPr>
          <p:nvPr/>
        </p:nvSpPr>
        <p:spPr bwMode="auto">
          <a:xfrm>
            <a:off x="7757620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ВВ2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05" name="Прямоугольник 1004"/>
          <p:cNvSpPr/>
          <p:nvPr/>
        </p:nvSpPr>
        <p:spPr>
          <a:xfrm>
            <a:off x="8508304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6" name="Rectangle 300"/>
          <p:cNvSpPr>
            <a:spLocks noChangeArrowheads="1"/>
          </p:cNvSpPr>
          <p:nvPr/>
        </p:nvSpPr>
        <p:spPr bwMode="auto">
          <a:xfrm>
            <a:off x="8532956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07" name="Соединительная линия уступом 1006"/>
          <p:cNvCxnSpPr>
            <a:endCxn id="994" idx="3"/>
          </p:cNvCxnSpPr>
          <p:nvPr/>
        </p:nvCxnSpPr>
        <p:spPr>
          <a:xfrm rot="5400000">
            <a:off x="8072473" y="4734540"/>
            <a:ext cx="1210145" cy="18567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8" name="Rectangle 6"/>
          <p:cNvSpPr>
            <a:spLocks noChangeArrowheads="1"/>
          </p:cNvSpPr>
          <p:nvPr/>
        </p:nvSpPr>
        <p:spPr bwMode="auto">
          <a:xfrm>
            <a:off x="6457080" y="2709684"/>
            <a:ext cx="1190034" cy="358437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09" name="Rectangle 87"/>
          <p:cNvSpPr>
            <a:spLocks noChangeArrowheads="1"/>
          </p:cNvSpPr>
          <p:nvPr/>
        </p:nvSpPr>
        <p:spPr bwMode="auto">
          <a:xfrm>
            <a:off x="6456358" y="2702115"/>
            <a:ext cx="1193805" cy="1651261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10" name="Rectangle 14"/>
          <p:cNvSpPr>
            <a:spLocks noChangeArrowheads="1"/>
          </p:cNvSpPr>
          <p:nvPr/>
        </p:nvSpPr>
        <p:spPr bwMode="auto">
          <a:xfrm>
            <a:off x="6726108" y="4756969"/>
            <a:ext cx="4248000" cy="53975"/>
          </a:xfrm>
          <a:prstGeom prst="rect">
            <a:avLst/>
          </a:prstGeom>
          <a:solidFill>
            <a:srgbClr val="F8B5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11" name="Rectangle 15"/>
          <p:cNvSpPr>
            <a:spLocks noChangeArrowheads="1"/>
          </p:cNvSpPr>
          <p:nvPr/>
        </p:nvSpPr>
        <p:spPr bwMode="auto">
          <a:xfrm>
            <a:off x="6726108" y="4756969"/>
            <a:ext cx="4248000" cy="53975"/>
          </a:xfrm>
          <a:prstGeom prst="rect">
            <a:avLst/>
          </a:prstGeom>
          <a:noFill/>
          <a:ln w="9525" cap="rnd">
            <a:solidFill>
              <a:srgbClr val="F282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12" name="Oval 56"/>
          <p:cNvSpPr>
            <a:spLocks noChangeArrowheads="1"/>
          </p:cNvSpPr>
          <p:nvPr/>
        </p:nvSpPr>
        <p:spPr bwMode="auto">
          <a:xfrm>
            <a:off x="8434391" y="4756969"/>
            <a:ext cx="52387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13" name="Oval 57"/>
          <p:cNvSpPr>
            <a:spLocks noChangeArrowheads="1"/>
          </p:cNvSpPr>
          <p:nvPr/>
        </p:nvSpPr>
        <p:spPr bwMode="auto">
          <a:xfrm>
            <a:off x="8434391" y="4756969"/>
            <a:ext cx="52387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14" name="Oval 79"/>
          <p:cNvSpPr>
            <a:spLocks noChangeArrowheads="1"/>
          </p:cNvSpPr>
          <p:nvPr/>
        </p:nvSpPr>
        <p:spPr bwMode="auto">
          <a:xfrm>
            <a:off x="10410695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15" name="Oval 80"/>
          <p:cNvSpPr>
            <a:spLocks noChangeArrowheads="1"/>
          </p:cNvSpPr>
          <p:nvPr/>
        </p:nvSpPr>
        <p:spPr bwMode="auto">
          <a:xfrm>
            <a:off x="10410695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16" name="Line 50"/>
          <p:cNvSpPr>
            <a:spLocks noChangeShapeType="1"/>
          </p:cNvSpPr>
          <p:nvPr/>
        </p:nvSpPr>
        <p:spPr bwMode="auto">
          <a:xfrm>
            <a:off x="6948193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17" name="Line 51"/>
          <p:cNvSpPr>
            <a:spLocks noChangeShapeType="1"/>
          </p:cNvSpPr>
          <p:nvPr/>
        </p:nvSpPr>
        <p:spPr bwMode="auto">
          <a:xfrm flipH="1">
            <a:off x="6840243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18" name="Line 52"/>
          <p:cNvSpPr>
            <a:spLocks noChangeShapeType="1"/>
          </p:cNvSpPr>
          <p:nvPr/>
        </p:nvSpPr>
        <p:spPr bwMode="auto">
          <a:xfrm>
            <a:off x="6948193" y="4999857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19" name="Line 53"/>
          <p:cNvSpPr>
            <a:spLocks noChangeShapeType="1"/>
          </p:cNvSpPr>
          <p:nvPr/>
        </p:nvSpPr>
        <p:spPr bwMode="auto">
          <a:xfrm flipH="1">
            <a:off x="6840243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0" name="Line 54"/>
          <p:cNvSpPr>
            <a:spLocks noChangeShapeType="1"/>
          </p:cNvSpPr>
          <p:nvPr/>
        </p:nvSpPr>
        <p:spPr bwMode="auto">
          <a:xfrm>
            <a:off x="6948193" y="5090344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1" name="Oval 56"/>
          <p:cNvSpPr>
            <a:spLocks noChangeArrowheads="1"/>
          </p:cNvSpPr>
          <p:nvPr/>
        </p:nvSpPr>
        <p:spPr bwMode="auto">
          <a:xfrm>
            <a:off x="6922793" y="4756969"/>
            <a:ext cx="52387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2" name="Oval 57"/>
          <p:cNvSpPr>
            <a:spLocks noChangeArrowheads="1"/>
          </p:cNvSpPr>
          <p:nvPr/>
        </p:nvSpPr>
        <p:spPr bwMode="auto">
          <a:xfrm>
            <a:off x="6922793" y="4756969"/>
            <a:ext cx="52387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3" name="Line 58"/>
          <p:cNvSpPr>
            <a:spLocks noChangeShapeType="1"/>
          </p:cNvSpPr>
          <p:nvPr/>
        </p:nvSpPr>
        <p:spPr bwMode="auto">
          <a:xfrm flipV="1">
            <a:off x="6948193" y="5760269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4" name="Line 59"/>
          <p:cNvSpPr>
            <a:spLocks noChangeShapeType="1"/>
          </p:cNvSpPr>
          <p:nvPr/>
        </p:nvSpPr>
        <p:spPr bwMode="auto">
          <a:xfrm flipH="1" flipV="1">
            <a:off x="6840243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5" name="Line 60"/>
          <p:cNvSpPr>
            <a:spLocks noChangeShapeType="1"/>
          </p:cNvSpPr>
          <p:nvPr/>
        </p:nvSpPr>
        <p:spPr bwMode="auto">
          <a:xfrm flipV="1">
            <a:off x="6948193" y="5669782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6" name="Line 61"/>
          <p:cNvSpPr>
            <a:spLocks noChangeShapeType="1"/>
          </p:cNvSpPr>
          <p:nvPr/>
        </p:nvSpPr>
        <p:spPr bwMode="auto">
          <a:xfrm flipH="1" flipV="1">
            <a:off x="6840243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7" name="Rectangle 69"/>
          <p:cNvSpPr>
            <a:spLocks noChangeArrowheads="1"/>
          </p:cNvSpPr>
          <p:nvPr/>
        </p:nvSpPr>
        <p:spPr bwMode="auto">
          <a:xfrm>
            <a:off x="6452870" y="5972994"/>
            <a:ext cx="1197293" cy="53686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8" name="Rectangle 48"/>
          <p:cNvSpPr>
            <a:spLocks noChangeArrowheads="1"/>
          </p:cNvSpPr>
          <p:nvPr/>
        </p:nvSpPr>
        <p:spPr bwMode="auto">
          <a:xfrm>
            <a:off x="6457631" y="4890240"/>
            <a:ext cx="1194120" cy="1084597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1029" name="Группа 1028"/>
          <p:cNvGrpSpPr/>
          <p:nvPr/>
        </p:nvGrpSpPr>
        <p:grpSpPr>
          <a:xfrm>
            <a:off x="7658558" y="3100882"/>
            <a:ext cx="625475" cy="3177958"/>
            <a:chOff x="7968208" y="2907977"/>
            <a:chExt cx="625475" cy="3177958"/>
          </a:xfrm>
        </p:grpSpPr>
        <p:pic>
          <p:nvPicPr>
            <p:cNvPr id="1030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1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2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3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4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5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6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7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8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9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0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1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2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3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4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5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6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7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8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9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0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1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2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3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4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5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6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057" name="Группа 1056"/>
          <p:cNvGrpSpPr/>
          <p:nvPr/>
        </p:nvGrpSpPr>
        <p:grpSpPr>
          <a:xfrm>
            <a:off x="6963299" y="3100882"/>
            <a:ext cx="625475" cy="3177958"/>
            <a:chOff x="7968208" y="2907977"/>
            <a:chExt cx="625475" cy="3177958"/>
          </a:xfrm>
        </p:grpSpPr>
        <p:pic>
          <p:nvPicPr>
            <p:cNvPr id="1058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9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0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1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2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3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4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5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6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7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8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9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0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1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2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3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4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5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6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7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8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9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0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1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2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3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4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1085" name="Двойная стрелка вверх/вниз 1084"/>
          <p:cNvSpPr/>
          <p:nvPr/>
        </p:nvSpPr>
        <p:spPr>
          <a:xfrm>
            <a:off x="7377532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86" name="Двойная стрелка вверх/вниз 1085"/>
          <p:cNvSpPr/>
          <p:nvPr/>
        </p:nvSpPr>
        <p:spPr>
          <a:xfrm>
            <a:off x="7866490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87" name="Соединительная линия уступом 1086"/>
          <p:cNvCxnSpPr/>
          <p:nvPr/>
        </p:nvCxnSpPr>
        <p:spPr>
          <a:xfrm>
            <a:off x="10560853" y="3528714"/>
            <a:ext cx="362661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88" name="Rectangle 5"/>
          <p:cNvSpPr>
            <a:spLocks noChangeArrowheads="1"/>
          </p:cNvSpPr>
          <p:nvPr/>
        </p:nvSpPr>
        <p:spPr bwMode="auto">
          <a:xfrm>
            <a:off x="8928575" y="2709684"/>
            <a:ext cx="1081087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89" name="Rectangle 6"/>
          <p:cNvSpPr>
            <a:spLocks noChangeArrowheads="1"/>
          </p:cNvSpPr>
          <p:nvPr/>
        </p:nvSpPr>
        <p:spPr bwMode="auto">
          <a:xfrm>
            <a:off x="10009662" y="2709684"/>
            <a:ext cx="1135062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90" name="Rectangle 10"/>
          <p:cNvSpPr>
            <a:spLocks noChangeArrowheads="1"/>
          </p:cNvSpPr>
          <p:nvPr/>
        </p:nvSpPr>
        <p:spPr bwMode="auto">
          <a:xfrm>
            <a:off x="8928575" y="2702115"/>
            <a:ext cx="1081087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91" name="Rectangle 11"/>
          <p:cNvSpPr>
            <a:spLocks noChangeArrowheads="1"/>
          </p:cNvSpPr>
          <p:nvPr/>
        </p:nvSpPr>
        <p:spPr bwMode="auto">
          <a:xfrm>
            <a:off x="8928575" y="4350569"/>
            <a:ext cx="1081087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92" name="Rectangle 12"/>
          <p:cNvSpPr>
            <a:spLocks noChangeArrowheads="1"/>
          </p:cNvSpPr>
          <p:nvPr/>
        </p:nvSpPr>
        <p:spPr bwMode="auto">
          <a:xfrm>
            <a:off x="8928575" y="4891907"/>
            <a:ext cx="1081087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93" name="Rectangle 13"/>
          <p:cNvSpPr>
            <a:spLocks noChangeArrowheads="1"/>
          </p:cNvSpPr>
          <p:nvPr/>
        </p:nvSpPr>
        <p:spPr bwMode="auto">
          <a:xfrm>
            <a:off x="8928575" y="5972994"/>
            <a:ext cx="1081087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94" name="Oval 16"/>
          <p:cNvSpPr>
            <a:spLocks noChangeArrowheads="1"/>
          </p:cNvSpPr>
          <p:nvPr/>
        </p:nvSpPr>
        <p:spPr bwMode="auto">
          <a:xfrm>
            <a:off x="9502421" y="5360219"/>
            <a:ext cx="252412" cy="2524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95" name="Line 17"/>
          <p:cNvSpPr>
            <a:spLocks noChangeShapeType="1"/>
          </p:cNvSpPr>
          <p:nvPr/>
        </p:nvSpPr>
        <p:spPr bwMode="auto">
          <a:xfrm>
            <a:off x="9627833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96" name="Line 18"/>
          <p:cNvSpPr>
            <a:spLocks noChangeShapeType="1"/>
          </p:cNvSpPr>
          <p:nvPr/>
        </p:nvSpPr>
        <p:spPr bwMode="auto">
          <a:xfrm flipH="1">
            <a:off x="9519883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97" name="Line 19"/>
          <p:cNvSpPr>
            <a:spLocks noChangeShapeType="1"/>
          </p:cNvSpPr>
          <p:nvPr/>
        </p:nvSpPr>
        <p:spPr bwMode="auto">
          <a:xfrm>
            <a:off x="9627833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98" name="Line 20"/>
          <p:cNvSpPr>
            <a:spLocks noChangeShapeType="1"/>
          </p:cNvSpPr>
          <p:nvPr/>
        </p:nvSpPr>
        <p:spPr bwMode="auto">
          <a:xfrm flipH="1">
            <a:off x="9519883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99" name="Line 21"/>
          <p:cNvSpPr>
            <a:spLocks noChangeShapeType="1"/>
          </p:cNvSpPr>
          <p:nvPr/>
        </p:nvSpPr>
        <p:spPr bwMode="auto">
          <a:xfrm>
            <a:off x="9627833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00" name="Line 22"/>
          <p:cNvSpPr>
            <a:spLocks noChangeShapeType="1"/>
          </p:cNvSpPr>
          <p:nvPr/>
        </p:nvSpPr>
        <p:spPr bwMode="auto">
          <a:xfrm>
            <a:off x="9627833" y="5090344"/>
            <a:ext cx="0" cy="26987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01" name="Oval 23"/>
          <p:cNvSpPr>
            <a:spLocks noChangeArrowheads="1"/>
          </p:cNvSpPr>
          <p:nvPr/>
        </p:nvSpPr>
        <p:spPr bwMode="auto">
          <a:xfrm>
            <a:off x="9591321" y="5504682"/>
            <a:ext cx="252412" cy="2524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02" name="Freeform 24"/>
          <p:cNvSpPr>
            <a:spLocks/>
          </p:cNvSpPr>
          <p:nvPr/>
        </p:nvSpPr>
        <p:spPr bwMode="auto">
          <a:xfrm>
            <a:off x="9411933" y="5504682"/>
            <a:ext cx="252412" cy="252413"/>
          </a:xfrm>
          <a:custGeom>
            <a:avLst/>
            <a:gdLst>
              <a:gd name="T0" fmla="*/ 159 w 159"/>
              <a:gd name="T1" fmla="*/ 79 h 159"/>
              <a:gd name="T2" fmla="*/ 80 w 159"/>
              <a:gd name="T3" fmla="*/ 0 h 159"/>
              <a:gd name="T4" fmla="*/ 0 w 159"/>
              <a:gd name="T5" fmla="*/ 79 h 159"/>
              <a:gd name="T6" fmla="*/ 80 w 159"/>
              <a:gd name="T7" fmla="*/ 159 h 159"/>
              <a:gd name="T8" fmla="*/ 159 w 159"/>
              <a:gd name="T9" fmla="*/ 7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9" h="159">
                <a:moveTo>
                  <a:pt x="159" y="79"/>
                </a:moveTo>
                <a:cubicBezTo>
                  <a:pt x="159" y="35"/>
                  <a:pt x="123" y="0"/>
                  <a:pt x="80" y="0"/>
                </a:cubicBezTo>
                <a:cubicBezTo>
                  <a:pt x="35" y="0"/>
                  <a:pt x="0" y="35"/>
                  <a:pt x="0" y="79"/>
                </a:cubicBezTo>
                <a:cubicBezTo>
                  <a:pt x="0" y="123"/>
                  <a:pt x="35" y="159"/>
                  <a:pt x="80" y="159"/>
                </a:cubicBezTo>
                <a:cubicBezTo>
                  <a:pt x="123" y="159"/>
                  <a:pt x="159" y="123"/>
                  <a:pt x="159" y="79"/>
                </a:cubicBez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03" name="Oval 25"/>
          <p:cNvSpPr>
            <a:spLocks noChangeArrowheads="1"/>
          </p:cNvSpPr>
          <p:nvPr/>
        </p:nvSpPr>
        <p:spPr bwMode="auto">
          <a:xfrm>
            <a:off x="9600846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04" name="Oval 26"/>
          <p:cNvSpPr>
            <a:spLocks noChangeArrowheads="1"/>
          </p:cNvSpPr>
          <p:nvPr/>
        </p:nvSpPr>
        <p:spPr bwMode="auto">
          <a:xfrm>
            <a:off x="9600846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05" name="Line 27"/>
          <p:cNvSpPr>
            <a:spLocks noChangeShapeType="1"/>
          </p:cNvSpPr>
          <p:nvPr/>
        </p:nvSpPr>
        <p:spPr bwMode="auto">
          <a:xfrm>
            <a:off x="10784362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06" name="Line 28"/>
          <p:cNvSpPr>
            <a:spLocks noChangeShapeType="1"/>
          </p:cNvSpPr>
          <p:nvPr/>
        </p:nvSpPr>
        <p:spPr bwMode="auto">
          <a:xfrm flipH="1">
            <a:off x="10676412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07" name="Line 29"/>
          <p:cNvSpPr>
            <a:spLocks noChangeShapeType="1"/>
          </p:cNvSpPr>
          <p:nvPr/>
        </p:nvSpPr>
        <p:spPr bwMode="auto">
          <a:xfrm>
            <a:off x="10784362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08" name="Line 30"/>
          <p:cNvSpPr>
            <a:spLocks noChangeShapeType="1"/>
          </p:cNvSpPr>
          <p:nvPr/>
        </p:nvSpPr>
        <p:spPr bwMode="auto">
          <a:xfrm flipH="1">
            <a:off x="10676412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09" name="Line 31"/>
          <p:cNvSpPr>
            <a:spLocks noChangeShapeType="1"/>
          </p:cNvSpPr>
          <p:nvPr/>
        </p:nvSpPr>
        <p:spPr bwMode="auto">
          <a:xfrm>
            <a:off x="10784362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10" name="Line 32"/>
          <p:cNvSpPr>
            <a:spLocks noChangeShapeType="1"/>
          </p:cNvSpPr>
          <p:nvPr/>
        </p:nvSpPr>
        <p:spPr bwMode="auto">
          <a:xfrm>
            <a:off x="10784362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11" name="Oval 33"/>
          <p:cNvSpPr>
            <a:spLocks noChangeArrowheads="1"/>
          </p:cNvSpPr>
          <p:nvPr/>
        </p:nvSpPr>
        <p:spPr bwMode="auto">
          <a:xfrm>
            <a:off x="10757375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12" name="Oval 34"/>
          <p:cNvSpPr>
            <a:spLocks noChangeArrowheads="1"/>
          </p:cNvSpPr>
          <p:nvPr/>
        </p:nvSpPr>
        <p:spPr bwMode="auto">
          <a:xfrm>
            <a:off x="10757375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13" name="Line 35"/>
          <p:cNvSpPr>
            <a:spLocks noChangeShapeType="1"/>
          </p:cNvSpPr>
          <p:nvPr/>
        </p:nvSpPr>
        <p:spPr bwMode="auto">
          <a:xfrm flipV="1">
            <a:off x="10784362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14" name="Line 36"/>
          <p:cNvSpPr>
            <a:spLocks noChangeShapeType="1"/>
          </p:cNvSpPr>
          <p:nvPr/>
        </p:nvSpPr>
        <p:spPr bwMode="auto">
          <a:xfrm flipH="1" flipV="1">
            <a:off x="10676412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15" name="Line 37"/>
          <p:cNvSpPr>
            <a:spLocks noChangeShapeType="1"/>
          </p:cNvSpPr>
          <p:nvPr/>
        </p:nvSpPr>
        <p:spPr bwMode="auto">
          <a:xfrm flipV="1">
            <a:off x="10784362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16" name="Line 38"/>
          <p:cNvSpPr>
            <a:spLocks noChangeShapeType="1"/>
          </p:cNvSpPr>
          <p:nvPr/>
        </p:nvSpPr>
        <p:spPr bwMode="auto">
          <a:xfrm flipH="1" flipV="1">
            <a:off x="10676412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17" name="Rectangle 39"/>
          <p:cNvSpPr>
            <a:spLocks noChangeArrowheads="1"/>
          </p:cNvSpPr>
          <p:nvPr/>
        </p:nvSpPr>
        <p:spPr bwMode="auto">
          <a:xfrm>
            <a:off x="10657362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18" name="Rectangle 40"/>
          <p:cNvSpPr>
            <a:spLocks noChangeArrowheads="1"/>
          </p:cNvSpPr>
          <p:nvPr/>
        </p:nvSpPr>
        <p:spPr bwMode="auto">
          <a:xfrm>
            <a:off x="10657362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19" name="Line 41"/>
          <p:cNvSpPr>
            <a:spLocks noChangeShapeType="1"/>
          </p:cNvSpPr>
          <p:nvPr/>
        </p:nvSpPr>
        <p:spPr bwMode="auto">
          <a:xfrm>
            <a:off x="10784362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20" name="Line 42"/>
          <p:cNvSpPr>
            <a:spLocks noChangeShapeType="1"/>
          </p:cNvSpPr>
          <p:nvPr/>
        </p:nvSpPr>
        <p:spPr bwMode="auto">
          <a:xfrm>
            <a:off x="10784362" y="5868219"/>
            <a:ext cx="0" cy="21272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21" name="Freeform 43"/>
          <p:cNvSpPr>
            <a:spLocks/>
          </p:cNvSpPr>
          <p:nvPr/>
        </p:nvSpPr>
        <p:spPr bwMode="auto">
          <a:xfrm>
            <a:off x="10730387" y="6080944"/>
            <a:ext cx="107950" cy="107950"/>
          </a:xfrm>
          <a:custGeom>
            <a:avLst/>
            <a:gdLst>
              <a:gd name="T0" fmla="*/ 0 w 68"/>
              <a:gd name="T1" fmla="*/ 0 h 68"/>
              <a:gd name="T2" fmla="*/ 68 w 68"/>
              <a:gd name="T3" fmla="*/ 0 h 68"/>
              <a:gd name="T4" fmla="*/ 34 w 68"/>
              <a:gd name="T5" fmla="*/ 68 h 68"/>
              <a:gd name="T6" fmla="*/ 0 w 68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22" name="Freeform 44"/>
          <p:cNvSpPr>
            <a:spLocks/>
          </p:cNvSpPr>
          <p:nvPr/>
        </p:nvSpPr>
        <p:spPr bwMode="auto">
          <a:xfrm>
            <a:off x="10730387" y="6080944"/>
            <a:ext cx="107950" cy="107950"/>
          </a:xfrm>
          <a:custGeom>
            <a:avLst/>
            <a:gdLst>
              <a:gd name="T0" fmla="*/ 0 w 68"/>
              <a:gd name="T1" fmla="*/ 0 h 68"/>
              <a:gd name="T2" fmla="*/ 68 w 68"/>
              <a:gd name="T3" fmla="*/ 0 h 68"/>
              <a:gd name="T4" fmla="*/ 34 w 68"/>
              <a:gd name="T5" fmla="*/ 68 h 68"/>
              <a:gd name="T6" fmla="*/ 0 w 68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23" name="Line 45"/>
          <p:cNvSpPr>
            <a:spLocks noChangeShapeType="1"/>
          </p:cNvSpPr>
          <p:nvPr/>
        </p:nvSpPr>
        <p:spPr bwMode="auto">
          <a:xfrm>
            <a:off x="10784362" y="6188894"/>
            <a:ext cx="0" cy="217488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24" name="Rectangle 46"/>
          <p:cNvSpPr>
            <a:spLocks noChangeArrowheads="1"/>
          </p:cNvSpPr>
          <p:nvPr/>
        </p:nvSpPr>
        <p:spPr bwMode="auto">
          <a:xfrm>
            <a:off x="10009662" y="5972994"/>
            <a:ext cx="1135062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25" name="Rectangle 47"/>
          <p:cNvSpPr>
            <a:spLocks noChangeArrowheads="1"/>
          </p:cNvSpPr>
          <p:nvPr/>
        </p:nvSpPr>
        <p:spPr bwMode="auto">
          <a:xfrm>
            <a:off x="10009662" y="4350569"/>
            <a:ext cx="1135062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26" name="Rectangle 48"/>
          <p:cNvSpPr>
            <a:spLocks noChangeArrowheads="1"/>
          </p:cNvSpPr>
          <p:nvPr/>
        </p:nvSpPr>
        <p:spPr bwMode="auto">
          <a:xfrm>
            <a:off x="10009662" y="4891907"/>
            <a:ext cx="1135062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27" name="Rectangle 300"/>
          <p:cNvSpPr>
            <a:spLocks noChangeArrowheads="1"/>
          </p:cNvSpPr>
          <p:nvPr/>
        </p:nvSpPr>
        <p:spPr bwMode="auto">
          <a:xfrm>
            <a:off x="8928575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ТН2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28" name="Rectangle 300"/>
          <p:cNvSpPr>
            <a:spLocks noChangeArrowheads="1"/>
          </p:cNvSpPr>
          <p:nvPr/>
        </p:nvSpPr>
        <p:spPr bwMode="auto">
          <a:xfrm>
            <a:off x="10031243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ОЛ2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29" name="Rectangle 49"/>
          <p:cNvSpPr>
            <a:spLocks noChangeArrowheads="1"/>
          </p:cNvSpPr>
          <p:nvPr/>
        </p:nvSpPr>
        <p:spPr bwMode="auto">
          <a:xfrm>
            <a:off x="10009662" y="2702115"/>
            <a:ext cx="1135062" cy="164845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1130" name="Группа 1129"/>
          <p:cNvGrpSpPr/>
          <p:nvPr/>
        </p:nvGrpSpPr>
        <p:grpSpPr>
          <a:xfrm>
            <a:off x="10042047" y="3100882"/>
            <a:ext cx="625475" cy="3177958"/>
            <a:chOff x="7968208" y="2907977"/>
            <a:chExt cx="625475" cy="3177958"/>
          </a:xfrm>
        </p:grpSpPr>
        <p:pic>
          <p:nvPicPr>
            <p:cNvPr id="1131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2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3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4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5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6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7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8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9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0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1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2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3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4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5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6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7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8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9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0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1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2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3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4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5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6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7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158" name="Группа 1157"/>
          <p:cNvGrpSpPr/>
          <p:nvPr/>
        </p:nvGrpSpPr>
        <p:grpSpPr>
          <a:xfrm>
            <a:off x="8948061" y="3100882"/>
            <a:ext cx="625475" cy="2355633"/>
            <a:chOff x="7968208" y="2907977"/>
            <a:chExt cx="625475" cy="2355633"/>
          </a:xfrm>
        </p:grpSpPr>
        <p:pic>
          <p:nvPicPr>
            <p:cNvPr id="1159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0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1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2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3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4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5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6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7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8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9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0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1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2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3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4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5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6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1177" name="Прямоугольник 1176"/>
          <p:cNvSpPr/>
          <p:nvPr/>
        </p:nvSpPr>
        <p:spPr>
          <a:xfrm>
            <a:off x="10776520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8" name="Rectangle 300"/>
          <p:cNvSpPr>
            <a:spLocks noChangeArrowheads="1"/>
          </p:cNvSpPr>
          <p:nvPr/>
        </p:nvSpPr>
        <p:spPr bwMode="auto">
          <a:xfrm>
            <a:off x="10801172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79" name="Соединительная линия уступом 1178"/>
          <p:cNvCxnSpPr>
            <a:endCxn id="1118" idx="3"/>
          </p:cNvCxnSpPr>
          <p:nvPr/>
        </p:nvCxnSpPr>
        <p:spPr>
          <a:xfrm rot="5400000">
            <a:off x="10386420" y="4745661"/>
            <a:ext cx="1210145" cy="16343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0" name="Двойная стрелка вверх/вниз 1179"/>
          <p:cNvSpPr/>
          <p:nvPr/>
        </p:nvSpPr>
        <p:spPr>
          <a:xfrm>
            <a:off x="9022744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81" name="Двойная стрелка вверх/вниз 1180"/>
          <p:cNvSpPr/>
          <p:nvPr/>
        </p:nvSpPr>
        <p:spPr>
          <a:xfrm>
            <a:off x="10164464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86" name="Line 78"/>
          <p:cNvSpPr>
            <a:spLocks noChangeShapeType="1"/>
          </p:cNvSpPr>
          <p:nvPr/>
        </p:nvSpPr>
        <p:spPr bwMode="auto">
          <a:xfrm>
            <a:off x="6947401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87" name="Rectangle 81"/>
          <p:cNvSpPr>
            <a:spLocks noChangeArrowheads="1"/>
          </p:cNvSpPr>
          <p:nvPr/>
        </p:nvSpPr>
        <p:spPr bwMode="auto">
          <a:xfrm>
            <a:off x="6821988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88" name="Rectangle 82"/>
          <p:cNvSpPr>
            <a:spLocks noChangeArrowheads="1"/>
          </p:cNvSpPr>
          <p:nvPr/>
        </p:nvSpPr>
        <p:spPr bwMode="auto">
          <a:xfrm>
            <a:off x="6821988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89" name="Line 83"/>
          <p:cNvSpPr>
            <a:spLocks noChangeShapeType="1"/>
          </p:cNvSpPr>
          <p:nvPr/>
        </p:nvSpPr>
        <p:spPr bwMode="auto">
          <a:xfrm>
            <a:off x="6947401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90" name="Прямоугольник 1189"/>
          <p:cNvSpPr/>
          <p:nvPr/>
        </p:nvSpPr>
        <p:spPr>
          <a:xfrm>
            <a:off x="6564088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91" name="Rectangle 300"/>
          <p:cNvSpPr>
            <a:spLocks noChangeArrowheads="1"/>
          </p:cNvSpPr>
          <p:nvPr/>
        </p:nvSpPr>
        <p:spPr bwMode="auto">
          <a:xfrm>
            <a:off x="6588740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92" name="Соединительная линия уступом 1191"/>
          <p:cNvCxnSpPr/>
          <p:nvPr/>
        </p:nvCxnSpPr>
        <p:spPr>
          <a:xfrm rot="10800000" flipV="1">
            <a:off x="6808283" y="3528714"/>
            <a:ext cx="189913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3" name="Соединительная линия уступом 1192"/>
          <p:cNvCxnSpPr/>
          <p:nvPr/>
        </p:nvCxnSpPr>
        <p:spPr>
          <a:xfrm rot="10800000" flipH="1" flipV="1">
            <a:off x="6691225" y="4206926"/>
            <a:ext cx="126000" cy="1152000"/>
          </a:xfrm>
          <a:prstGeom prst="bentConnector3">
            <a:avLst>
              <a:gd name="adj1" fmla="val -144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4" name="Прямая со стрелкой 1193"/>
          <p:cNvCxnSpPr/>
          <p:nvPr/>
        </p:nvCxnSpPr>
        <p:spPr>
          <a:xfrm>
            <a:off x="5620777" y="1052736"/>
            <a:ext cx="14557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95" name="Прямая со стрелкой 1194"/>
          <p:cNvCxnSpPr/>
          <p:nvPr/>
        </p:nvCxnSpPr>
        <p:spPr>
          <a:xfrm flipH="1">
            <a:off x="5620777" y="1479451"/>
            <a:ext cx="14557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196" name="Rectangle 300"/>
          <p:cNvSpPr>
            <a:spLocks noChangeArrowheads="1"/>
          </p:cNvSpPr>
          <p:nvPr/>
        </p:nvSpPr>
        <p:spPr bwMode="auto">
          <a:xfrm>
            <a:off x="5574740" y="1110964"/>
            <a:ext cx="15018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ru-RU" altLang="ru-RU" sz="1100" b="1" dirty="0">
                <a:solidFill>
                  <a:srgbClr val="000000"/>
                </a:solidFill>
                <a:latin typeface="Arial Narrow" panose="020B0606020202030204" pitchFamily="34" charset="0"/>
              </a:rPr>
              <a:t>УРОВ ЗДЗ смежной </a:t>
            </a: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секции</a:t>
            </a:r>
            <a:endParaRPr lang="ru-RU" altLang="ru-RU" dirty="0"/>
          </a:p>
        </p:txBody>
      </p:sp>
      <p:cxnSp>
        <p:nvCxnSpPr>
          <p:cNvPr id="1197" name="Соединительная линия уступом 1196"/>
          <p:cNvCxnSpPr/>
          <p:nvPr/>
        </p:nvCxnSpPr>
        <p:spPr>
          <a:xfrm rot="16200000" flipH="1">
            <a:off x="5564716" y="3825001"/>
            <a:ext cx="1008000" cy="432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" name="Соединительная линия уступом 1197"/>
          <p:cNvCxnSpPr/>
          <p:nvPr/>
        </p:nvCxnSpPr>
        <p:spPr>
          <a:xfrm flipV="1">
            <a:off x="7074400" y="3943350"/>
            <a:ext cx="128881" cy="1489101"/>
          </a:xfrm>
          <a:prstGeom prst="bentConnector2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9" name="Соединительная линия уступом 1198"/>
          <p:cNvCxnSpPr/>
          <p:nvPr/>
        </p:nvCxnSpPr>
        <p:spPr>
          <a:xfrm rot="5400000">
            <a:off x="5797445" y="4849135"/>
            <a:ext cx="792000" cy="180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0" name="Соединительная линия уступом 1199"/>
          <p:cNvCxnSpPr/>
          <p:nvPr/>
        </p:nvCxnSpPr>
        <p:spPr>
          <a:xfrm>
            <a:off x="5592080" y="1700808"/>
            <a:ext cx="1224000" cy="3744000"/>
          </a:xfrm>
          <a:prstGeom prst="bentConnector3">
            <a:avLst>
              <a:gd name="adj1" fmla="val 64846"/>
            </a:avLst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1" name="Соединительная линия уступом 1200"/>
          <p:cNvCxnSpPr/>
          <p:nvPr/>
        </p:nvCxnSpPr>
        <p:spPr>
          <a:xfrm flipH="1">
            <a:off x="6110289" y="1700808"/>
            <a:ext cx="990000" cy="3816000"/>
          </a:xfrm>
          <a:prstGeom prst="bentConnector3">
            <a:avLst>
              <a:gd name="adj1" fmla="val 58905"/>
            </a:avLst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Соединительная линия уступом 1201"/>
          <p:cNvCxnSpPr/>
          <p:nvPr/>
        </p:nvCxnSpPr>
        <p:spPr>
          <a:xfrm rot="16200000" flipH="1">
            <a:off x="4287626" y="3834001"/>
            <a:ext cx="1008000" cy="414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3" name="Соединительная линия уступом 1202"/>
          <p:cNvCxnSpPr/>
          <p:nvPr/>
        </p:nvCxnSpPr>
        <p:spPr>
          <a:xfrm rot="5400000">
            <a:off x="4546531" y="4885135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4" name="Соединительная линия уступом 1203"/>
          <p:cNvCxnSpPr/>
          <p:nvPr/>
        </p:nvCxnSpPr>
        <p:spPr>
          <a:xfrm rot="16200000" flipH="1">
            <a:off x="2039532" y="3861001"/>
            <a:ext cx="1008000" cy="360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5" name="Соединительная линия уступом 1204"/>
          <p:cNvCxnSpPr/>
          <p:nvPr/>
        </p:nvCxnSpPr>
        <p:spPr>
          <a:xfrm rot="5400000">
            <a:off x="2269290" y="4885135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Соединительная линия уступом 1205"/>
          <p:cNvCxnSpPr/>
          <p:nvPr/>
        </p:nvCxnSpPr>
        <p:spPr>
          <a:xfrm rot="16200000" flipH="1">
            <a:off x="7983902" y="3834001"/>
            <a:ext cx="1008000" cy="414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Соединительная линия уступом 1206"/>
          <p:cNvCxnSpPr/>
          <p:nvPr/>
        </p:nvCxnSpPr>
        <p:spPr>
          <a:xfrm rot="5400000">
            <a:off x="8242807" y="4885135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Соединительная линия уступом 1207"/>
          <p:cNvCxnSpPr/>
          <p:nvPr/>
        </p:nvCxnSpPr>
        <p:spPr>
          <a:xfrm rot="16200000" flipH="1">
            <a:off x="10337082" y="3861001"/>
            <a:ext cx="1008000" cy="360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9" name="Соединительная линия уступом 1208"/>
          <p:cNvCxnSpPr/>
          <p:nvPr/>
        </p:nvCxnSpPr>
        <p:spPr>
          <a:xfrm rot="5400000">
            <a:off x="10566840" y="4885135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0" name="Соединительная линия уступом 1209"/>
          <p:cNvCxnSpPr/>
          <p:nvPr/>
        </p:nvCxnSpPr>
        <p:spPr>
          <a:xfrm>
            <a:off x="5569729" y="1844824"/>
            <a:ext cx="310247" cy="144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11" name="Rectangle 300"/>
          <p:cNvSpPr>
            <a:spLocks noChangeArrowheads="1"/>
          </p:cNvSpPr>
          <p:nvPr/>
        </p:nvSpPr>
        <p:spPr bwMode="auto">
          <a:xfrm>
            <a:off x="5591944" y="1988840"/>
            <a:ext cx="588225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Откл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. Т1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12" name="Соединительная линия уступом 1211"/>
          <p:cNvCxnSpPr/>
          <p:nvPr/>
        </p:nvCxnSpPr>
        <p:spPr>
          <a:xfrm flipH="1">
            <a:off x="6793865" y="1844824"/>
            <a:ext cx="310247" cy="144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13" name="Rectangle 300"/>
          <p:cNvSpPr>
            <a:spLocks noChangeArrowheads="1"/>
          </p:cNvSpPr>
          <p:nvPr/>
        </p:nvSpPr>
        <p:spPr bwMode="auto">
          <a:xfrm>
            <a:off x="6600056" y="2006596"/>
            <a:ext cx="48792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Откл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. Т2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14" name="Прямая со стрелкой 1213"/>
          <p:cNvCxnSpPr/>
          <p:nvPr/>
        </p:nvCxnSpPr>
        <p:spPr>
          <a:xfrm>
            <a:off x="1747980" y="1735679"/>
            <a:ext cx="16834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15" name="Rectangle 300"/>
          <p:cNvSpPr>
            <a:spLocks noChangeArrowheads="1"/>
          </p:cNvSpPr>
          <p:nvPr/>
        </p:nvSpPr>
        <p:spPr bwMode="auto">
          <a:xfrm>
            <a:off x="422622" y="1547634"/>
            <a:ext cx="29292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ТК от защит</a:t>
            </a:r>
            <a:r>
              <a:rPr kumimoji="0" lang="ru-RU" altLang="ru-RU" sz="11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Т1, ВВ1, СВ1, СВ2</a:t>
            </a:r>
            <a:endParaRPr kumimoji="0" lang="ru-RU" altLang="ru-RU" sz="11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216" name="Rectangle 300"/>
          <p:cNvSpPr>
            <a:spLocks noChangeArrowheads="1"/>
          </p:cNvSpPr>
          <p:nvPr/>
        </p:nvSpPr>
        <p:spPr bwMode="auto">
          <a:xfrm>
            <a:off x="413621" y="1163425"/>
            <a:ext cx="29292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Цепи напряжения 1 секции</a:t>
            </a:r>
            <a:endParaRPr kumimoji="0" lang="ru-RU" altLang="ru-RU" sz="11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cxnSp>
        <p:nvCxnSpPr>
          <p:cNvPr id="1217" name="Прямая со стрелкой 1216"/>
          <p:cNvCxnSpPr/>
          <p:nvPr/>
        </p:nvCxnSpPr>
        <p:spPr>
          <a:xfrm>
            <a:off x="1747980" y="1348085"/>
            <a:ext cx="16822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18" name="Прямая со стрелкой 1217"/>
          <p:cNvCxnSpPr/>
          <p:nvPr/>
        </p:nvCxnSpPr>
        <p:spPr>
          <a:xfrm flipH="1">
            <a:off x="9247500" y="1744470"/>
            <a:ext cx="1650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19" name="Rectangle 300"/>
          <p:cNvSpPr>
            <a:spLocks noChangeArrowheads="1"/>
          </p:cNvSpPr>
          <p:nvPr/>
        </p:nvSpPr>
        <p:spPr bwMode="auto">
          <a:xfrm>
            <a:off x="9381072" y="1548120"/>
            <a:ext cx="29292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ТК от защит</a:t>
            </a:r>
            <a:r>
              <a:rPr kumimoji="0" lang="ru-RU" altLang="ru-RU" sz="11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Т2, ВВ2, СВ2, СВ1</a:t>
            </a:r>
            <a:endParaRPr kumimoji="0" lang="ru-RU" altLang="ru-RU" sz="11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220" name="Rectangle 300"/>
          <p:cNvSpPr>
            <a:spLocks noChangeArrowheads="1"/>
          </p:cNvSpPr>
          <p:nvPr/>
        </p:nvSpPr>
        <p:spPr bwMode="auto">
          <a:xfrm>
            <a:off x="9376594" y="1163122"/>
            <a:ext cx="29292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Цепи напряжения 2 секции</a:t>
            </a:r>
            <a:endParaRPr kumimoji="0" lang="ru-RU" altLang="ru-RU" sz="11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cxnSp>
        <p:nvCxnSpPr>
          <p:cNvPr id="1221" name="Прямая со стрелкой 1220"/>
          <p:cNvCxnSpPr/>
          <p:nvPr/>
        </p:nvCxnSpPr>
        <p:spPr>
          <a:xfrm flipH="1">
            <a:off x="9247499" y="1356876"/>
            <a:ext cx="16504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75" name="Соединительная линия уступом 474"/>
          <p:cNvCxnSpPr/>
          <p:nvPr/>
        </p:nvCxnSpPr>
        <p:spPr>
          <a:xfrm rot="16200000" flipH="1">
            <a:off x="6318232" y="3426165"/>
            <a:ext cx="402947" cy="272000"/>
          </a:xfrm>
          <a:prstGeom prst="bentConnector3">
            <a:avLst>
              <a:gd name="adj1" fmla="val 360"/>
            </a:avLst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1" name="Соединительная линия уступом 490"/>
          <p:cNvCxnSpPr/>
          <p:nvPr/>
        </p:nvCxnSpPr>
        <p:spPr>
          <a:xfrm rot="5400000">
            <a:off x="6065555" y="3307897"/>
            <a:ext cx="577912" cy="308290"/>
          </a:xfrm>
          <a:prstGeom prst="bentConnector3">
            <a:avLst>
              <a:gd name="adj1" fmla="val 1379"/>
            </a:avLst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0608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032" y="36177"/>
            <a:ext cx="86636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Пример построения </a:t>
            </a:r>
            <a:r>
              <a:rPr lang="ru-RU" sz="2000" b="1" cap="all" dirty="0" err="1" smtClean="0">
                <a:solidFill>
                  <a:prstClr val="white"/>
                </a:solidFill>
                <a:latin typeface="Arial Narrow"/>
              </a:rPr>
              <a:t>здз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 </a:t>
            </a:r>
            <a:r>
              <a:rPr lang="ru-RU" sz="2000" b="1" cap="all" dirty="0" err="1" smtClean="0">
                <a:solidFill>
                  <a:prstClr val="white"/>
                </a:solidFill>
                <a:latin typeface="Arial Narrow"/>
              </a:rPr>
              <a:t>ру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 с тремя и более секциями на которых установлены два </a:t>
            </a:r>
            <a:r>
              <a:rPr lang="ru-RU" sz="2000" b="1" cap="all" dirty="0" err="1" smtClean="0">
                <a:solidFill>
                  <a:prstClr val="white"/>
                </a:solidFill>
                <a:latin typeface="Arial Narrow"/>
              </a:rPr>
              <a:t>сВ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, основной и резервный ввод питания</a:t>
            </a:r>
          </a:p>
        </p:txBody>
      </p:sp>
      <p:cxnSp>
        <p:nvCxnSpPr>
          <p:cNvPr id="472" name="Соединительная линия уступом 471"/>
          <p:cNvCxnSpPr/>
          <p:nvPr/>
        </p:nvCxnSpPr>
        <p:spPr>
          <a:xfrm>
            <a:off x="10585615" y="3528714"/>
            <a:ext cx="468000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3" name="Соединительная линия уступом 472"/>
          <p:cNvCxnSpPr/>
          <p:nvPr/>
        </p:nvCxnSpPr>
        <p:spPr>
          <a:xfrm>
            <a:off x="3712055" y="3528714"/>
            <a:ext cx="362661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4" name="Соединительная линия уступом 473"/>
          <p:cNvCxnSpPr/>
          <p:nvPr/>
        </p:nvCxnSpPr>
        <p:spPr>
          <a:xfrm>
            <a:off x="4946143" y="3528714"/>
            <a:ext cx="362661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5" name="Rectangle 5"/>
          <p:cNvSpPr>
            <a:spLocks noChangeArrowheads="1"/>
          </p:cNvSpPr>
          <p:nvPr/>
        </p:nvSpPr>
        <p:spPr bwMode="auto">
          <a:xfrm>
            <a:off x="5522866" y="2709684"/>
            <a:ext cx="1081087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76" name="Rectangle 6"/>
          <p:cNvSpPr>
            <a:spLocks noChangeArrowheads="1"/>
          </p:cNvSpPr>
          <p:nvPr/>
        </p:nvSpPr>
        <p:spPr bwMode="auto">
          <a:xfrm>
            <a:off x="4387809" y="2709684"/>
            <a:ext cx="1135062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77" name="Rectangle 7"/>
          <p:cNvSpPr>
            <a:spLocks noChangeArrowheads="1"/>
          </p:cNvSpPr>
          <p:nvPr/>
        </p:nvSpPr>
        <p:spPr bwMode="auto">
          <a:xfrm>
            <a:off x="3102108" y="2709684"/>
            <a:ext cx="1284800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78" name="Rectangle 8"/>
          <p:cNvSpPr>
            <a:spLocks noChangeArrowheads="1"/>
          </p:cNvSpPr>
          <p:nvPr/>
        </p:nvSpPr>
        <p:spPr bwMode="auto">
          <a:xfrm>
            <a:off x="10096363" y="2709684"/>
            <a:ext cx="1221060" cy="358437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79" name="Rectangle 10"/>
          <p:cNvSpPr>
            <a:spLocks noChangeArrowheads="1"/>
          </p:cNvSpPr>
          <p:nvPr/>
        </p:nvSpPr>
        <p:spPr bwMode="auto">
          <a:xfrm>
            <a:off x="5522866" y="2708920"/>
            <a:ext cx="1081087" cy="16416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80" name="Rectangle 11"/>
          <p:cNvSpPr>
            <a:spLocks noChangeArrowheads="1"/>
          </p:cNvSpPr>
          <p:nvPr/>
        </p:nvSpPr>
        <p:spPr bwMode="auto">
          <a:xfrm>
            <a:off x="5522866" y="4350569"/>
            <a:ext cx="1081087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81" name="Rectangle 12"/>
          <p:cNvSpPr>
            <a:spLocks noChangeArrowheads="1"/>
          </p:cNvSpPr>
          <p:nvPr/>
        </p:nvSpPr>
        <p:spPr bwMode="auto">
          <a:xfrm>
            <a:off x="5522866" y="4891907"/>
            <a:ext cx="1081087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82" name="Rectangle 13"/>
          <p:cNvSpPr>
            <a:spLocks noChangeArrowheads="1"/>
          </p:cNvSpPr>
          <p:nvPr/>
        </p:nvSpPr>
        <p:spPr bwMode="auto">
          <a:xfrm>
            <a:off x="5522866" y="5972994"/>
            <a:ext cx="1081087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83" name="Rectangle 14"/>
          <p:cNvSpPr>
            <a:spLocks noChangeArrowheads="1"/>
          </p:cNvSpPr>
          <p:nvPr/>
        </p:nvSpPr>
        <p:spPr bwMode="auto">
          <a:xfrm>
            <a:off x="2206653" y="4756969"/>
            <a:ext cx="8892000" cy="53975"/>
          </a:xfrm>
          <a:prstGeom prst="rect">
            <a:avLst/>
          </a:prstGeom>
          <a:solidFill>
            <a:srgbClr val="F8B5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84" name="Rectangle 15"/>
          <p:cNvSpPr>
            <a:spLocks noChangeArrowheads="1"/>
          </p:cNvSpPr>
          <p:nvPr/>
        </p:nvSpPr>
        <p:spPr bwMode="auto">
          <a:xfrm>
            <a:off x="2206653" y="4756969"/>
            <a:ext cx="8892000" cy="53975"/>
          </a:xfrm>
          <a:prstGeom prst="rect">
            <a:avLst/>
          </a:prstGeom>
          <a:noFill/>
          <a:ln w="9525" cap="rnd">
            <a:solidFill>
              <a:srgbClr val="F282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85" name="Группа 484"/>
          <p:cNvGrpSpPr/>
          <p:nvPr/>
        </p:nvGrpSpPr>
        <p:grpSpPr>
          <a:xfrm rot="10800000">
            <a:off x="5626405" y="5120034"/>
            <a:ext cx="431800" cy="757238"/>
            <a:chOff x="6672064" y="5120034"/>
            <a:chExt cx="431800" cy="757238"/>
          </a:xfrm>
        </p:grpSpPr>
        <p:sp>
          <p:nvSpPr>
            <p:cNvPr id="486" name="Oval 16"/>
            <p:cNvSpPr>
              <a:spLocks noChangeArrowheads="1"/>
            </p:cNvSpPr>
            <p:nvPr/>
          </p:nvSpPr>
          <p:spPr bwMode="auto">
            <a:xfrm>
              <a:off x="6762552" y="5480396"/>
              <a:ext cx="252412" cy="252413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87" name="Line 18"/>
            <p:cNvSpPr>
              <a:spLocks noChangeShapeType="1"/>
            </p:cNvSpPr>
            <p:nvPr/>
          </p:nvSpPr>
          <p:spPr bwMode="auto">
            <a:xfrm flipH="1">
              <a:off x="6780014" y="5120034"/>
              <a:ext cx="107950" cy="10795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88" name="Line 19"/>
            <p:cNvSpPr>
              <a:spLocks noChangeShapeType="1"/>
            </p:cNvSpPr>
            <p:nvPr/>
          </p:nvSpPr>
          <p:spPr bwMode="auto">
            <a:xfrm>
              <a:off x="6887964" y="5120034"/>
              <a:ext cx="107950" cy="10795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89" name="Line 20"/>
            <p:cNvSpPr>
              <a:spLocks noChangeShapeType="1"/>
            </p:cNvSpPr>
            <p:nvPr/>
          </p:nvSpPr>
          <p:spPr bwMode="auto">
            <a:xfrm flipH="1">
              <a:off x="6780014" y="5210521"/>
              <a:ext cx="107950" cy="10795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0" name="Line 21"/>
            <p:cNvSpPr>
              <a:spLocks noChangeShapeType="1"/>
            </p:cNvSpPr>
            <p:nvPr/>
          </p:nvSpPr>
          <p:spPr bwMode="auto">
            <a:xfrm>
              <a:off x="6887964" y="5210521"/>
              <a:ext cx="107950" cy="10795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1" name="Line 22"/>
            <p:cNvSpPr>
              <a:spLocks noChangeShapeType="1"/>
            </p:cNvSpPr>
            <p:nvPr/>
          </p:nvSpPr>
          <p:spPr bwMode="auto">
            <a:xfrm>
              <a:off x="6887964" y="5210521"/>
              <a:ext cx="0" cy="26987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2" name="Oval 23"/>
            <p:cNvSpPr>
              <a:spLocks noChangeArrowheads="1"/>
            </p:cNvSpPr>
            <p:nvPr/>
          </p:nvSpPr>
          <p:spPr bwMode="auto">
            <a:xfrm>
              <a:off x="6851452" y="5624859"/>
              <a:ext cx="252412" cy="252413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3" name="Freeform 24"/>
            <p:cNvSpPr>
              <a:spLocks/>
            </p:cNvSpPr>
            <p:nvPr/>
          </p:nvSpPr>
          <p:spPr bwMode="auto">
            <a:xfrm>
              <a:off x="6672064" y="5624859"/>
              <a:ext cx="252412" cy="252413"/>
            </a:xfrm>
            <a:custGeom>
              <a:avLst/>
              <a:gdLst>
                <a:gd name="T0" fmla="*/ 159 w 159"/>
                <a:gd name="T1" fmla="*/ 79 h 159"/>
                <a:gd name="T2" fmla="*/ 80 w 159"/>
                <a:gd name="T3" fmla="*/ 0 h 159"/>
                <a:gd name="T4" fmla="*/ 0 w 159"/>
                <a:gd name="T5" fmla="*/ 79 h 159"/>
                <a:gd name="T6" fmla="*/ 80 w 159"/>
                <a:gd name="T7" fmla="*/ 159 h 159"/>
                <a:gd name="T8" fmla="*/ 159 w 159"/>
                <a:gd name="T9" fmla="*/ 7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159">
                  <a:moveTo>
                    <a:pt x="159" y="79"/>
                  </a:moveTo>
                  <a:cubicBezTo>
                    <a:pt x="159" y="35"/>
                    <a:pt x="123" y="0"/>
                    <a:pt x="80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3"/>
                    <a:pt x="35" y="159"/>
                    <a:pt x="80" y="159"/>
                  </a:cubicBezTo>
                  <a:cubicBezTo>
                    <a:pt x="123" y="159"/>
                    <a:pt x="159" y="123"/>
                    <a:pt x="159" y="79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494" name="Line 27"/>
          <p:cNvSpPr>
            <a:spLocks noChangeShapeType="1"/>
          </p:cNvSpPr>
          <p:nvPr/>
        </p:nvSpPr>
        <p:spPr bwMode="auto">
          <a:xfrm>
            <a:off x="5169652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95" name="Line 28"/>
          <p:cNvSpPr>
            <a:spLocks noChangeShapeType="1"/>
          </p:cNvSpPr>
          <p:nvPr/>
        </p:nvSpPr>
        <p:spPr bwMode="auto">
          <a:xfrm flipH="1">
            <a:off x="5061702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96" name="Line 29"/>
          <p:cNvSpPr>
            <a:spLocks noChangeShapeType="1"/>
          </p:cNvSpPr>
          <p:nvPr/>
        </p:nvSpPr>
        <p:spPr bwMode="auto">
          <a:xfrm>
            <a:off x="5169652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97" name="Line 30"/>
          <p:cNvSpPr>
            <a:spLocks noChangeShapeType="1"/>
          </p:cNvSpPr>
          <p:nvPr/>
        </p:nvSpPr>
        <p:spPr bwMode="auto">
          <a:xfrm flipH="1">
            <a:off x="5061702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98" name="Line 31"/>
          <p:cNvSpPr>
            <a:spLocks noChangeShapeType="1"/>
          </p:cNvSpPr>
          <p:nvPr/>
        </p:nvSpPr>
        <p:spPr bwMode="auto">
          <a:xfrm>
            <a:off x="5169652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99" name="Line 32"/>
          <p:cNvSpPr>
            <a:spLocks noChangeShapeType="1"/>
          </p:cNvSpPr>
          <p:nvPr/>
        </p:nvSpPr>
        <p:spPr bwMode="auto">
          <a:xfrm>
            <a:off x="5169652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00" name="Oval 33"/>
          <p:cNvSpPr>
            <a:spLocks noChangeArrowheads="1"/>
          </p:cNvSpPr>
          <p:nvPr/>
        </p:nvSpPr>
        <p:spPr bwMode="auto">
          <a:xfrm>
            <a:off x="5142665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01" name="Oval 34"/>
          <p:cNvSpPr>
            <a:spLocks noChangeArrowheads="1"/>
          </p:cNvSpPr>
          <p:nvPr/>
        </p:nvSpPr>
        <p:spPr bwMode="auto">
          <a:xfrm>
            <a:off x="5142665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02" name="Line 35"/>
          <p:cNvSpPr>
            <a:spLocks noChangeShapeType="1"/>
          </p:cNvSpPr>
          <p:nvPr/>
        </p:nvSpPr>
        <p:spPr bwMode="auto">
          <a:xfrm flipV="1">
            <a:off x="5169652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03" name="Line 36"/>
          <p:cNvSpPr>
            <a:spLocks noChangeShapeType="1"/>
          </p:cNvSpPr>
          <p:nvPr/>
        </p:nvSpPr>
        <p:spPr bwMode="auto">
          <a:xfrm flipH="1" flipV="1">
            <a:off x="5061702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04" name="Line 37"/>
          <p:cNvSpPr>
            <a:spLocks noChangeShapeType="1"/>
          </p:cNvSpPr>
          <p:nvPr/>
        </p:nvSpPr>
        <p:spPr bwMode="auto">
          <a:xfrm flipV="1">
            <a:off x="5169652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05" name="Line 38"/>
          <p:cNvSpPr>
            <a:spLocks noChangeShapeType="1"/>
          </p:cNvSpPr>
          <p:nvPr/>
        </p:nvSpPr>
        <p:spPr bwMode="auto">
          <a:xfrm flipH="1" flipV="1">
            <a:off x="5061702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06" name="Rectangle 39"/>
          <p:cNvSpPr>
            <a:spLocks noChangeArrowheads="1"/>
          </p:cNvSpPr>
          <p:nvPr/>
        </p:nvSpPr>
        <p:spPr bwMode="auto">
          <a:xfrm>
            <a:off x="5042652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07" name="Rectangle 40"/>
          <p:cNvSpPr>
            <a:spLocks noChangeArrowheads="1"/>
          </p:cNvSpPr>
          <p:nvPr/>
        </p:nvSpPr>
        <p:spPr bwMode="auto">
          <a:xfrm>
            <a:off x="5042652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08" name="Line 41"/>
          <p:cNvSpPr>
            <a:spLocks noChangeShapeType="1"/>
          </p:cNvSpPr>
          <p:nvPr/>
        </p:nvSpPr>
        <p:spPr bwMode="auto">
          <a:xfrm>
            <a:off x="5169652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09" name="Line 42"/>
          <p:cNvSpPr>
            <a:spLocks noChangeShapeType="1"/>
          </p:cNvSpPr>
          <p:nvPr/>
        </p:nvSpPr>
        <p:spPr bwMode="auto">
          <a:xfrm>
            <a:off x="5169652" y="5868219"/>
            <a:ext cx="0" cy="21272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0" name="Freeform 43"/>
          <p:cNvSpPr>
            <a:spLocks/>
          </p:cNvSpPr>
          <p:nvPr/>
        </p:nvSpPr>
        <p:spPr bwMode="auto">
          <a:xfrm>
            <a:off x="5115677" y="6080944"/>
            <a:ext cx="107950" cy="107950"/>
          </a:xfrm>
          <a:custGeom>
            <a:avLst/>
            <a:gdLst>
              <a:gd name="T0" fmla="*/ 0 w 68"/>
              <a:gd name="T1" fmla="*/ 0 h 68"/>
              <a:gd name="T2" fmla="*/ 68 w 68"/>
              <a:gd name="T3" fmla="*/ 0 h 68"/>
              <a:gd name="T4" fmla="*/ 34 w 68"/>
              <a:gd name="T5" fmla="*/ 68 h 68"/>
              <a:gd name="T6" fmla="*/ 0 w 68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1" name="Freeform 44"/>
          <p:cNvSpPr>
            <a:spLocks/>
          </p:cNvSpPr>
          <p:nvPr/>
        </p:nvSpPr>
        <p:spPr bwMode="auto">
          <a:xfrm>
            <a:off x="5115677" y="6080944"/>
            <a:ext cx="107950" cy="107950"/>
          </a:xfrm>
          <a:custGeom>
            <a:avLst/>
            <a:gdLst>
              <a:gd name="T0" fmla="*/ 0 w 68"/>
              <a:gd name="T1" fmla="*/ 0 h 68"/>
              <a:gd name="T2" fmla="*/ 68 w 68"/>
              <a:gd name="T3" fmla="*/ 0 h 68"/>
              <a:gd name="T4" fmla="*/ 34 w 68"/>
              <a:gd name="T5" fmla="*/ 68 h 68"/>
              <a:gd name="T6" fmla="*/ 0 w 68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2" name="Line 45"/>
          <p:cNvSpPr>
            <a:spLocks noChangeShapeType="1"/>
          </p:cNvSpPr>
          <p:nvPr/>
        </p:nvSpPr>
        <p:spPr bwMode="auto">
          <a:xfrm>
            <a:off x="5169652" y="6188894"/>
            <a:ext cx="0" cy="217488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3" name="Rectangle 46"/>
          <p:cNvSpPr>
            <a:spLocks noChangeArrowheads="1"/>
          </p:cNvSpPr>
          <p:nvPr/>
        </p:nvSpPr>
        <p:spPr bwMode="auto">
          <a:xfrm>
            <a:off x="4387809" y="5972994"/>
            <a:ext cx="1135062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4" name="Rectangle 47"/>
          <p:cNvSpPr>
            <a:spLocks noChangeArrowheads="1"/>
          </p:cNvSpPr>
          <p:nvPr/>
        </p:nvSpPr>
        <p:spPr bwMode="auto">
          <a:xfrm>
            <a:off x="4387809" y="4350569"/>
            <a:ext cx="1135062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5" name="Rectangle 48"/>
          <p:cNvSpPr>
            <a:spLocks noChangeArrowheads="1"/>
          </p:cNvSpPr>
          <p:nvPr/>
        </p:nvSpPr>
        <p:spPr bwMode="auto">
          <a:xfrm>
            <a:off x="4387809" y="4891907"/>
            <a:ext cx="1135062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6" name="Line 50"/>
          <p:cNvSpPr>
            <a:spLocks noChangeShapeType="1"/>
          </p:cNvSpPr>
          <p:nvPr/>
        </p:nvSpPr>
        <p:spPr bwMode="auto">
          <a:xfrm>
            <a:off x="3911733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7" name="Line 51"/>
          <p:cNvSpPr>
            <a:spLocks noChangeShapeType="1"/>
          </p:cNvSpPr>
          <p:nvPr/>
        </p:nvSpPr>
        <p:spPr bwMode="auto">
          <a:xfrm flipH="1">
            <a:off x="3803783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8" name="Line 52"/>
          <p:cNvSpPr>
            <a:spLocks noChangeShapeType="1"/>
          </p:cNvSpPr>
          <p:nvPr/>
        </p:nvSpPr>
        <p:spPr bwMode="auto">
          <a:xfrm>
            <a:off x="3911733" y="4999857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9" name="Line 53"/>
          <p:cNvSpPr>
            <a:spLocks noChangeShapeType="1"/>
          </p:cNvSpPr>
          <p:nvPr/>
        </p:nvSpPr>
        <p:spPr bwMode="auto">
          <a:xfrm flipH="1">
            <a:off x="3803783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0" name="Line 54"/>
          <p:cNvSpPr>
            <a:spLocks noChangeShapeType="1"/>
          </p:cNvSpPr>
          <p:nvPr/>
        </p:nvSpPr>
        <p:spPr bwMode="auto">
          <a:xfrm>
            <a:off x="3911733" y="5090344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1" name="Line 55"/>
          <p:cNvSpPr>
            <a:spLocks noChangeShapeType="1"/>
          </p:cNvSpPr>
          <p:nvPr/>
        </p:nvSpPr>
        <p:spPr bwMode="auto">
          <a:xfrm>
            <a:off x="3911733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2" name="Oval 56"/>
          <p:cNvSpPr>
            <a:spLocks noChangeArrowheads="1"/>
          </p:cNvSpPr>
          <p:nvPr/>
        </p:nvSpPr>
        <p:spPr bwMode="auto">
          <a:xfrm>
            <a:off x="3886333" y="4756969"/>
            <a:ext cx="52387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3" name="Oval 57"/>
          <p:cNvSpPr>
            <a:spLocks noChangeArrowheads="1"/>
          </p:cNvSpPr>
          <p:nvPr/>
        </p:nvSpPr>
        <p:spPr bwMode="auto">
          <a:xfrm>
            <a:off x="3886333" y="4756969"/>
            <a:ext cx="52387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4" name="Line 58"/>
          <p:cNvSpPr>
            <a:spLocks noChangeShapeType="1"/>
          </p:cNvSpPr>
          <p:nvPr/>
        </p:nvSpPr>
        <p:spPr bwMode="auto">
          <a:xfrm flipV="1">
            <a:off x="3911733" y="5760269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5" name="Line 59"/>
          <p:cNvSpPr>
            <a:spLocks noChangeShapeType="1"/>
          </p:cNvSpPr>
          <p:nvPr/>
        </p:nvSpPr>
        <p:spPr bwMode="auto">
          <a:xfrm flipH="1" flipV="1">
            <a:off x="3803783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6" name="Line 60"/>
          <p:cNvSpPr>
            <a:spLocks noChangeShapeType="1"/>
          </p:cNvSpPr>
          <p:nvPr/>
        </p:nvSpPr>
        <p:spPr bwMode="auto">
          <a:xfrm flipV="1">
            <a:off x="3911733" y="5669782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7" name="Line 61"/>
          <p:cNvSpPr>
            <a:spLocks noChangeShapeType="1"/>
          </p:cNvSpPr>
          <p:nvPr/>
        </p:nvSpPr>
        <p:spPr bwMode="auto">
          <a:xfrm flipH="1" flipV="1">
            <a:off x="3803783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8" name="Rectangle 62"/>
          <p:cNvSpPr>
            <a:spLocks noChangeArrowheads="1"/>
          </p:cNvSpPr>
          <p:nvPr/>
        </p:nvSpPr>
        <p:spPr bwMode="auto">
          <a:xfrm>
            <a:off x="3786320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29" name="Rectangle 63"/>
          <p:cNvSpPr>
            <a:spLocks noChangeArrowheads="1"/>
          </p:cNvSpPr>
          <p:nvPr/>
        </p:nvSpPr>
        <p:spPr bwMode="auto">
          <a:xfrm>
            <a:off x="3786320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0" name="Line 64"/>
          <p:cNvSpPr>
            <a:spLocks noChangeShapeType="1"/>
          </p:cNvSpPr>
          <p:nvPr/>
        </p:nvSpPr>
        <p:spPr bwMode="auto">
          <a:xfrm>
            <a:off x="3911733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1" name="Line 65"/>
          <p:cNvSpPr>
            <a:spLocks noChangeShapeType="1"/>
          </p:cNvSpPr>
          <p:nvPr/>
        </p:nvSpPr>
        <p:spPr bwMode="auto">
          <a:xfrm>
            <a:off x="3911733" y="5868219"/>
            <a:ext cx="0" cy="21272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" name="Freeform 66"/>
          <p:cNvSpPr>
            <a:spLocks/>
          </p:cNvSpPr>
          <p:nvPr/>
        </p:nvSpPr>
        <p:spPr bwMode="auto">
          <a:xfrm>
            <a:off x="3857758" y="6080944"/>
            <a:ext cx="109537" cy="107950"/>
          </a:xfrm>
          <a:custGeom>
            <a:avLst/>
            <a:gdLst>
              <a:gd name="T0" fmla="*/ 0 w 69"/>
              <a:gd name="T1" fmla="*/ 0 h 68"/>
              <a:gd name="T2" fmla="*/ 69 w 69"/>
              <a:gd name="T3" fmla="*/ 0 h 68"/>
              <a:gd name="T4" fmla="*/ 34 w 69"/>
              <a:gd name="T5" fmla="*/ 68 h 68"/>
              <a:gd name="T6" fmla="*/ 0 w 69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68">
                <a:moveTo>
                  <a:pt x="0" y="0"/>
                </a:moveTo>
                <a:lnTo>
                  <a:pt x="69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3" name="Freeform 67"/>
          <p:cNvSpPr>
            <a:spLocks/>
          </p:cNvSpPr>
          <p:nvPr/>
        </p:nvSpPr>
        <p:spPr bwMode="auto">
          <a:xfrm>
            <a:off x="3857758" y="6080944"/>
            <a:ext cx="109537" cy="107950"/>
          </a:xfrm>
          <a:custGeom>
            <a:avLst/>
            <a:gdLst>
              <a:gd name="T0" fmla="*/ 0 w 69"/>
              <a:gd name="T1" fmla="*/ 0 h 68"/>
              <a:gd name="T2" fmla="*/ 69 w 69"/>
              <a:gd name="T3" fmla="*/ 0 h 68"/>
              <a:gd name="T4" fmla="*/ 34 w 69"/>
              <a:gd name="T5" fmla="*/ 68 h 68"/>
              <a:gd name="T6" fmla="*/ 0 w 69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68">
                <a:moveTo>
                  <a:pt x="0" y="0"/>
                </a:moveTo>
                <a:lnTo>
                  <a:pt x="69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4" name="Line 68"/>
          <p:cNvSpPr>
            <a:spLocks noChangeShapeType="1"/>
          </p:cNvSpPr>
          <p:nvPr/>
        </p:nvSpPr>
        <p:spPr bwMode="auto">
          <a:xfrm>
            <a:off x="3911733" y="6188894"/>
            <a:ext cx="0" cy="217488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5" name="Rectangle 69"/>
          <p:cNvSpPr>
            <a:spLocks noChangeArrowheads="1"/>
          </p:cNvSpPr>
          <p:nvPr/>
        </p:nvSpPr>
        <p:spPr bwMode="auto">
          <a:xfrm>
            <a:off x="3102108" y="5972994"/>
            <a:ext cx="1284997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6" name="Rectangle 70"/>
          <p:cNvSpPr>
            <a:spLocks noChangeArrowheads="1"/>
          </p:cNvSpPr>
          <p:nvPr/>
        </p:nvSpPr>
        <p:spPr bwMode="auto">
          <a:xfrm>
            <a:off x="3102108" y="4350569"/>
            <a:ext cx="1283755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7" name="Rectangle 71"/>
          <p:cNvSpPr>
            <a:spLocks noChangeArrowheads="1"/>
          </p:cNvSpPr>
          <p:nvPr/>
        </p:nvSpPr>
        <p:spPr bwMode="auto">
          <a:xfrm>
            <a:off x="3102108" y="4891907"/>
            <a:ext cx="1287103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8" name="Rectangle 72"/>
          <p:cNvSpPr>
            <a:spLocks noChangeArrowheads="1"/>
          </p:cNvSpPr>
          <p:nvPr/>
        </p:nvSpPr>
        <p:spPr bwMode="auto">
          <a:xfrm>
            <a:off x="3102108" y="2706729"/>
            <a:ext cx="1287461" cy="1643841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9" name="Line 73"/>
          <p:cNvSpPr>
            <a:spLocks noChangeShapeType="1"/>
          </p:cNvSpPr>
          <p:nvPr/>
        </p:nvSpPr>
        <p:spPr bwMode="auto">
          <a:xfrm>
            <a:off x="10858716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0" name="Line 74"/>
          <p:cNvSpPr>
            <a:spLocks noChangeShapeType="1"/>
          </p:cNvSpPr>
          <p:nvPr/>
        </p:nvSpPr>
        <p:spPr bwMode="auto">
          <a:xfrm flipH="1">
            <a:off x="10750766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1" name="Line 75"/>
          <p:cNvSpPr>
            <a:spLocks noChangeShapeType="1"/>
          </p:cNvSpPr>
          <p:nvPr/>
        </p:nvSpPr>
        <p:spPr bwMode="auto">
          <a:xfrm>
            <a:off x="10858716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2" name="Line 76"/>
          <p:cNvSpPr>
            <a:spLocks noChangeShapeType="1"/>
          </p:cNvSpPr>
          <p:nvPr/>
        </p:nvSpPr>
        <p:spPr bwMode="auto">
          <a:xfrm flipH="1">
            <a:off x="10750766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3" name="Line 77"/>
          <p:cNvSpPr>
            <a:spLocks noChangeShapeType="1"/>
          </p:cNvSpPr>
          <p:nvPr/>
        </p:nvSpPr>
        <p:spPr bwMode="auto">
          <a:xfrm>
            <a:off x="10858716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4" name="Line 78"/>
          <p:cNvSpPr>
            <a:spLocks noChangeShapeType="1"/>
          </p:cNvSpPr>
          <p:nvPr/>
        </p:nvSpPr>
        <p:spPr bwMode="auto">
          <a:xfrm>
            <a:off x="10858716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5" name="Oval 79"/>
          <p:cNvSpPr>
            <a:spLocks noChangeArrowheads="1"/>
          </p:cNvSpPr>
          <p:nvPr/>
        </p:nvSpPr>
        <p:spPr bwMode="auto">
          <a:xfrm>
            <a:off x="10831728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6" name="Oval 80"/>
          <p:cNvSpPr>
            <a:spLocks noChangeArrowheads="1"/>
          </p:cNvSpPr>
          <p:nvPr/>
        </p:nvSpPr>
        <p:spPr bwMode="auto">
          <a:xfrm>
            <a:off x="10831728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7" name="Rectangle 81"/>
          <p:cNvSpPr>
            <a:spLocks noChangeArrowheads="1"/>
          </p:cNvSpPr>
          <p:nvPr/>
        </p:nvSpPr>
        <p:spPr bwMode="auto">
          <a:xfrm>
            <a:off x="10733303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8" name="Rectangle 82"/>
          <p:cNvSpPr>
            <a:spLocks noChangeArrowheads="1"/>
          </p:cNvSpPr>
          <p:nvPr/>
        </p:nvSpPr>
        <p:spPr bwMode="auto">
          <a:xfrm>
            <a:off x="10733303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9" name="Line 83"/>
          <p:cNvSpPr>
            <a:spLocks noChangeShapeType="1"/>
          </p:cNvSpPr>
          <p:nvPr/>
        </p:nvSpPr>
        <p:spPr bwMode="auto">
          <a:xfrm>
            <a:off x="10858716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0" name="Rectangle 84"/>
          <p:cNvSpPr>
            <a:spLocks noChangeArrowheads="1"/>
          </p:cNvSpPr>
          <p:nvPr/>
        </p:nvSpPr>
        <p:spPr bwMode="auto">
          <a:xfrm>
            <a:off x="10094944" y="5972994"/>
            <a:ext cx="1232277" cy="53686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1" name="Rectangle 85"/>
          <p:cNvSpPr>
            <a:spLocks noChangeArrowheads="1"/>
          </p:cNvSpPr>
          <p:nvPr/>
        </p:nvSpPr>
        <p:spPr bwMode="auto">
          <a:xfrm>
            <a:off x="10096717" y="4348868"/>
            <a:ext cx="1229694" cy="536689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2" name="Rectangle 87"/>
          <p:cNvSpPr>
            <a:spLocks noChangeArrowheads="1"/>
          </p:cNvSpPr>
          <p:nvPr/>
        </p:nvSpPr>
        <p:spPr bwMode="auto">
          <a:xfrm>
            <a:off x="10097861" y="2708095"/>
            <a:ext cx="1221782" cy="1641601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3" name="Freeform 93"/>
          <p:cNvSpPr>
            <a:spLocks noEditPoints="1"/>
          </p:cNvSpPr>
          <p:nvPr/>
        </p:nvSpPr>
        <p:spPr bwMode="auto">
          <a:xfrm>
            <a:off x="10847613" y="5842819"/>
            <a:ext cx="1008000" cy="572546"/>
          </a:xfrm>
          <a:custGeom>
            <a:avLst/>
            <a:gdLst>
              <a:gd name="T0" fmla="*/ 743 w 743"/>
              <a:gd name="T1" fmla="*/ 0 h 286"/>
              <a:gd name="T2" fmla="*/ 731 w 743"/>
              <a:gd name="T3" fmla="*/ 16 h 286"/>
              <a:gd name="T4" fmla="*/ 720 w 743"/>
              <a:gd name="T5" fmla="*/ 0 h 286"/>
              <a:gd name="T6" fmla="*/ 719 w 743"/>
              <a:gd name="T7" fmla="*/ 252 h 286"/>
              <a:gd name="T8" fmla="*/ 24 w 743"/>
              <a:gd name="T9" fmla="*/ 252 h 286"/>
              <a:gd name="T10" fmla="*/ 24 w 743"/>
              <a:gd name="T11" fmla="*/ 0 h 286"/>
              <a:gd name="T12" fmla="*/ 12 w 743"/>
              <a:gd name="T13" fmla="*/ 16 h 286"/>
              <a:gd name="T14" fmla="*/ 1 w 743"/>
              <a:gd name="T15" fmla="*/ 0 h 286"/>
              <a:gd name="T16" fmla="*/ 0 w 743"/>
              <a:gd name="T17" fmla="*/ 252 h 286"/>
              <a:gd name="T18" fmla="*/ 0 w 743"/>
              <a:gd name="T19" fmla="*/ 286 h 286"/>
              <a:gd name="T20" fmla="*/ 743 w 743"/>
              <a:gd name="T21" fmla="*/ 286 h 286"/>
              <a:gd name="T22" fmla="*/ 743 w 743"/>
              <a:gd name="T23" fmla="*/ 0 h 286"/>
              <a:gd name="T24" fmla="*/ 743 w 743"/>
              <a:gd name="T25" fmla="*/ 0 h 286"/>
              <a:gd name="T26" fmla="*/ 720 w 743"/>
              <a:gd name="T27" fmla="*/ 0 h 286"/>
              <a:gd name="T28" fmla="*/ 719 w 743"/>
              <a:gd name="T29" fmla="*/ 0 h 286"/>
              <a:gd name="T30" fmla="*/ 720 w 743"/>
              <a:gd name="T31" fmla="*/ 0 h 286"/>
              <a:gd name="T32" fmla="*/ 1 w 743"/>
              <a:gd name="T33" fmla="*/ 0 h 286"/>
              <a:gd name="T34" fmla="*/ 0 w 743"/>
              <a:gd name="T35" fmla="*/ 0 h 286"/>
              <a:gd name="T36" fmla="*/ 1 w 743"/>
              <a:gd name="T37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743" h="286">
                <a:moveTo>
                  <a:pt x="743" y="0"/>
                </a:moveTo>
                <a:lnTo>
                  <a:pt x="731" y="16"/>
                </a:lnTo>
                <a:lnTo>
                  <a:pt x="720" y="0"/>
                </a:lnTo>
                <a:lnTo>
                  <a:pt x="719" y="252"/>
                </a:lnTo>
                <a:lnTo>
                  <a:pt x="24" y="252"/>
                </a:lnTo>
                <a:lnTo>
                  <a:pt x="24" y="0"/>
                </a:lnTo>
                <a:lnTo>
                  <a:pt x="12" y="16"/>
                </a:lnTo>
                <a:lnTo>
                  <a:pt x="1" y="0"/>
                </a:lnTo>
                <a:lnTo>
                  <a:pt x="0" y="252"/>
                </a:lnTo>
                <a:lnTo>
                  <a:pt x="0" y="286"/>
                </a:lnTo>
                <a:lnTo>
                  <a:pt x="743" y="286"/>
                </a:lnTo>
                <a:lnTo>
                  <a:pt x="743" y="0"/>
                </a:lnTo>
                <a:lnTo>
                  <a:pt x="743" y="0"/>
                </a:lnTo>
                <a:close/>
                <a:moveTo>
                  <a:pt x="720" y="0"/>
                </a:moveTo>
                <a:lnTo>
                  <a:pt x="719" y="0"/>
                </a:lnTo>
                <a:lnTo>
                  <a:pt x="720" y="0"/>
                </a:lnTo>
                <a:close/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8B5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4" name="Freeform 94"/>
          <p:cNvSpPr>
            <a:spLocks noEditPoints="1"/>
          </p:cNvSpPr>
          <p:nvPr/>
        </p:nvSpPr>
        <p:spPr bwMode="auto">
          <a:xfrm>
            <a:off x="10839348" y="5842819"/>
            <a:ext cx="1008000" cy="572546"/>
          </a:xfrm>
          <a:custGeom>
            <a:avLst/>
            <a:gdLst>
              <a:gd name="T0" fmla="*/ 743 w 743"/>
              <a:gd name="T1" fmla="*/ 0 h 286"/>
              <a:gd name="T2" fmla="*/ 731 w 743"/>
              <a:gd name="T3" fmla="*/ 16 h 286"/>
              <a:gd name="T4" fmla="*/ 720 w 743"/>
              <a:gd name="T5" fmla="*/ 0 h 286"/>
              <a:gd name="T6" fmla="*/ 719 w 743"/>
              <a:gd name="T7" fmla="*/ 252 h 286"/>
              <a:gd name="T8" fmla="*/ 24 w 743"/>
              <a:gd name="T9" fmla="*/ 252 h 286"/>
              <a:gd name="T10" fmla="*/ 24 w 743"/>
              <a:gd name="T11" fmla="*/ 0 h 286"/>
              <a:gd name="T12" fmla="*/ 12 w 743"/>
              <a:gd name="T13" fmla="*/ 16 h 286"/>
              <a:gd name="T14" fmla="*/ 1 w 743"/>
              <a:gd name="T15" fmla="*/ 0 h 286"/>
              <a:gd name="T16" fmla="*/ 0 w 743"/>
              <a:gd name="T17" fmla="*/ 252 h 286"/>
              <a:gd name="T18" fmla="*/ 0 w 743"/>
              <a:gd name="T19" fmla="*/ 286 h 286"/>
              <a:gd name="T20" fmla="*/ 743 w 743"/>
              <a:gd name="T21" fmla="*/ 286 h 286"/>
              <a:gd name="T22" fmla="*/ 743 w 743"/>
              <a:gd name="T23" fmla="*/ 0 h 286"/>
              <a:gd name="T24" fmla="*/ 720 w 743"/>
              <a:gd name="T25" fmla="*/ 0 h 286"/>
              <a:gd name="T26" fmla="*/ 719 w 743"/>
              <a:gd name="T27" fmla="*/ 0 h 286"/>
              <a:gd name="T28" fmla="*/ 1 w 743"/>
              <a:gd name="T29" fmla="*/ 0 h 286"/>
              <a:gd name="T30" fmla="*/ 0 w 743"/>
              <a:gd name="T31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43" h="286">
                <a:moveTo>
                  <a:pt x="743" y="0"/>
                </a:moveTo>
                <a:lnTo>
                  <a:pt x="731" y="16"/>
                </a:lnTo>
                <a:lnTo>
                  <a:pt x="720" y="0"/>
                </a:lnTo>
                <a:lnTo>
                  <a:pt x="719" y="252"/>
                </a:lnTo>
                <a:lnTo>
                  <a:pt x="24" y="252"/>
                </a:lnTo>
                <a:lnTo>
                  <a:pt x="24" y="0"/>
                </a:lnTo>
                <a:lnTo>
                  <a:pt x="12" y="16"/>
                </a:lnTo>
                <a:lnTo>
                  <a:pt x="1" y="0"/>
                </a:lnTo>
                <a:lnTo>
                  <a:pt x="0" y="252"/>
                </a:lnTo>
                <a:lnTo>
                  <a:pt x="0" y="286"/>
                </a:lnTo>
                <a:lnTo>
                  <a:pt x="743" y="286"/>
                </a:lnTo>
                <a:lnTo>
                  <a:pt x="743" y="0"/>
                </a:lnTo>
                <a:moveTo>
                  <a:pt x="720" y="0"/>
                </a:moveTo>
                <a:lnTo>
                  <a:pt x="719" y="0"/>
                </a:lnTo>
                <a:moveTo>
                  <a:pt x="1" y="0"/>
                </a:moveTo>
                <a:lnTo>
                  <a:pt x="0" y="0"/>
                </a:lnTo>
              </a:path>
            </a:pathLst>
          </a:custGeom>
          <a:noFill/>
          <a:ln w="9525" cap="rnd">
            <a:solidFill>
              <a:srgbClr val="F282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5" name="Line 224"/>
          <p:cNvSpPr>
            <a:spLocks noChangeShapeType="1"/>
          </p:cNvSpPr>
          <p:nvPr/>
        </p:nvSpPr>
        <p:spPr bwMode="auto">
          <a:xfrm flipV="1">
            <a:off x="10858716" y="5766619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6" name="Line 225"/>
          <p:cNvSpPr>
            <a:spLocks noChangeShapeType="1"/>
          </p:cNvSpPr>
          <p:nvPr/>
        </p:nvSpPr>
        <p:spPr bwMode="auto">
          <a:xfrm flipH="1" flipV="1">
            <a:off x="10757116" y="5766619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7" name="Line 226"/>
          <p:cNvSpPr>
            <a:spLocks noChangeShapeType="1"/>
          </p:cNvSpPr>
          <p:nvPr/>
        </p:nvSpPr>
        <p:spPr bwMode="auto">
          <a:xfrm flipV="1">
            <a:off x="10858716" y="5677719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8" name="Line 227"/>
          <p:cNvSpPr>
            <a:spLocks noChangeShapeType="1"/>
          </p:cNvSpPr>
          <p:nvPr/>
        </p:nvSpPr>
        <p:spPr bwMode="auto">
          <a:xfrm flipH="1" flipV="1">
            <a:off x="10757116" y="5677719"/>
            <a:ext cx="101600" cy="10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59" name="Rectangle 240"/>
          <p:cNvSpPr>
            <a:spLocks noChangeArrowheads="1"/>
          </p:cNvSpPr>
          <p:nvPr/>
        </p:nvSpPr>
        <p:spPr bwMode="auto">
          <a:xfrm>
            <a:off x="489222" y="6236519"/>
            <a:ext cx="9207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-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60" name="Picture 2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486" y="957127"/>
            <a:ext cx="208915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1" name="Rectangle 300"/>
          <p:cNvSpPr>
            <a:spLocks noChangeArrowheads="1"/>
          </p:cNvSpPr>
          <p:nvPr/>
        </p:nvSpPr>
        <p:spPr bwMode="auto">
          <a:xfrm>
            <a:off x="5522867" y="2798162"/>
            <a:ext cx="90527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ТН ВВ1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2" name="Rectangle 300"/>
          <p:cNvSpPr>
            <a:spLocks noChangeArrowheads="1"/>
          </p:cNvSpPr>
          <p:nvPr/>
        </p:nvSpPr>
        <p:spPr bwMode="auto">
          <a:xfrm>
            <a:off x="4416533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ОЛ1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3" name="Rectangle 300"/>
          <p:cNvSpPr>
            <a:spLocks noChangeArrowheads="1"/>
          </p:cNvSpPr>
          <p:nvPr/>
        </p:nvSpPr>
        <p:spPr bwMode="auto">
          <a:xfrm>
            <a:off x="3211646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РВ1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4" name="Rectangle 300"/>
          <p:cNvSpPr>
            <a:spLocks noChangeArrowheads="1"/>
          </p:cNvSpPr>
          <p:nvPr/>
        </p:nvSpPr>
        <p:spPr bwMode="auto">
          <a:xfrm>
            <a:off x="10103066" y="2798162"/>
            <a:ext cx="132478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СВ2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5" name="Rectangle 300"/>
          <p:cNvSpPr>
            <a:spLocks noChangeArrowheads="1"/>
          </p:cNvSpPr>
          <p:nvPr/>
        </p:nvSpPr>
        <p:spPr bwMode="auto">
          <a:xfrm>
            <a:off x="1959218" y="2798162"/>
            <a:ext cx="90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СВ1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6" name="Блок-схема: ссылка на другую страницу 565"/>
          <p:cNvSpPr/>
          <p:nvPr/>
        </p:nvSpPr>
        <p:spPr>
          <a:xfrm rot="16200000">
            <a:off x="-240944" y="3062395"/>
            <a:ext cx="1648453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7" name="Rectangle 317"/>
          <p:cNvSpPr>
            <a:spLocks noChangeArrowheads="1"/>
          </p:cNvSpPr>
          <p:nvPr/>
        </p:nvSpPr>
        <p:spPr bwMode="auto">
          <a:xfrm>
            <a:off x="164058" y="3284984"/>
            <a:ext cx="74699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Релейный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отсек 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ЮНИТ-ДЗ-М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8" name="Блок-схема: ссылка на другую страницу 567"/>
          <p:cNvSpPr/>
          <p:nvPr/>
        </p:nvSpPr>
        <p:spPr>
          <a:xfrm rot="16200000">
            <a:off x="317116" y="4161794"/>
            <a:ext cx="532334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9" name="Блок-схема: ссылка на другую страницу 568"/>
          <p:cNvSpPr/>
          <p:nvPr/>
        </p:nvSpPr>
        <p:spPr>
          <a:xfrm rot="16200000">
            <a:off x="40360" y="4966125"/>
            <a:ext cx="1085849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0" name="Блок-схема: ссылка на другую страницу 569"/>
          <p:cNvSpPr/>
          <p:nvPr/>
        </p:nvSpPr>
        <p:spPr>
          <a:xfrm rot="16200000">
            <a:off x="316723" y="5782237"/>
            <a:ext cx="533121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1" name="Rectangle 317"/>
          <p:cNvSpPr>
            <a:spLocks noChangeArrowheads="1"/>
          </p:cNvSpPr>
          <p:nvPr/>
        </p:nvSpPr>
        <p:spPr bwMode="auto">
          <a:xfrm>
            <a:off x="164058" y="4427820"/>
            <a:ext cx="7774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Отсек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с</a:t>
            </a:r>
            <a:r>
              <a:rPr kumimoji="0" lang="ru-RU" altLang="ru-RU" sz="12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борных шин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2" name="Rectangle 317"/>
          <p:cNvSpPr>
            <a:spLocks noChangeArrowheads="1"/>
          </p:cNvSpPr>
          <p:nvPr/>
        </p:nvSpPr>
        <p:spPr bwMode="auto">
          <a:xfrm>
            <a:off x="162402" y="5066600"/>
            <a:ext cx="82715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Отсек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выключателя/</a:t>
            </a:r>
          </a:p>
          <a:p>
            <a:pPr lvl="0"/>
            <a:r>
              <a:rPr lang="ru-RU" altLang="ru-RU" sz="1200" dirty="0" err="1" smtClean="0">
                <a:solidFill>
                  <a:srgbClr val="000000"/>
                </a:solidFill>
                <a:latin typeface="Arial Narrow" panose="020B0606020202030204" pitchFamily="34" charset="0"/>
              </a:rPr>
              <a:t>выкатного</a:t>
            </a:r>
            <a:endParaRPr lang="ru-RU" altLang="ru-RU" sz="1200" dirty="0" smtClean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lvl="0"/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элемента</a:t>
            </a:r>
            <a:endParaRPr kumimoji="0" lang="ru-RU" altLang="ru-RU" sz="12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573" name="Rectangle 317"/>
          <p:cNvSpPr>
            <a:spLocks noChangeArrowheads="1"/>
          </p:cNvSpPr>
          <p:nvPr/>
        </p:nvSpPr>
        <p:spPr bwMode="auto">
          <a:xfrm>
            <a:off x="164058" y="5971346"/>
            <a:ext cx="44403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ru-RU" altLang="ru-RU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Отсек</a:t>
            </a:r>
          </a:p>
          <a:p>
            <a:pPr lvl="0"/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ввода/</a:t>
            </a:r>
          </a:p>
          <a:p>
            <a:pPr lvl="0"/>
            <a:r>
              <a:rPr lang="ru-RU" altLang="ru-RU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вывода</a:t>
            </a:r>
            <a:endParaRPr lang="ru-RU" altLang="ru-RU" dirty="0"/>
          </a:p>
        </p:txBody>
      </p:sp>
      <p:sp>
        <p:nvSpPr>
          <p:cNvPr id="574" name="Rectangle 49"/>
          <p:cNvSpPr>
            <a:spLocks noChangeArrowheads="1"/>
          </p:cNvSpPr>
          <p:nvPr/>
        </p:nvSpPr>
        <p:spPr bwMode="auto">
          <a:xfrm>
            <a:off x="4387105" y="2708920"/>
            <a:ext cx="1134519" cy="16416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75" name="Группа 574"/>
          <p:cNvGrpSpPr/>
          <p:nvPr/>
        </p:nvGrpSpPr>
        <p:grpSpPr>
          <a:xfrm>
            <a:off x="4427337" y="3100882"/>
            <a:ext cx="625475" cy="3177958"/>
            <a:chOff x="7968208" y="2907977"/>
            <a:chExt cx="625475" cy="3177958"/>
          </a:xfrm>
        </p:grpSpPr>
        <p:pic>
          <p:nvPicPr>
            <p:cNvPr id="576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7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8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9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0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1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2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3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4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5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6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7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8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9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0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1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2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3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4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5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6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7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03" name="Группа 602"/>
          <p:cNvGrpSpPr/>
          <p:nvPr/>
        </p:nvGrpSpPr>
        <p:grpSpPr>
          <a:xfrm>
            <a:off x="3112584" y="3100882"/>
            <a:ext cx="625475" cy="3177958"/>
            <a:chOff x="7968208" y="2907977"/>
            <a:chExt cx="625475" cy="3177958"/>
          </a:xfrm>
        </p:grpSpPr>
        <p:pic>
          <p:nvPicPr>
            <p:cNvPr id="604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8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9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0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1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2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3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4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5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6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7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8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9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0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1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2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3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4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5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6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7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8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9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0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31" name="Группа 630"/>
          <p:cNvGrpSpPr/>
          <p:nvPr/>
        </p:nvGrpSpPr>
        <p:grpSpPr>
          <a:xfrm>
            <a:off x="10119397" y="3100882"/>
            <a:ext cx="625475" cy="3177958"/>
            <a:chOff x="7968208" y="2907977"/>
            <a:chExt cx="625475" cy="3177958"/>
          </a:xfrm>
        </p:grpSpPr>
        <p:pic>
          <p:nvPicPr>
            <p:cNvPr id="632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3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4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5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6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7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8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9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0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1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2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3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4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5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6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7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8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9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0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1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2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3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4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5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6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7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8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59" name="Группа 658"/>
          <p:cNvGrpSpPr/>
          <p:nvPr/>
        </p:nvGrpSpPr>
        <p:grpSpPr>
          <a:xfrm>
            <a:off x="5865026" y="3100882"/>
            <a:ext cx="625475" cy="2355633"/>
            <a:chOff x="7968208" y="2907977"/>
            <a:chExt cx="625475" cy="2355633"/>
          </a:xfrm>
        </p:grpSpPr>
        <p:pic>
          <p:nvPicPr>
            <p:cNvPr id="660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1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62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63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64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65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66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67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68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69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0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1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2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3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4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5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6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7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678" name="Двойная стрелка вверх/вниз 677"/>
          <p:cNvSpPr/>
          <p:nvPr/>
        </p:nvSpPr>
        <p:spPr>
          <a:xfrm>
            <a:off x="6429109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9" name="Двойная стрелка вверх/вниз 678"/>
          <p:cNvSpPr/>
          <p:nvPr/>
        </p:nvSpPr>
        <p:spPr>
          <a:xfrm>
            <a:off x="4550068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0" name="Двойная стрелка вверх/вниз 679"/>
          <p:cNvSpPr/>
          <p:nvPr/>
        </p:nvSpPr>
        <p:spPr>
          <a:xfrm>
            <a:off x="3257059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1" name="Прямоугольник 680"/>
          <p:cNvSpPr/>
          <p:nvPr/>
        </p:nvSpPr>
        <p:spPr>
          <a:xfrm>
            <a:off x="2100552" y="2348880"/>
            <a:ext cx="8964000" cy="14401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2" name="Rectangle 300"/>
          <p:cNvSpPr>
            <a:spLocks noChangeArrowheads="1"/>
          </p:cNvSpPr>
          <p:nvPr/>
        </p:nvSpPr>
        <p:spPr bwMode="auto">
          <a:xfrm>
            <a:off x="2195140" y="2328303"/>
            <a:ext cx="150826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CAN-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шина</a:t>
            </a:r>
            <a:r>
              <a:rPr kumimoji="0" lang="ru-RU" altLang="ru-RU" sz="11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1 секции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3" name="Двойная стрелка влево/вверх 682"/>
          <p:cNvSpPr/>
          <p:nvPr/>
        </p:nvSpPr>
        <p:spPr>
          <a:xfrm rot="10800000">
            <a:off x="3973044" y="1936534"/>
            <a:ext cx="394764" cy="379128"/>
          </a:xfrm>
          <a:prstGeom prst="leftUpArrow">
            <a:avLst>
              <a:gd name="adj1" fmla="val 14951"/>
              <a:gd name="adj2" fmla="val 13276"/>
              <a:gd name="adj3" fmla="val 2835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4" name="Прямоугольник 683"/>
          <p:cNvSpPr/>
          <p:nvPr/>
        </p:nvSpPr>
        <p:spPr>
          <a:xfrm>
            <a:off x="3938720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5" name="Rectangle 300"/>
          <p:cNvSpPr>
            <a:spLocks noChangeArrowheads="1"/>
          </p:cNvSpPr>
          <p:nvPr/>
        </p:nvSpPr>
        <p:spPr bwMode="auto">
          <a:xfrm>
            <a:off x="3963372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86" name="Соединительная линия уступом 685"/>
          <p:cNvCxnSpPr>
            <a:endCxn id="529" idx="3"/>
          </p:cNvCxnSpPr>
          <p:nvPr/>
        </p:nvCxnSpPr>
        <p:spPr>
          <a:xfrm rot="5400000">
            <a:off x="3526499" y="4734540"/>
            <a:ext cx="1210145" cy="18567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" name="Прямоугольник 686"/>
          <p:cNvSpPr/>
          <p:nvPr/>
        </p:nvSpPr>
        <p:spPr>
          <a:xfrm>
            <a:off x="5159408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8" name="Rectangle 300"/>
          <p:cNvSpPr>
            <a:spLocks noChangeArrowheads="1"/>
          </p:cNvSpPr>
          <p:nvPr/>
        </p:nvSpPr>
        <p:spPr bwMode="auto">
          <a:xfrm>
            <a:off x="5184060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89" name="Соединительная линия уступом 688"/>
          <p:cNvCxnSpPr>
            <a:endCxn id="507" idx="3"/>
          </p:cNvCxnSpPr>
          <p:nvPr/>
        </p:nvCxnSpPr>
        <p:spPr>
          <a:xfrm rot="5400000">
            <a:off x="4771710" y="4745661"/>
            <a:ext cx="1210145" cy="16343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0" name="Прямоугольник 689"/>
          <p:cNvSpPr/>
          <p:nvPr/>
        </p:nvSpPr>
        <p:spPr>
          <a:xfrm>
            <a:off x="10913143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1" name="Rectangle 300"/>
          <p:cNvSpPr>
            <a:spLocks noChangeArrowheads="1"/>
          </p:cNvSpPr>
          <p:nvPr/>
        </p:nvSpPr>
        <p:spPr bwMode="auto">
          <a:xfrm>
            <a:off x="10937795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92" name="Блок-схема: ссылка на другую страницу 691"/>
          <p:cNvSpPr/>
          <p:nvPr/>
        </p:nvSpPr>
        <p:spPr>
          <a:xfrm rot="16200000">
            <a:off x="-289211" y="1365674"/>
            <a:ext cx="1744987" cy="927891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3" name="Rectangle 317"/>
          <p:cNvSpPr>
            <a:spLocks noChangeArrowheads="1"/>
          </p:cNvSpPr>
          <p:nvPr/>
        </p:nvSpPr>
        <p:spPr bwMode="auto">
          <a:xfrm>
            <a:off x="164058" y="1552620"/>
            <a:ext cx="80791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ЮНИТ-М310-ЦД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0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и</a:t>
            </a:r>
            <a:r>
              <a:rPr kumimoji="0" lang="ru-RU" altLang="ru-RU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ли</a:t>
            </a:r>
          </a:p>
          <a:p>
            <a:r>
              <a:rPr lang="ru-RU" altLang="ru-RU" sz="10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ЮНИТ-М314-ЦД</a:t>
            </a:r>
          </a:p>
          <a:p>
            <a:r>
              <a:rPr kumimoji="0" lang="ru-RU" altLang="ru-RU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+</a:t>
            </a:r>
          </a:p>
          <a:p>
            <a:r>
              <a:rPr lang="ru-RU" altLang="ru-RU" sz="10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ЮНИТ-ИЧМ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94" name="Соединительная линия уступом 693"/>
          <p:cNvCxnSpPr/>
          <p:nvPr/>
        </p:nvCxnSpPr>
        <p:spPr>
          <a:xfrm>
            <a:off x="7212370" y="3528714"/>
            <a:ext cx="362661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5" name="Rectangle 7"/>
          <p:cNvSpPr>
            <a:spLocks noChangeArrowheads="1"/>
          </p:cNvSpPr>
          <p:nvPr/>
        </p:nvSpPr>
        <p:spPr bwMode="auto">
          <a:xfrm>
            <a:off x="6602423" y="2709684"/>
            <a:ext cx="1279525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96" name="Line 50"/>
          <p:cNvSpPr>
            <a:spLocks noChangeShapeType="1"/>
          </p:cNvSpPr>
          <p:nvPr/>
        </p:nvSpPr>
        <p:spPr bwMode="auto">
          <a:xfrm>
            <a:off x="7412048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97" name="Line 51"/>
          <p:cNvSpPr>
            <a:spLocks noChangeShapeType="1"/>
          </p:cNvSpPr>
          <p:nvPr/>
        </p:nvSpPr>
        <p:spPr bwMode="auto">
          <a:xfrm flipH="1">
            <a:off x="7304098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98" name="Line 52"/>
          <p:cNvSpPr>
            <a:spLocks noChangeShapeType="1"/>
          </p:cNvSpPr>
          <p:nvPr/>
        </p:nvSpPr>
        <p:spPr bwMode="auto">
          <a:xfrm>
            <a:off x="7412048" y="4999857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99" name="Line 53"/>
          <p:cNvSpPr>
            <a:spLocks noChangeShapeType="1"/>
          </p:cNvSpPr>
          <p:nvPr/>
        </p:nvSpPr>
        <p:spPr bwMode="auto">
          <a:xfrm flipH="1">
            <a:off x="7304098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00" name="Line 54"/>
          <p:cNvSpPr>
            <a:spLocks noChangeShapeType="1"/>
          </p:cNvSpPr>
          <p:nvPr/>
        </p:nvSpPr>
        <p:spPr bwMode="auto">
          <a:xfrm>
            <a:off x="7412048" y="5090344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01" name="Line 55"/>
          <p:cNvSpPr>
            <a:spLocks noChangeShapeType="1"/>
          </p:cNvSpPr>
          <p:nvPr/>
        </p:nvSpPr>
        <p:spPr bwMode="auto">
          <a:xfrm>
            <a:off x="7412048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02" name="Oval 56"/>
          <p:cNvSpPr>
            <a:spLocks noChangeArrowheads="1"/>
          </p:cNvSpPr>
          <p:nvPr/>
        </p:nvSpPr>
        <p:spPr bwMode="auto">
          <a:xfrm>
            <a:off x="7386648" y="4756969"/>
            <a:ext cx="52387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03" name="Oval 57"/>
          <p:cNvSpPr>
            <a:spLocks noChangeArrowheads="1"/>
          </p:cNvSpPr>
          <p:nvPr/>
        </p:nvSpPr>
        <p:spPr bwMode="auto">
          <a:xfrm>
            <a:off x="7386648" y="4756969"/>
            <a:ext cx="52387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04" name="Line 58"/>
          <p:cNvSpPr>
            <a:spLocks noChangeShapeType="1"/>
          </p:cNvSpPr>
          <p:nvPr/>
        </p:nvSpPr>
        <p:spPr bwMode="auto">
          <a:xfrm flipV="1">
            <a:off x="7412048" y="5760269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05" name="Line 59"/>
          <p:cNvSpPr>
            <a:spLocks noChangeShapeType="1"/>
          </p:cNvSpPr>
          <p:nvPr/>
        </p:nvSpPr>
        <p:spPr bwMode="auto">
          <a:xfrm flipH="1" flipV="1">
            <a:off x="7304098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06" name="Line 60"/>
          <p:cNvSpPr>
            <a:spLocks noChangeShapeType="1"/>
          </p:cNvSpPr>
          <p:nvPr/>
        </p:nvSpPr>
        <p:spPr bwMode="auto">
          <a:xfrm flipV="1">
            <a:off x="7412048" y="5669782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07" name="Line 61"/>
          <p:cNvSpPr>
            <a:spLocks noChangeShapeType="1"/>
          </p:cNvSpPr>
          <p:nvPr/>
        </p:nvSpPr>
        <p:spPr bwMode="auto">
          <a:xfrm flipH="1" flipV="1">
            <a:off x="7304098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08" name="Rectangle 62"/>
          <p:cNvSpPr>
            <a:spLocks noChangeArrowheads="1"/>
          </p:cNvSpPr>
          <p:nvPr/>
        </p:nvSpPr>
        <p:spPr bwMode="auto">
          <a:xfrm>
            <a:off x="7286635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09" name="Rectangle 63"/>
          <p:cNvSpPr>
            <a:spLocks noChangeArrowheads="1"/>
          </p:cNvSpPr>
          <p:nvPr/>
        </p:nvSpPr>
        <p:spPr bwMode="auto">
          <a:xfrm>
            <a:off x="7286635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0" name="Line 64"/>
          <p:cNvSpPr>
            <a:spLocks noChangeShapeType="1"/>
          </p:cNvSpPr>
          <p:nvPr/>
        </p:nvSpPr>
        <p:spPr bwMode="auto">
          <a:xfrm>
            <a:off x="7412048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1" name="Line 65"/>
          <p:cNvSpPr>
            <a:spLocks noChangeShapeType="1"/>
          </p:cNvSpPr>
          <p:nvPr/>
        </p:nvSpPr>
        <p:spPr bwMode="auto">
          <a:xfrm>
            <a:off x="7412048" y="5868218"/>
            <a:ext cx="0" cy="6120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2" name="Rectangle 69"/>
          <p:cNvSpPr>
            <a:spLocks noChangeArrowheads="1"/>
          </p:cNvSpPr>
          <p:nvPr/>
        </p:nvSpPr>
        <p:spPr bwMode="auto">
          <a:xfrm>
            <a:off x="6602423" y="5972994"/>
            <a:ext cx="1279525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3" name="Rectangle 70"/>
          <p:cNvSpPr>
            <a:spLocks noChangeArrowheads="1"/>
          </p:cNvSpPr>
          <p:nvPr/>
        </p:nvSpPr>
        <p:spPr bwMode="auto">
          <a:xfrm>
            <a:off x="6602423" y="4350569"/>
            <a:ext cx="1279525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4" name="Rectangle 71"/>
          <p:cNvSpPr>
            <a:spLocks noChangeArrowheads="1"/>
          </p:cNvSpPr>
          <p:nvPr/>
        </p:nvSpPr>
        <p:spPr bwMode="auto">
          <a:xfrm>
            <a:off x="6602423" y="4891907"/>
            <a:ext cx="1279525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5" name="Rectangle 72"/>
          <p:cNvSpPr>
            <a:spLocks noChangeArrowheads="1"/>
          </p:cNvSpPr>
          <p:nvPr/>
        </p:nvSpPr>
        <p:spPr bwMode="auto">
          <a:xfrm>
            <a:off x="6602423" y="2708920"/>
            <a:ext cx="1279525" cy="16416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6" name="Rectangle 300"/>
          <p:cNvSpPr>
            <a:spLocks noChangeArrowheads="1"/>
          </p:cNvSpPr>
          <p:nvPr/>
        </p:nvSpPr>
        <p:spPr bwMode="auto">
          <a:xfrm>
            <a:off x="6711961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ВВ1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17" name="Прямоугольник 716"/>
          <p:cNvSpPr/>
          <p:nvPr/>
        </p:nvSpPr>
        <p:spPr>
          <a:xfrm>
            <a:off x="7439035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8" name="Rectangle 300"/>
          <p:cNvSpPr>
            <a:spLocks noChangeArrowheads="1"/>
          </p:cNvSpPr>
          <p:nvPr/>
        </p:nvSpPr>
        <p:spPr bwMode="auto">
          <a:xfrm>
            <a:off x="7463687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19" name="Соединительная линия уступом 718"/>
          <p:cNvCxnSpPr>
            <a:endCxn id="709" idx="3"/>
          </p:cNvCxnSpPr>
          <p:nvPr/>
        </p:nvCxnSpPr>
        <p:spPr>
          <a:xfrm rot="5400000">
            <a:off x="7026814" y="4734540"/>
            <a:ext cx="1210145" cy="18567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0" name="Rectangle 6"/>
          <p:cNvSpPr>
            <a:spLocks noChangeArrowheads="1"/>
          </p:cNvSpPr>
          <p:nvPr/>
        </p:nvSpPr>
        <p:spPr bwMode="auto">
          <a:xfrm>
            <a:off x="1907643" y="2709684"/>
            <a:ext cx="1193083" cy="358437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23" name="Rectangle 87"/>
          <p:cNvSpPr>
            <a:spLocks noChangeArrowheads="1"/>
          </p:cNvSpPr>
          <p:nvPr/>
        </p:nvSpPr>
        <p:spPr bwMode="auto">
          <a:xfrm>
            <a:off x="1906922" y="2706730"/>
            <a:ext cx="1193805" cy="1646646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26" name="Oval 56"/>
          <p:cNvSpPr>
            <a:spLocks noChangeArrowheads="1"/>
          </p:cNvSpPr>
          <p:nvPr/>
        </p:nvSpPr>
        <p:spPr bwMode="auto">
          <a:xfrm>
            <a:off x="7388732" y="4756969"/>
            <a:ext cx="52387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27" name="Oval 57"/>
          <p:cNvSpPr>
            <a:spLocks noChangeArrowheads="1"/>
          </p:cNvSpPr>
          <p:nvPr/>
        </p:nvSpPr>
        <p:spPr bwMode="auto">
          <a:xfrm>
            <a:off x="7388732" y="4756969"/>
            <a:ext cx="52387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28" name="Line 50"/>
          <p:cNvSpPr>
            <a:spLocks noChangeShapeType="1"/>
          </p:cNvSpPr>
          <p:nvPr/>
        </p:nvSpPr>
        <p:spPr bwMode="auto">
          <a:xfrm>
            <a:off x="2398757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29" name="Line 51"/>
          <p:cNvSpPr>
            <a:spLocks noChangeShapeType="1"/>
          </p:cNvSpPr>
          <p:nvPr/>
        </p:nvSpPr>
        <p:spPr bwMode="auto">
          <a:xfrm flipH="1">
            <a:off x="2290807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0" name="Line 52"/>
          <p:cNvSpPr>
            <a:spLocks noChangeShapeType="1"/>
          </p:cNvSpPr>
          <p:nvPr/>
        </p:nvSpPr>
        <p:spPr bwMode="auto">
          <a:xfrm>
            <a:off x="2398757" y="4999857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1" name="Line 53"/>
          <p:cNvSpPr>
            <a:spLocks noChangeShapeType="1"/>
          </p:cNvSpPr>
          <p:nvPr/>
        </p:nvSpPr>
        <p:spPr bwMode="auto">
          <a:xfrm flipH="1">
            <a:off x="2290807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2" name="Line 54"/>
          <p:cNvSpPr>
            <a:spLocks noChangeShapeType="1"/>
          </p:cNvSpPr>
          <p:nvPr/>
        </p:nvSpPr>
        <p:spPr bwMode="auto">
          <a:xfrm>
            <a:off x="2398757" y="5090344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3" name="Oval 56"/>
          <p:cNvSpPr>
            <a:spLocks noChangeArrowheads="1"/>
          </p:cNvSpPr>
          <p:nvPr/>
        </p:nvSpPr>
        <p:spPr bwMode="auto">
          <a:xfrm>
            <a:off x="2373357" y="4756969"/>
            <a:ext cx="52387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4" name="Oval 57"/>
          <p:cNvSpPr>
            <a:spLocks noChangeArrowheads="1"/>
          </p:cNvSpPr>
          <p:nvPr/>
        </p:nvSpPr>
        <p:spPr bwMode="auto">
          <a:xfrm>
            <a:off x="2373357" y="4756969"/>
            <a:ext cx="52387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5" name="Line 58"/>
          <p:cNvSpPr>
            <a:spLocks noChangeShapeType="1"/>
          </p:cNvSpPr>
          <p:nvPr/>
        </p:nvSpPr>
        <p:spPr bwMode="auto">
          <a:xfrm flipV="1">
            <a:off x="2398757" y="5760269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6" name="Line 59"/>
          <p:cNvSpPr>
            <a:spLocks noChangeShapeType="1"/>
          </p:cNvSpPr>
          <p:nvPr/>
        </p:nvSpPr>
        <p:spPr bwMode="auto">
          <a:xfrm flipH="1" flipV="1">
            <a:off x="2290807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7" name="Line 60"/>
          <p:cNvSpPr>
            <a:spLocks noChangeShapeType="1"/>
          </p:cNvSpPr>
          <p:nvPr/>
        </p:nvSpPr>
        <p:spPr bwMode="auto">
          <a:xfrm flipV="1">
            <a:off x="2398757" y="5669782"/>
            <a:ext cx="109537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8" name="Line 61"/>
          <p:cNvSpPr>
            <a:spLocks noChangeShapeType="1"/>
          </p:cNvSpPr>
          <p:nvPr/>
        </p:nvSpPr>
        <p:spPr bwMode="auto">
          <a:xfrm flipH="1" flipV="1">
            <a:off x="2290807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9" name="Rectangle 69"/>
          <p:cNvSpPr>
            <a:spLocks noChangeArrowheads="1"/>
          </p:cNvSpPr>
          <p:nvPr/>
        </p:nvSpPr>
        <p:spPr bwMode="auto">
          <a:xfrm>
            <a:off x="1906922" y="5972994"/>
            <a:ext cx="1193805" cy="53686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40" name="Rectangle 48"/>
          <p:cNvSpPr>
            <a:spLocks noChangeArrowheads="1"/>
          </p:cNvSpPr>
          <p:nvPr/>
        </p:nvSpPr>
        <p:spPr bwMode="auto">
          <a:xfrm>
            <a:off x="1908195" y="4890240"/>
            <a:ext cx="1194120" cy="1084597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741" name="Группа 740"/>
          <p:cNvGrpSpPr/>
          <p:nvPr/>
        </p:nvGrpSpPr>
        <p:grpSpPr>
          <a:xfrm>
            <a:off x="6612899" y="3100882"/>
            <a:ext cx="625475" cy="3177958"/>
            <a:chOff x="7968208" y="2907977"/>
            <a:chExt cx="625475" cy="3177958"/>
          </a:xfrm>
        </p:grpSpPr>
        <p:pic>
          <p:nvPicPr>
            <p:cNvPr id="742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3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44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45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46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47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48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49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50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51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52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2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3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4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5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2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3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4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5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6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7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8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9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0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1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2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3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234" name="Группа 1233"/>
          <p:cNvGrpSpPr/>
          <p:nvPr/>
        </p:nvGrpSpPr>
        <p:grpSpPr>
          <a:xfrm>
            <a:off x="2413863" y="3100882"/>
            <a:ext cx="625475" cy="3177958"/>
            <a:chOff x="7968208" y="2907977"/>
            <a:chExt cx="625475" cy="3177958"/>
          </a:xfrm>
        </p:grpSpPr>
        <p:pic>
          <p:nvPicPr>
            <p:cNvPr id="1235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7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8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9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0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1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2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3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4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5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6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7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8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9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0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1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2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3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4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5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6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7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8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9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0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1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1262" name="Двойная стрелка вверх/вниз 1261"/>
          <p:cNvSpPr/>
          <p:nvPr/>
        </p:nvSpPr>
        <p:spPr>
          <a:xfrm>
            <a:off x="6820831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63" name="Соединительная линия уступом 1262"/>
          <p:cNvCxnSpPr/>
          <p:nvPr/>
        </p:nvCxnSpPr>
        <p:spPr>
          <a:xfrm>
            <a:off x="8433382" y="3528714"/>
            <a:ext cx="362661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64" name="Rectangle 5"/>
          <p:cNvSpPr>
            <a:spLocks noChangeArrowheads="1"/>
          </p:cNvSpPr>
          <p:nvPr/>
        </p:nvSpPr>
        <p:spPr bwMode="auto">
          <a:xfrm>
            <a:off x="9016859" y="2709684"/>
            <a:ext cx="1081087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65" name="Rectangle 6"/>
          <p:cNvSpPr>
            <a:spLocks noChangeArrowheads="1"/>
          </p:cNvSpPr>
          <p:nvPr/>
        </p:nvSpPr>
        <p:spPr bwMode="auto">
          <a:xfrm>
            <a:off x="7882191" y="2709684"/>
            <a:ext cx="1135062" cy="36036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66" name="Rectangle 10"/>
          <p:cNvSpPr>
            <a:spLocks noChangeArrowheads="1"/>
          </p:cNvSpPr>
          <p:nvPr/>
        </p:nvSpPr>
        <p:spPr bwMode="auto">
          <a:xfrm>
            <a:off x="9016859" y="2708920"/>
            <a:ext cx="1081087" cy="16416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67" name="Rectangle 11"/>
          <p:cNvSpPr>
            <a:spLocks noChangeArrowheads="1"/>
          </p:cNvSpPr>
          <p:nvPr/>
        </p:nvSpPr>
        <p:spPr bwMode="auto">
          <a:xfrm>
            <a:off x="9016859" y="4350569"/>
            <a:ext cx="1081087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68" name="Rectangle 12"/>
          <p:cNvSpPr>
            <a:spLocks noChangeArrowheads="1"/>
          </p:cNvSpPr>
          <p:nvPr/>
        </p:nvSpPr>
        <p:spPr bwMode="auto">
          <a:xfrm>
            <a:off x="9016859" y="4891907"/>
            <a:ext cx="1081087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69" name="Rectangle 13"/>
          <p:cNvSpPr>
            <a:spLocks noChangeArrowheads="1"/>
          </p:cNvSpPr>
          <p:nvPr/>
        </p:nvSpPr>
        <p:spPr bwMode="auto">
          <a:xfrm>
            <a:off x="9016859" y="5972994"/>
            <a:ext cx="1081087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70" name="Oval 16"/>
          <p:cNvSpPr>
            <a:spLocks noChangeArrowheads="1"/>
          </p:cNvSpPr>
          <p:nvPr/>
        </p:nvSpPr>
        <p:spPr bwMode="auto">
          <a:xfrm>
            <a:off x="9683609" y="5360219"/>
            <a:ext cx="252412" cy="2524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71" name="Line 17"/>
          <p:cNvSpPr>
            <a:spLocks noChangeShapeType="1"/>
          </p:cNvSpPr>
          <p:nvPr/>
        </p:nvSpPr>
        <p:spPr bwMode="auto">
          <a:xfrm>
            <a:off x="9809021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72" name="Line 18"/>
          <p:cNvSpPr>
            <a:spLocks noChangeShapeType="1"/>
          </p:cNvSpPr>
          <p:nvPr/>
        </p:nvSpPr>
        <p:spPr bwMode="auto">
          <a:xfrm flipH="1">
            <a:off x="9701071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73" name="Line 19"/>
          <p:cNvSpPr>
            <a:spLocks noChangeShapeType="1"/>
          </p:cNvSpPr>
          <p:nvPr/>
        </p:nvSpPr>
        <p:spPr bwMode="auto">
          <a:xfrm>
            <a:off x="9809021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74" name="Line 20"/>
          <p:cNvSpPr>
            <a:spLocks noChangeShapeType="1"/>
          </p:cNvSpPr>
          <p:nvPr/>
        </p:nvSpPr>
        <p:spPr bwMode="auto">
          <a:xfrm flipH="1">
            <a:off x="9701071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75" name="Line 21"/>
          <p:cNvSpPr>
            <a:spLocks noChangeShapeType="1"/>
          </p:cNvSpPr>
          <p:nvPr/>
        </p:nvSpPr>
        <p:spPr bwMode="auto">
          <a:xfrm>
            <a:off x="9809021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76" name="Line 22"/>
          <p:cNvSpPr>
            <a:spLocks noChangeShapeType="1"/>
          </p:cNvSpPr>
          <p:nvPr/>
        </p:nvSpPr>
        <p:spPr bwMode="auto">
          <a:xfrm>
            <a:off x="9809021" y="5090344"/>
            <a:ext cx="0" cy="26987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77" name="Oval 23"/>
          <p:cNvSpPr>
            <a:spLocks noChangeArrowheads="1"/>
          </p:cNvSpPr>
          <p:nvPr/>
        </p:nvSpPr>
        <p:spPr bwMode="auto">
          <a:xfrm>
            <a:off x="9772509" y="5504682"/>
            <a:ext cx="252412" cy="2524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78" name="Freeform 24"/>
          <p:cNvSpPr>
            <a:spLocks/>
          </p:cNvSpPr>
          <p:nvPr/>
        </p:nvSpPr>
        <p:spPr bwMode="auto">
          <a:xfrm>
            <a:off x="9593121" y="5504682"/>
            <a:ext cx="252412" cy="252413"/>
          </a:xfrm>
          <a:custGeom>
            <a:avLst/>
            <a:gdLst>
              <a:gd name="T0" fmla="*/ 159 w 159"/>
              <a:gd name="T1" fmla="*/ 79 h 159"/>
              <a:gd name="T2" fmla="*/ 80 w 159"/>
              <a:gd name="T3" fmla="*/ 0 h 159"/>
              <a:gd name="T4" fmla="*/ 0 w 159"/>
              <a:gd name="T5" fmla="*/ 79 h 159"/>
              <a:gd name="T6" fmla="*/ 80 w 159"/>
              <a:gd name="T7" fmla="*/ 159 h 159"/>
              <a:gd name="T8" fmla="*/ 159 w 159"/>
              <a:gd name="T9" fmla="*/ 7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9" h="159">
                <a:moveTo>
                  <a:pt x="159" y="79"/>
                </a:moveTo>
                <a:cubicBezTo>
                  <a:pt x="159" y="35"/>
                  <a:pt x="123" y="0"/>
                  <a:pt x="80" y="0"/>
                </a:cubicBezTo>
                <a:cubicBezTo>
                  <a:pt x="35" y="0"/>
                  <a:pt x="0" y="35"/>
                  <a:pt x="0" y="79"/>
                </a:cubicBezTo>
                <a:cubicBezTo>
                  <a:pt x="0" y="123"/>
                  <a:pt x="35" y="159"/>
                  <a:pt x="80" y="159"/>
                </a:cubicBezTo>
                <a:cubicBezTo>
                  <a:pt x="123" y="159"/>
                  <a:pt x="159" y="123"/>
                  <a:pt x="159" y="79"/>
                </a:cubicBez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79" name="Oval 25"/>
          <p:cNvSpPr>
            <a:spLocks noChangeArrowheads="1"/>
          </p:cNvSpPr>
          <p:nvPr/>
        </p:nvSpPr>
        <p:spPr bwMode="auto">
          <a:xfrm>
            <a:off x="9782034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80" name="Oval 26"/>
          <p:cNvSpPr>
            <a:spLocks noChangeArrowheads="1"/>
          </p:cNvSpPr>
          <p:nvPr/>
        </p:nvSpPr>
        <p:spPr bwMode="auto">
          <a:xfrm>
            <a:off x="9782034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81" name="Line 27"/>
          <p:cNvSpPr>
            <a:spLocks noChangeShapeType="1"/>
          </p:cNvSpPr>
          <p:nvPr/>
        </p:nvSpPr>
        <p:spPr bwMode="auto">
          <a:xfrm>
            <a:off x="8656891" y="4810944"/>
            <a:ext cx="0" cy="188913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82" name="Line 28"/>
          <p:cNvSpPr>
            <a:spLocks noChangeShapeType="1"/>
          </p:cNvSpPr>
          <p:nvPr/>
        </p:nvSpPr>
        <p:spPr bwMode="auto">
          <a:xfrm flipH="1">
            <a:off x="8548941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83" name="Line 29"/>
          <p:cNvSpPr>
            <a:spLocks noChangeShapeType="1"/>
          </p:cNvSpPr>
          <p:nvPr/>
        </p:nvSpPr>
        <p:spPr bwMode="auto">
          <a:xfrm>
            <a:off x="8656891" y="4999857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84" name="Line 30"/>
          <p:cNvSpPr>
            <a:spLocks noChangeShapeType="1"/>
          </p:cNvSpPr>
          <p:nvPr/>
        </p:nvSpPr>
        <p:spPr bwMode="auto">
          <a:xfrm flipH="1">
            <a:off x="8548941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85" name="Line 31"/>
          <p:cNvSpPr>
            <a:spLocks noChangeShapeType="1"/>
          </p:cNvSpPr>
          <p:nvPr/>
        </p:nvSpPr>
        <p:spPr bwMode="auto">
          <a:xfrm>
            <a:off x="8656891" y="5090344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86" name="Line 32"/>
          <p:cNvSpPr>
            <a:spLocks noChangeShapeType="1"/>
          </p:cNvSpPr>
          <p:nvPr/>
        </p:nvSpPr>
        <p:spPr bwMode="auto">
          <a:xfrm>
            <a:off x="8656891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87" name="Oval 33"/>
          <p:cNvSpPr>
            <a:spLocks noChangeArrowheads="1"/>
          </p:cNvSpPr>
          <p:nvPr/>
        </p:nvSpPr>
        <p:spPr bwMode="auto">
          <a:xfrm>
            <a:off x="8629904" y="4756969"/>
            <a:ext cx="53975" cy="53975"/>
          </a:xfrm>
          <a:prstGeom prst="ellipse">
            <a:avLst/>
          </a:prstGeom>
          <a:solidFill>
            <a:srgbClr val="F282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88" name="Oval 34"/>
          <p:cNvSpPr>
            <a:spLocks noChangeArrowheads="1"/>
          </p:cNvSpPr>
          <p:nvPr/>
        </p:nvSpPr>
        <p:spPr bwMode="auto">
          <a:xfrm>
            <a:off x="8629904" y="4756969"/>
            <a:ext cx="53975" cy="53975"/>
          </a:xfrm>
          <a:prstGeom prst="ellipse">
            <a:avLst/>
          </a:prstGeom>
          <a:noFill/>
          <a:ln w="9525" cap="rnd">
            <a:solidFill>
              <a:srgbClr val="D9680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89" name="Line 35"/>
          <p:cNvSpPr>
            <a:spLocks noChangeShapeType="1"/>
          </p:cNvSpPr>
          <p:nvPr/>
        </p:nvSpPr>
        <p:spPr bwMode="auto">
          <a:xfrm flipV="1">
            <a:off x="8656891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90" name="Line 36"/>
          <p:cNvSpPr>
            <a:spLocks noChangeShapeType="1"/>
          </p:cNvSpPr>
          <p:nvPr/>
        </p:nvSpPr>
        <p:spPr bwMode="auto">
          <a:xfrm flipH="1" flipV="1">
            <a:off x="8548941" y="5760269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91" name="Line 37"/>
          <p:cNvSpPr>
            <a:spLocks noChangeShapeType="1"/>
          </p:cNvSpPr>
          <p:nvPr/>
        </p:nvSpPr>
        <p:spPr bwMode="auto">
          <a:xfrm flipV="1">
            <a:off x="8656891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92" name="Line 38"/>
          <p:cNvSpPr>
            <a:spLocks noChangeShapeType="1"/>
          </p:cNvSpPr>
          <p:nvPr/>
        </p:nvSpPr>
        <p:spPr bwMode="auto">
          <a:xfrm flipH="1" flipV="1">
            <a:off x="8548941" y="5669782"/>
            <a:ext cx="107950" cy="10795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93" name="Rectangle 39"/>
          <p:cNvSpPr>
            <a:spLocks noChangeArrowheads="1"/>
          </p:cNvSpPr>
          <p:nvPr/>
        </p:nvSpPr>
        <p:spPr bwMode="auto">
          <a:xfrm>
            <a:off x="8529891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94" name="Rectangle 40"/>
          <p:cNvSpPr>
            <a:spLocks noChangeArrowheads="1"/>
          </p:cNvSpPr>
          <p:nvPr/>
        </p:nvSpPr>
        <p:spPr bwMode="auto">
          <a:xfrm>
            <a:off x="8529891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95" name="Line 41"/>
          <p:cNvSpPr>
            <a:spLocks noChangeShapeType="1"/>
          </p:cNvSpPr>
          <p:nvPr/>
        </p:nvSpPr>
        <p:spPr bwMode="auto">
          <a:xfrm>
            <a:off x="8656891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96" name="Line 42"/>
          <p:cNvSpPr>
            <a:spLocks noChangeShapeType="1"/>
          </p:cNvSpPr>
          <p:nvPr/>
        </p:nvSpPr>
        <p:spPr bwMode="auto">
          <a:xfrm>
            <a:off x="8656891" y="5868219"/>
            <a:ext cx="0" cy="21272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97" name="Freeform 43"/>
          <p:cNvSpPr>
            <a:spLocks/>
          </p:cNvSpPr>
          <p:nvPr/>
        </p:nvSpPr>
        <p:spPr bwMode="auto">
          <a:xfrm>
            <a:off x="8602916" y="6080944"/>
            <a:ext cx="107950" cy="107950"/>
          </a:xfrm>
          <a:custGeom>
            <a:avLst/>
            <a:gdLst>
              <a:gd name="T0" fmla="*/ 0 w 68"/>
              <a:gd name="T1" fmla="*/ 0 h 68"/>
              <a:gd name="T2" fmla="*/ 68 w 68"/>
              <a:gd name="T3" fmla="*/ 0 h 68"/>
              <a:gd name="T4" fmla="*/ 34 w 68"/>
              <a:gd name="T5" fmla="*/ 68 h 68"/>
              <a:gd name="T6" fmla="*/ 0 w 68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98" name="Freeform 44"/>
          <p:cNvSpPr>
            <a:spLocks/>
          </p:cNvSpPr>
          <p:nvPr/>
        </p:nvSpPr>
        <p:spPr bwMode="auto">
          <a:xfrm>
            <a:off x="8602916" y="6080944"/>
            <a:ext cx="107950" cy="107950"/>
          </a:xfrm>
          <a:custGeom>
            <a:avLst/>
            <a:gdLst>
              <a:gd name="T0" fmla="*/ 0 w 68"/>
              <a:gd name="T1" fmla="*/ 0 h 68"/>
              <a:gd name="T2" fmla="*/ 68 w 68"/>
              <a:gd name="T3" fmla="*/ 0 h 68"/>
              <a:gd name="T4" fmla="*/ 34 w 68"/>
              <a:gd name="T5" fmla="*/ 68 h 68"/>
              <a:gd name="T6" fmla="*/ 0 w 68"/>
              <a:gd name="T7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68">
                <a:moveTo>
                  <a:pt x="0" y="0"/>
                </a:moveTo>
                <a:lnTo>
                  <a:pt x="68" y="0"/>
                </a:lnTo>
                <a:lnTo>
                  <a:pt x="34" y="68"/>
                </a:lnTo>
                <a:lnTo>
                  <a:pt x="0" y="0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99" name="Line 45"/>
          <p:cNvSpPr>
            <a:spLocks noChangeShapeType="1"/>
          </p:cNvSpPr>
          <p:nvPr/>
        </p:nvSpPr>
        <p:spPr bwMode="auto">
          <a:xfrm>
            <a:off x="8656891" y="6188894"/>
            <a:ext cx="0" cy="217488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00" name="Rectangle 46"/>
          <p:cNvSpPr>
            <a:spLocks noChangeArrowheads="1"/>
          </p:cNvSpPr>
          <p:nvPr/>
        </p:nvSpPr>
        <p:spPr bwMode="auto">
          <a:xfrm>
            <a:off x="7882191" y="5972994"/>
            <a:ext cx="1135062" cy="53975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01" name="Rectangle 47"/>
          <p:cNvSpPr>
            <a:spLocks noChangeArrowheads="1"/>
          </p:cNvSpPr>
          <p:nvPr/>
        </p:nvSpPr>
        <p:spPr bwMode="auto">
          <a:xfrm>
            <a:off x="7882191" y="4350569"/>
            <a:ext cx="1135062" cy="54133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02" name="Rectangle 48"/>
          <p:cNvSpPr>
            <a:spLocks noChangeArrowheads="1"/>
          </p:cNvSpPr>
          <p:nvPr/>
        </p:nvSpPr>
        <p:spPr bwMode="auto">
          <a:xfrm>
            <a:off x="7882191" y="4891907"/>
            <a:ext cx="1135062" cy="1081088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03" name="Rectangle 300"/>
          <p:cNvSpPr>
            <a:spLocks noChangeArrowheads="1"/>
          </p:cNvSpPr>
          <p:nvPr/>
        </p:nvSpPr>
        <p:spPr bwMode="auto">
          <a:xfrm>
            <a:off x="9016859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ТН1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04" name="Rectangle 300"/>
          <p:cNvSpPr>
            <a:spLocks noChangeArrowheads="1"/>
          </p:cNvSpPr>
          <p:nvPr/>
        </p:nvSpPr>
        <p:spPr bwMode="auto">
          <a:xfrm>
            <a:off x="7903772" y="2798162"/>
            <a:ext cx="10810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563"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ОЛ2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05" name="Rectangle 49"/>
          <p:cNvSpPr>
            <a:spLocks noChangeArrowheads="1"/>
          </p:cNvSpPr>
          <p:nvPr/>
        </p:nvSpPr>
        <p:spPr bwMode="auto">
          <a:xfrm>
            <a:off x="7882191" y="2705745"/>
            <a:ext cx="1135062" cy="164482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1306" name="Группа 1305"/>
          <p:cNvGrpSpPr/>
          <p:nvPr/>
        </p:nvGrpSpPr>
        <p:grpSpPr>
          <a:xfrm>
            <a:off x="7914576" y="3100882"/>
            <a:ext cx="625475" cy="3177958"/>
            <a:chOff x="7968208" y="2907977"/>
            <a:chExt cx="625475" cy="3177958"/>
          </a:xfrm>
        </p:grpSpPr>
        <p:pic>
          <p:nvPicPr>
            <p:cNvPr id="1307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08" name="Oval 117"/>
            <p:cNvSpPr>
              <a:spLocks noChangeArrowheads="1"/>
            </p:cNvSpPr>
            <p:nvPr/>
          </p:nvSpPr>
          <p:spPr bwMode="auto">
            <a:xfrm>
              <a:off x="8443640" y="5924010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09" name="Oval 118"/>
            <p:cNvSpPr>
              <a:spLocks noChangeArrowheads="1"/>
            </p:cNvSpPr>
            <p:nvPr/>
          </p:nvSpPr>
          <p:spPr bwMode="auto">
            <a:xfrm>
              <a:off x="8443640" y="5941472"/>
              <a:ext cx="142875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0" name="Freeform 121"/>
            <p:cNvSpPr>
              <a:spLocks/>
            </p:cNvSpPr>
            <p:nvPr/>
          </p:nvSpPr>
          <p:spPr bwMode="auto">
            <a:xfrm>
              <a:off x="8523015" y="5847810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7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1" name="Line 122"/>
            <p:cNvSpPr>
              <a:spLocks noChangeShapeType="1"/>
            </p:cNvSpPr>
            <p:nvPr/>
          </p:nvSpPr>
          <p:spPr bwMode="auto">
            <a:xfrm flipV="1">
              <a:off x="8523015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2" name="Freeform 123"/>
            <p:cNvSpPr>
              <a:spLocks/>
            </p:cNvSpPr>
            <p:nvPr/>
          </p:nvSpPr>
          <p:spPr bwMode="auto">
            <a:xfrm>
              <a:off x="8475390" y="5847810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3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3" name="Line 124"/>
            <p:cNvSpPr>
              <a:spLocks noChangeShapeType="1"/>
            </p:cNvSpPr>
            <p:nvPr/>
          </p:nvSpPr>
          <p:spPr bwMode="auto">
            <a:xfrm flipV="1">
              <a:off x="8507140" y="5808122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4" name="Oval 125"/>
            <p:cNvSpPr>
              <a:spLocks noChangeArrowheads="1"/>
            </p:cNvSpPr>
            <p:nvPr/>
          </p:nvSpPr>
          <p:spPr bwMode="auto">
            <a:xfrm>
              <a:off x="8443640" y="5906547"/>
              <a:ext cx="142875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5" name="Freeform 126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6" name="Freeform 127"/>
            <p:cNvSpPr>
              <a:spLocks/>
            </p:cNvSpPr>
            <p:nvPr/>
          </p:nvSpPr>
          <p:spPr bwMode="auto">
            <a:xfrm>
              <a:off x="8348390" y="3717032"/>
              <a:ext cx="179387" cy="2091091"/>
            </a:xfrm>
            <a:custGeom>
              <a:avLst/>
              <a:gdLst>
                <a:gd name="T0" fmla="*/ 363 w 374"/>
                <a:gd name="T1" fmla="*/ 4577 h 4577"/>
                <a:gd name="T2" fmla="*/ 374 w 374"/>
                <a:gd name="T3" fmla="*/ 4577 h 4577"/>
                <a:gd name="T4" fmla="*/ 374 w 374"/>
                <a:gd name="T5" fmla="*/ 942 h 4577"/>
                <a:gd name="T6" fmla="*/ 246 w 374"/>
                <a:gd name="T7" fmla="*/ 813 h 4577"/>
                <a:gd name="T8" fmla="*/ 129 w 374"/>
                <a:gd name="T9" fmla="*/ 813 h 4577"/>
                <a:gd name="T10" fmla="*/ 53 w 374"/>
                <a:gd name="T11" fmla="*/ 737 h 4577"/>
                <a:gd name="T12" fmla="*/ 53 w 374"/>
                <a:gd name="T13" fmla="*/ 0 h 4577"/>
                <a:gd name="T14" fmla="*/ 0 w 374"/>
                <a:gd name="T15" fmla="*/ 6 h 4577"/>
                <a:gd name="T16" fmla="*/ 0 w 374"/>
                <a:gd name="T17" fmla="*/ 737 h 4577"/>
                <a:gd name="T18" fmla="*/ 129 w 374"/>
                <a:gd name="T19" fmla="*/ 866 h 4577"/>
                <a:gd name="T20" fmla="*/ 246 w 374"/>
                <a:gd name="T21" fmla="*/ 866 h 4577"/>
                <a:gd name="T22" fmla="*/ 321 w 374"/>
                <a:gd name="T23" fmla="*/ 942 h 4577"/>
                <a:gd name="T24" fmla="*/ 321 w 374"/>
                <a:gd name="T25" fmla="*/ 942 h 4577"/>
                <a:gd name="T26" fmla="*/ 321 w 374"/>
                <a:gd name="T27" fmla="*/ 942 h 4577"/>
                <a:gd name="T28" fmla="*/ 321 w 374"/>
                <a:gd name="T29" fmla="*/ 4577 h 4577"/>
                <a:gd name="T30" fmla="*/ 363 w 374"/>
                <a:gd name="T31" fmla="*/ 4577 h 4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4577">
                  <a:moveTo>
                    <a:pt x="363" y="4577"/>
                  </a:moveTo>
                  <a:lnTo>
                    <a:pt x="374" y="4577"/>
                  </a:lnTo>
                  <a:lnTo>
                    <a:pt x="374" y="942"/>
                  </a:lnTo>
                  <a:cubicBezTo>
                    <a:pt x="374" y="871"/>
                    <a:pt x="317" y="813"/>
                    <a:pt x="246" y="813"/>
                  </a:cubicBezTo>
                  <a:lnTo>
                    <a:pt x="129" y="813"/>
                  </a:lnTo>
                  <a:cubicBezTo>
                    <a:pt x="87" y="813"/>
                    <a:pt x="53" y="779"/>
                    <a:pt x="53" y="737"/>
                  </a:cubicBezTo>
                  <a:lnTo>
                    <a:pt x="53" y="0"/>
                  </a:lnTo>
                  <a:lnTo>
                    <a:pt x="0" y="6"/>
                  </a:lnTo>
                  <a:lnTo>
                    <a:pt x="0" y="737"/>
                  </a:lnTo>
                  <a:cubicBezTo>
                    <a:pt x="0" y="808"/>
                    <a:pt x="58" y="866"/>
                    <a:pt x="129" y="866"/>
                  </a:cubicBezTo>
                  <a:lnTo>
                    <a:pt x="246" y="866"/>
                  </a:lnTo>
                  <a:cubicBezTo>
                    <a:pt x="288" y="866"/>
                    <a:pt x="321" y="900"/>
                    <a:pt x="321" y="942"/>
                  </a:cubicBezTo>
                  <a:cubicBezTo>
                    <a:pt x="321" y="942"/>
                    <a:pt x="321" y="942"/>
                    <a:pt x="321" y="942"/>
                  </a:cubicBezTo>
                  <a:lnTo>
                    <a:pt x="321" y="942"/>
                  </a:lnTo>
                  <a:lnTo>
                    <a:pt x="321" y="4577"/>
                  </a:lnTo>
                  <a:lnTo>
                    <a:pt x="363" y="45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7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8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9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0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1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2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3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4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5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6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7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8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9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0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1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2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3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334" name="Группа 1333"/>
          <p:cNvGrpSpPr/>
          <p:nvPr/>
        </p:nvGrpSpPr>
        <p:grpSpPr>
          <a:xfrm>
            <a:off x="9129249" y="3100882"/>
            <a:ext cx="625475" cy="2355633"/>
            <a:chOff x="7968208" y="2907977"/>
            <a:chExt cx="625475" cy="2355633"/>
          </a:xfrm>
        </p:grpSpPr>
        <p:pic>
          <p:nvPicPr>
            <p:cNvPr id="1335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8" y="2907977"/>
              <a:ext cx="625475" cy="85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6" name="Oval 128"/>
            <p:cNvSpPr>
              <a:spLocks noChangeArrowheads="1"/>
            </p:cNvSpPr>
            <p:nvPr/>
          </p:nvSpPr>
          <p:spPr bwMode="auto">
            <a:xfrm>
              <a:off x="8235677" y="5101685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7" name="Oval 129"/>
            <p:cNvSpPr>
              <a:spLocks noChangeArrowheads="1"/>
            </p:cNvSpPr>
            <p:nvPr/>
          </p:nvSpPr>
          <p:spPr bwMode="auto">
            <a:xfrm>
              <a:off x="8235677" y="5120735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8" name="Freeform 132"/>
            <p:cNvSpPr>
              <a:spLocks/>
            </p:cNvSpPr>
            <p:nvPr/>
          </p:nvSpPr>
          <p:spPr bwMode="auto">
            <a:xfrm>
              <a:off x="8315052" y="5025485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9" name="Line 133"/>
            <p:cNvSpPr>
              <a:spLocks noChangeShapeType="1"/>
            </p:cNvSpPr>
            <p:nvPr/>
          </p:nvSpPr>
          <p:spPr bwMode="auto">
            <a:xfrm flipV="1">
              <a:off x="8315052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0" name="Freeform 134"/>
            <p:cNvSpPr>
              <a:spLocks/>
            </p:cNvSpPr>
            <p:nvPr/>
          </p:nvSpPr>
          <p:spPr bwMode="auto">
            <a:xfrm>
              <a:off x="8269015" y="5025485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1" name="Line 135"/>
            <p:cNvSpPr>
              <a:spLocks noChangeShapeType="1"/>
            </p:cNvSpPr>
            <p:nvPr/>
          </p:nvSpPr>
          <p:spPr bwMode="auto">
            <a:xfrm flipV="1">
              <a:off x="8300765" y="4985797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2" name="Oval 136"/>
            <p:cNvSpPr>
              <a:spLocks noChangeArrowheads="1"/>
            </p:cNvSpPr>
            <p:nvPr/>
          </p:nvSpPr>
          <p:spPr bwMode="auto">
            <a:xfrm>
              <a:off x="8235677" y="5084222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3" name="Freeform 137"/>
            <p:cNvSpPr>
              <a:spLocks/>
            </p:cNvSpPr>
            <p:nvPr/>
          </p:nvSpPr>
          <p:spPr bwMode="auto">
            <a:xfrm>
              <a:off x="8296002" y="3730951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solidFill>
              <a:srgbClr val="CADA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4" name="Freeform 138"/>
            <p:cNvSpPr>
              <a:spLocks/>
            </p:cNvSpPr>
            <p:nvPr/>
          </p:nvSpPr>
          <p:spPr bwMode="auto">
            <a:xfrm>
              <a:off x="8295804" y="3723382"/>
              <a:ext cx="23812" cy="1260000"/>
            </a:xfrm>
            <a:custGeom>
              <a:avLst/>
              <a:gdLst>
                <a:gd name="T0" fmla="*/ 12 w 15"/>
                <a:gd name="T1" fmla="*/ 853 h 853"/>
                <a:gd name="T2" fmla="*/ 15 w 15"/>
                <a:gd name="T3" fmla="*/ 853 h 853"/>
                <a:gd name="T4" fmla="*/ 15 w 15"/>
                <a:gd name="T5" fmla="*/ 0 h 853"/>
                <a:gd name="T6" fmla="*/ 0 w 15"/>
                <a:gd name="T7" fmla="*/ 2 h 853"/>
                <a:gd name="T8" fmla="*/ 0 w 15"/>
                <a:gd name="T9" fmla="*/ 853 h 853"/>
                <a:gd name="T10" fmla="*/ 12 w 15"/>
                <a:gd name="T11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853">
                  <a:moveTo>
                    <a:pt x="12" y="853"/>
                  </a:moveTo>
                  <a:lnTo>
                    <a:pt x="15" y="853"/>
                  </a:lnTo>
                  <a:lnTo>
                    <a:pt x="15" y="0"/>
                  </a:lnTo>
                  <a:lnTo>
                    <a:pt x="0" y="2"/>
                  </a:lnTo>
                  <a:lnTo>
                    <a:pt x="0" y="853"/>
                  </a:lnTo>
                  <a:lnTo>
                    <a:pt x="12" y="85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5" name="Freeform 115"/>
            <p:cNvSpPr>
              <a:spLocks/>
            </p:cNvSpPr>
            <p:nvPr/>
          </p:nvSpPr>
          <p:spPr bwMode="auto">
            <a:xfrm>
              <a:off x="8088064" y="3723382"/>
              <a:ext cx="177800" cy="519464"/>
            </a:xfrm>
            <a:custGeom>
              <a:avLst/>
              <a:gdLst>
                <a:gd name="T0" fmla="*/ 374 w 374"/>
                <a:gd name="T1" fmla="*/ 38 h 1104"/>
                <a:gd name="T2" fmla="*/ 374 w 374"/>
                <a:gd name="T3" fmla="*/ 710 h 1104"/>
                <a:gd name="T4" fmla="*/ 245 w 374"/>
                <a:gd name="T5" fmla="*/ 839 h 1104"/>
                <a:gd name="T6" fmla="*/ 128 w 374"/>
                <a:gd name="T7" fmla="*/ 839 h 1104"/>
                <a:gd name="T8" fmla="*/ 52 w 374"/>
                <a:gd name="T9" fmla="*/ 915 h 1104"/>
                <a:gd name="T10" fmla="*/ 52 w 374"/>
                <a:gd name="T11" fmla="*/ 915 h 1104"/>
                <a:gd name="T12" fmla="*/ 52 w 374"/>
                <a:gd name="T13" fmla="*/ 1104 h 1104"/>
                <a:gd name="T14" fmla="*/ 0 w 374"/>
                <a:gd name="T15" fmla="*/ 1104 h 1104"/>
                <a:gd name="T16" fmla="*/ 0 w 374"/>
                <a:gd name="T17" fmla="*/ 915 h 1104"/>
                <a:gd name="T18" fmla="*/ 52 w 374"/>
                <a:gd name="T19" fmla="*/ 811 h 1104"/>
                <a:gd name="T20" fmla="*/ 128 w 374"/>
                <a:gd name="T21" fmla="*/ 786 h 1104"/>
                <a:gd name="T22" fmla="*/ 245 w 374"/>
                <a:gd name="T23" fmla="*/ 786 h 1104"/>
                <a:gd name="T24" fmla="*/ 321 w 374"/>
                <a:gd name="T25" fmla="*/ 710 h 1104"/>
                <a:gd name="T26" fmla="*/ 321 w 374"/>
                <a:gd name="T27" fmla="*/ 6 h 1104"/>
                <a:gd name="T28" fmla="*/ 374 w 374"/>
                <a:gd name="T29" fmla="*/ 0 h 1104"/>
                <a:gd name="T30" fmla="*/ 374 w 374"/>
                <a:gd name="T31" fmla="*/ 3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4" h="1104">
                  <a:moveTo>
                    <a:pt x="374" y="38"/>
                  </a:moveTo>
                  <a:lnTo>
                    <a:pt x="374" y="710"/>
                  </a:lnTo>
                  <a:cubicBezTo>
                    <a:pt x="374" y="781"/>
                    <a:pt x="316" y="839"/>
                    <a:pt x="245" y="839"/>
                  </a:cubicBezTo>
                  <a:lnTo>
                    <a:pt x="128" y="839"/>
                  </a:lnTo>
                  <a:cubicBezTo>
                    <a:pt x="86" y="839"/>
                    <a:pt x="52" y="873"/>
                    <a:pt x="52" y="915"/>
                  </a:cubicBezTo>
                  <a:cubicBezTo>
                    <a:pt x="52" y="915"/>
                    <a:pt x="52" y="915"/>
                    <a:pt x="52" y="915"/>
                  </a:cubicBezTo>
                  <a:lnTo>
                    <a:pt x="52" y="1104"/>
                  </a:lnTo>
                  <a:lnTo>
                    <a:pt x="0" y="1104"/>
                  </a:lnTo>
                  <a:lnTo>
                    <a:pt x="0" y="915"/>
                  </a:lnTo>
                  <a:cubicBezTo>
                    <a:pt x="0" y="873"/>
                    <a:pt x="19" y="835"/>
                    <a:pt x="52" y="811"/>
                  </a:cubicBezTo>
                  <a:cubicBezTo>
                    <a:pt x="74" y="795"/>
                    <a:pt x="101" y="786"/>
                    <a:pt x="128" y="786"/>
                  </a:cubicBezTo>
                  <a:lnTo>
                    <a:pt x="245" y="786"/>
                  </a:lnTo>
                  <a:cubicBezTo>
                    <a:pt x="287" y="786"/>
                    <a:pt x="321" y="752"/>
                    <a:pt x="321" y="710"/>
                  </a:cubicBezTo>
                  <a:lnTo>
                    <a:pt x="321" y="6"/>
                  </a:lnTo>
                  <a:lnTo>
                    <a:pt x="374" y="0"/>
                  </a:lnTo>
                  <a:lnTo>
                    <a:pt x="374" y="38"/>
                  </a:lnTo>
                  <a:close/>
                </a:path>
              </a:pathLst>
            </a:custGeom>
            <a:solidFill>
              <a:srgbClr val="CADAA9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6" name="Oval 128"/>
            <p:cNvSpPr>
              <a:spLocks noChangeArrowheads="1"/>
            </p:cNvSpPr>
            <p:nvPr/>
          </p:nvSpPr>
          <p:spPr bwMode="auto">
            <a:xfrm>
              <a:off x="8032627" y="4363167"/>
              <a:ext cx="144462" cy="144463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7" name="Oval 129"/>
            <p:cNvSpPr>
              <a:spLocks noChangeArrowheads="1"/>
            </p:cNvSpPr>
            <p:nvPr/>
          </p:nvSpPr>
          <p:spPr bwMode="auto">
            <a:xfrm>
              <a:off x="8032627" y="4382217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8" name="Freeform 132"/>
            <p:cNvSpPr>
              <a:spLocks/>
            </p:cNvSpPr>
            <p:nvPr/>
          </p:nvSpPr>
          <p:spPr bwMode="auto">
            <a:xfrm>
              <a:off x="8112002" y="4286967"/>
              <a:ext cx="31750" cy="69850"/>
            </a:xfrm>
            <a:custGeom>
              <a:avLst/>
              <a:gdLst>
                <a:gd name="T0" fmla="*/ 20 w 20"/>
                <a:gd name="T1" fmla="*/ 44 h 44"/>
                <a:gd name="T2" fmla="*/ 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20" y="44"/>
                  </a:moveTo>
                  <a:cubicBezTo>
                    <a:pt x="8" y="35"/>
                    <a:pt x="0" y="1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9" name="Line 133"/>
            <p:cNvSpPr>
              <a:spLocks noChangeShapeType="1"/>
            </p:cNvSpPr>
            <p:nvPr/>
          </p:nvSpPr>
          <p:spPr bwMode="auto">
            <a:xfrm flipV="1">
              <a:off x="8112002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0" name="Freeform 134"/>
            <p:cNvSpPr>
              <a:spLocks/>
            </p:cNvSpPr>
            <p:nvPr/>
          </p:nvSpPr>
          <p:spPr bwMode="auto">
            <a:xfrm>
              <a:off x="8065965" y="4286967"/>
              <a:ext cx="31750" cy="69850"/>
            </a:xfrm>
            <a:custGeom>
              <a:avLst/>
              <a:gdLst>
                <a:gd name="T0" fmla="*/ 0 w 20"/>
                <a:gd name="T1" fmla="*/ 44 h 44"/>
                <a:gd name="T2" fmla="*/ 20 w 20"/>
                <a:gd name="T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cubicBezTo>
                    <a:pt x="12" y="35"/>
                    <a:pt x="20" y="18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1" name="Line 135"/>
            <p:cNvSpPr>
              <a:spLocks noChangeShapeType="1"/>
            </p:cNvSpPr>
            <p:nvPr/>
          </p:nvSpPr>
          <p:spPr bwMode="auto">
            <a:xfrm flipV="1">
              <a:off x="8097715" y="4247279"/>
              <a:ext cx="0" cy="39688"/>
            </a:xfrm>
            <a:prstGeom prst="lin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2" name="Oval 136"/>
            <p:cNvSpPr>
              <a:spLocks noChangeArrowheads="1"/>
            </p:cNvSpPr>
            <p:nvPr/>
          </p:nvSpPr>
          <p:spPr bwMode="auto">
            <a:xfrm>
              <a:off x="8032627" y="4345704"/>
              <a:ext cx="144462" cy="142875"/>
            </a:xfrm>
            <a:prstGeom prst="ellipse">
              <a:avLst/>
            </a:prstGeom>
            <a:noFill/>
            <a:ln w="4763" cap="rnd">
              <a:solidFill>
                <a:srgbClr val="3475C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1353" name="Прямоугольник 1352"/>
          <p:cNvSpPr/>
          <p:nvPr/>
        </p:nvSpPr>
        <p:spPr>
          <a:xfrm>
            <a:off x="8649049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54" name="Rectangle 300"/>
          <p:cNvSpPr>
            <a:spLocks noChangeArrowheads="1"/>
          </p:cNvSpPr>
          <p:nvPr/>
        </p:nvSpPr>
        <p:spPr bwMode="auto">
          <a:xfrm>
            <a:off x="8673701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55" name="Соединительная линия уступом 1354"/>
          <p:cNvCxnSpPr>
            <a:endCxn id="1294" idx="3"/>
          </p:cNvCxnSpPr>
          <p:nvPr/>
        </p:nvCxnSpPr>
        <p:spPr>
          <a:xfrm rot="5400000">
            <a:off x="8258949" y="4745661"/>
            <a:ext cx="1210145" cy="16343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6" name="Двойная стрелка вверх/вниз 1355"/>
          <p:cNvSpPr/>
          <p:nvPr/>
        </p:nvSpPr>
        <p:spPr>
          <a:xfrm>
            <a:off x="9183965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57" name="Двойная стрелка вверх/вниз 1356"/>
          <p:cNvSpPr/>
          <p:nvPr/>
        </p:nvSpPr>
        <p:spPr>
          <a:xfrm>
            <a:off x="8036993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58" name="Picture 126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961678"/>
            <a:ext cx="1050925" cy="124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59" name="Прямая со стрелкой 1358"/>
          <p:cNvCxnSpPr/>
          <p:nvPr/>
        </p:nvCxnSpPr>
        <p:spPr>
          <a:xfrm flipV="1">
            <a:off x="3765809" y="1586359"/>
            <a:ext cx="610045" cy="418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0" name="Line 78"/>
          <p:cNvSpPr>
            <a:spLocks noChangeShapeType="1"/>
          </p:cNvSpPr>
          <p:nvPr/>
        </p:nvSpPr>
        <p:spPr bwMode="auto">
          <a:xfrm>
            <a:off x="2397965" y="5090344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61" name="Rectangle 81"/>
          <p:cNvSpPr>
            <a:spLocks noChangeArrowheads="1"/>
          </p:cNvSpPr>
          <p:nvPr/>
        </p:nvSpPr>
        <p:spPr bwMode="auto">
          <a:xfrm>
            <a:off x="2272552" y="5306244"/>
            <a:ext cx="252412" cy="252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62" name="Rectangle 82"/>
          <p:cNvSpPr>
            <a:spLocks noChangeArrowheads="1"/>
          </p:cNvSpPr>
          <p:nvPr/>
        </p:nvSpPr>
        <p:spPr bwMode="auto">
          <a:xfrm>
            <a:off x="2272552" y="5306244"/>
            <a:ext cx="252412" cy="2524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63" name="Line 83"/>
          <p:cNvSpPr>
            <a:spLocks noChangeShapeType="1"/>
          </p:cNvSpPr>
          <p:nvPr/>
        </p:nvSpPr>
        <p:spPr bwMode="auto">
          <a:xfrm>
            <a:off x="2397965" y="5558657"/>
            <a:ext cx="0" cy="2159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64" name="Прямоугольник 1363"/>
          <p:cNvSpPr/>
          <p:nvPr/>
        </p:nvSpPr>
        <p:spPr>
          <a:xfrm>
            <a:off x="1955576" y="3763640"/>
            <a:ext cx="324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65" name="Rectangle 300"/>
          <p:cNvSpPr>
            <a:spLocks noChangeArrowheads="1"/>
          </p:cNvSpPr>
          <p:nvPr/>
        </p:nvSpPr>
        <p:spPr bwMode="auto">
          <a:xfrm>
            <a:off x="1980228" y="3816876"/>
            <a:ext cx="2781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МП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РЗА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66" name="Соединительная линия уступом 1365"/>
          <p:cNvCxnSpPr/>
          <p:nvPr/>
        </p:nvCxnSpPr>
        <p:spPr>
          <a:xfrm rot="10800000" flipV="1">
            <a:off x="2124760" y="3528714"/>
            <a:ext cx="324000" cy="234926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7" name="Прямая со стрелкой 1366"/>
          <p:cNvCxnSpPr/>
          <p:nvPr/>
        </p:nvCxnSpPr>
        <p:spPr>
          <a:xfrm>
            <a:off x="6544181" y="995968"/>
            <a:ext cx="24015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68" name="Прямая со стрелкой 1367"/>
          <p:cNvCxnSpPr/>
          <p:nvPr/>
        </p:nvCxnSpPr>
        <p:spPr>
          <a:xfrm flipH="1">
            <a:off x="6544183" y="1340768"/>
            <a:ext cx="24015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69" name="Rectangle 300"/>
          <p:cNvSpPr>
            <a:spLocks noChangeArrowheads="1"/>
          </p:cNvSpPr>
          <p:nvPr/>
        </p:nvSpPr>
        <p:spPr bwMode="auto">
          <a:xfrm>
            <a:off x="6550554" y="1092677"/>
            <a:ext cx="2395185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ru-RU" altLang="ru-RU" sz="1100" b="1" dirty="0">
                <a:solidFill>
                  <a:srgbClr val="000000"/>
                </a:solidFill>
                <a:latin typeface="Arial Narrow" panose="020B0606020202030204" pitchFamily="34" charset="0"/>
              </a:rPr>
              <a:t>УРОВ ЗДЗ </a:t>
            </a:r>
            <a:r>
              <a:rPr lang="ru-RU" altLang="ru-RU" sz="11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смежных секций</a:t>
            </a:r>
            <a:endParaRPr lang="ru-RU" altLang="ru-RU" sz="1100" dirty="0"/>
          </a:p>
        </p:txBody>
      </p:sp>
      <p:sp>
        <p:nvSpPr>
          <p:cNvPr id="1370" name="Freeform 93"/>
          <p:cNvSpPr>
            <a:spLocks noEditPoints="1"/>
          </p:cNvSpPr>
          <p:nvPr/>
        </p:nvSpPr>
        <p:spPr bwMode="auto">
          <a:xfrm>
            <a:off x="1402617" y="5842819"/>
            <a:ext cx="1008000" cy="572546"/>
          </a:xfrm>
          <a:custGeom>
            <a:avLst/>
            <a:gdLst>
              <a:gd name="T0" fmla="*/ 743 w 743"/>
              <a:gd name="T1" fmla="*/ 0 h 286"/>
              <a:gd name="T2" fmla="*/ 731 w 743"/>
              <a:gd name="T3" fmla="*/ 16 h 286"/>
              <a:gd name="T4" fmla="*/ 720 w 743"/>
              <a:gd name="T5" fmla="*/ 0 h 286"/>
              <a:gd name="T6" fmla="*/ 719 w 743"/>
              <a:gd name="T7" fmla="*/ 252 h 286"/>
              <a:gd name="T8" fmla="*/ 24 w 743"/>
              <a:gd name="T9" fmla="*/ 252 h 286"/>
              <a:gd name="T10" fmla="*/ 24 w 743"/>
              <a:gd name="T11" fmla="*/ 0 h 286"/>
              <a:gd name="T12" fmla="*/ 12 w 743"/>
              <a:gd name="T13" fmla="*/ 16 h 286"/>
              <a:gd name="T14" fmla="*/ 1 w 743"/>
              <a:gd name="T15" fmla="*/ 0 h 286"/>
              <a:gd name="T16" fmla="*/ 0 w 743"/>
              <a:gd name="T17" fmla="*/ 252 h 286"/>
              <a:gd name="T18" fmla="*/ 0 w 743"/>
              <a:gd name="T19" fmla="*/ 286 h 286"/>
              <a:gd name="T20" fmla="*/ 743 w 743"/>
              <a:gd name="T21" fmla="*/ 286 h 286"/>
              <a:gd name="T22" fmla="*/ 743 w 743"/>
              <a:gd name="T23" fmla="*/ 0 h 286"/>
              <a:gd name="T24" fmla="*/ 743 w 743"/>
              <a:gd name="T25" fmla="*/ 0 h 286"/>
              <a:gd name="T26" fmla="*/ 720 w 743"/>
              <a:gd name="T27" fmla="*/ 0 h 286"/>
              <a:gd name="T28" fmla="*/ 719 w 743"/>
              <a:gd name="T29" fmla="*/ 0 h 286"/>
              <a:gd name="T30" fmla="*/ 720 w 743"/>
              <a:gd name="T31" fmla="*/ 0 h 286"/>
              <a:gd name="T32" fmla="*/ 1 w 743"/>
              <a:gd name="T33" fmla="*/ 0 h 286"/>
              <a:gd name="T34" fmla="*/ 0 w 743"/>
              <a:gd name="T35" fmla="*/ 0 h 286"/>
              <a:gd name="T36" fmla="*/ 1 w 743"/>
              <a:gd name="T37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743" h="286">
                <a:moveTo>
                  <a:pt x="743" y="0"/>
                </a:moveTo>
                <a:lnTo>
                  <a:pt x="731" y="16"/>
                </a:lnTo>
                <a:lnTo>
                  <a:pt x="720" y="0"/>
                </a:lnTo>
                <a:lnTo>
                  <a:pt x="719" y="252"/>
                </a:lnTo>
                <a:lnTo>
                  <a:pt x="24" y="252"/>
                </a:lnTo>
                <a:lnTo>
                  <a:pt x="24" y="0"/>
                </a:lnTo>
                <a:lnTo>
                  <a:pt x="12" y="16"/>
                </a:lnTo>
                <a:lnTo>
                  <a:pt x="1" y="0"/>
                </a:lnTo>
                <a:lnTo>
                  <a:pt x="0" y="252"/>
                </a:lnTo>
                <a:lnTo>
                  <a:pt x="0" y="286"/>
                </a:lnTo>
                <a:lnTo>
                  <a:pt x="743" y="286"/>
                </a:lnTo>
                <a:lnTo>
                  <a:pt x="743" y="0"/>
                </a:lnTo>
                <a:lnTo>
                  <a:pt x="743" y="0"/>
                </a:lnTo>
                <a:close/>
                <a:moveTo>
                  <a:pt x="720" y="0"/>
                </a:moveTo>
                <a:lnTo>
                  <a:pt x="719" y="0"/>
                </a:lnTo>
                <a:lnTo>
                  <a:pt x="720" y="0"/>
                </a:lnTo>
                <a:close/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8B5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71" name="Freeform 94"/>
          <p:cNvSpPr>
            <a:spLocks noEditPoints="1"/>
          </p:cNvSpPr>
          <p:nvPr/>
        </p:nvSpPr>
        <p:spPr bwMode="auto">
          <a:xfrm>
            <a:off x="1401972" y="5842819"/>
            <a:ext cx="1008000" cy="572546"/>
          </a:xfrm>
          <a:custGeom>
            <a:avLst/>
            <a:gdLst>
              <a:gd name="T0" fmla="*/ 743 w 743"/>
              <a:gd name="T1" fmla="*/ 0 h 286"/>
              <a:gd name="T2" fmla="*/ 731 w 743"/>
              <a:gd name="T3" fmla="*/ 16 h 286"/>
              <a:gd name="T4" fmla="*/ 720 w 743"/>
              <a:gd name="T5" fmla="*/ 0 h 286"/>
              <a:gd name="T6" fmla="*/ 719 w 743"/>
              <a:gd name="T7" fmla="*/ 252 h 286"/>
              <a:gd name="T8" fmla="*/ 24 w 743"/>
              <a:gd name="T9" fmla="*/ 252 h 286"/>
              <a:gd name="T10" fmla="*/ 24 w 743"/>
              <a:gd name="T11" fmla="*/ 0 h 286"/>
              <a:gd name="T12" fmla="*/ 12 w 743"/>
              <a:gd name="T13" fmla="*/ 16 h 286"/>
              <a:gd name="T14" fmla="*/ 1 w 743"/>
              <a:gd name="T15" fmla="*/ 0 h 286"/>
              <a:gd name="T16" fmla="*/ 0 w 743"/>
              <a:gd name="T17" fmla="*/ 252 h 286"/>
              <a:gd name="T18" fmla="*/ 0 w 743"/>
              <a:gd name="T19" fmla="*/ 286 h 286"/>
              <a:gd name="T20" fmla="*/ 743 w 743"/>
              <a:gd name="T21" fmla="*/ 286 h 286"/>
              <a:gd name="T22" fmla="*/ 743 w 743"/>
              <a:gd name="T23" fmla="*/ 0 h 286"/>
              <a:gd name="T24" fmla="*/ 720 w 743"/>
              <a:gd name="T25" fmla="*/ 0 h 286"/>
              <a:gd name="T26" fmla="*/ 719 w 743"/>
              <a:gd name="T27" fmla="*/ 0 h 286"/>
              <a:gd name="T28" fmla="*/ 1 w 743"/>
              <a:gd name="T29" fmla="*/ 0 h 286"/>
              <a:gd name="T30" fmla="*/ 0 w 743"/>
              <a:gd name="T31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43" h="286">
                <a:moveTo>
                  <a:pt x="743" y="0"/>
                </a:moveTo>
                <a:lnTo>
                  <a:pt x="731" y="16"/>
                </a:lnTo>
                <a:lnTo>
                  <a:pt x="720" y="0"/>
                </a:lnTo>
                <a:lnTo>
                  <a:pt x="719" y="252"/>
                </a:lnTo>
                <a:lnTo>
                  <a:pt x="24" y="252"/>
                </a:lnTo>
                <a:lnTo>
                  <a:pt x="24" y="0"/>
                </a:lnTo>
                <a:lnTo>
                  <a:pt x="12" y="16"/>
                </a:lnTo>
                <a:lnTo>
                  <a:pt x="1" y="0"/>
                </a:lnTo>
                <a:lnTo>
                  <a:pt x="0" y="252"/>
                </a:lnTo>
                <a:lnTo>
                  <a:pt x="0" y="286"/>
                </a:lnTo>
                <a:lnTo>
                  <a:pt x="743" y="286"/>
                </a:lnTo>
                <a:lnTo>
                  <a:pt x="743" y="0"/>
                </a:lnTo>
                <a:moveTo>
                  <a:pt x="720" y="0"/>
                </a:moveTo>
                <a:lnTo>
                  <a:pt x="719" y="0"/>
                </a:lnTo>
                <a:moveTo>
                  <a:pt x="1" y="0"/>
                </a:moveTo>
                <a:lnTo>
                  <a:pt x="0" y="0"/>
                </a:lnTo>
              </a:path>
            </a:pathLst>
          </a:custGeom>
          <a:noFill/>
          <a:ln w="9525" cap="rnd">
            <a:solidFill>
              <a:srgbClr val="F282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72" name="Rectangle 300"/>
          <p:cNvSpPr>
            <a:spLocks noChangeArrowheads="1"/>
          </p:cNvSpPr>
          <p:nvPr/>
        </p:nvSpPr>
        <p:spPr bwMode="auto">
          <a:xfrm>
            <a:off x="1194814" y="2798162"/>
            <a:ext cx="717383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СР1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73" name="Rectangle 6"/>
          <p:cNvSpPr>
            <a:spLocks noChangeArrowheads="1"/>
          </p:cNvSpPr>
          <p:nvPr/>
        </p:nvSpPr>
        <p:spPr bwMode="auto">
          <a:xfrm>
            <a:off x="1179179" y="2709683"/>
            <a:ext cx="726986" cy="359575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74" name="Rectangle 6"/>
          <p:cNvSpPr>
            <a:spLocks noChangeArrowheads="1"/>
          </p:cNvSpPr>
          <p:nvPr/>
        </p:nvSpPr>
        <p:spPr bwMode="auto">
          <a:xfrm>
            <a:off x="1179179" y="3069031"/>
            <a:ext cx="724630" cy="1282672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75" name="Rectangle 6"/>
          <p:cNvSpPr>
            <a:spLocks noChangeArrowheads="1"/>
          </p:cNvSpPr>
          <p:nvPr/>
        </p:nvSpPr>
        <p:spPr bwMode="auto">
          <a:xfrm>
            <a:off x="1179179" y="5971345"/>
            <a:ext cx="724630" cy="5385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76" name="Rectangle 6"/>
          <p:cNvSpPr>
            <a:spLocks noChangeArrowheads="1"/>
          </p:cNvSpPr>
          <p:nvPr/>
        </p:nvSpPr>
        <p:spPr bwMode="auto">
          <a:xfrm>
            <a:off x="1185566" y="4891111"/>
            <a:ext cx="717192" cy="107941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77" name="Rectangle 6"/>
          <p:cNvSpPr>
            <a:spLocks noChangeArrowheads="1"/>
          </p:cNvSpPr>
          <p:nvPr/>
        </p:nvSpPr>
        <p:spPr bwMode="auto">
          <a:xfrm>
            <a:off x="1179179" y="4351703"/>
            <a:ext cx="724630" cy="545012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78" name="Rectangle 300"/>
          <p:cNvSpPr>
            <a:spLocks noChangeArrowheads="1"/>
          </p:cNvSpPr>
          <p:nvPr/>
        </p:nvSpPr>
        <p:spPr bwMode="auto">
          <a:xfrm>
            <a:off x="11324151" y="2798162"/>
            <a:ext cx="72596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Ячейка СР2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79" name="Rectangle 6"/>
          <p:cNvSpPr>
            <a:spLocks noChangeArrowheads="1"/>
          </p:cNvSpPr>
          <p:nvPr/>
        </p:nvSpPr>
        <p:spPr bwMode="auto">
          <a:xfrm>
            <a:off x="11319202" y="2708096"/>
            <a:ext cx="739173" cy="360026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80" name="Rectangle 6"/>
          <p:cNvSpPr>
            <a:spLocks noChangeArrowheads="1"/>
          </p:cNvSpPr>
          <p:nvPr/>
        </p:nvSpPr>
        <p:spPr bwMode="auto">
          <a:xfrm>
            <a:off x="11319202" y="3067895"/>
            <a:ext cx="739173" cy="1282672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81" name="Rectangle 6"/>
          <p:cNvSpPr>
            <a:spLocks noChangeArrowheads="1"/>
          </p:cNvSpPr>
          <p:nvPr/>
        </p:nvSpPr>
        <p:spPr bwMode="auto">
          <a:xfrm>
            <a:off x="11323965" y="5971345"/>
            <a:ext cx="739173" cy="53851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82" name="Rectangle 6"/>
          <p:cNvSpPr>
            <a:spLocks noChangeArrowheads="1"/>
          </p:cNvSpPr>
          <p:nvPr/>
        </p:nvSpPr>
        <p:spPr bwMode="auto">
          <a:xfrm>
            <a:off x="11323965" y="4891111"/>
            <a:ext cx="739173" cy="1079410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83" name="Rectangle 6"/>
          <p:cNvSpPr>
            <a:spLocks noChangeArrowheads="1"/>
          </p:cNvSpPr>
          <p:nvPr/>
        </p:nvSpPr>
        <p:spPr bwMode="auto">
          <a:xfrm>
            <a:off x="11323965" y="4350567"/>
            <a:ext cx="739173" cy="540543"/>
          </a:xfrm>
          <a:prstGeom prst="rect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84" name="Овал 1383"/>
          <p:cNvSpPr/>
          <p:nvPr/>
        </p:nvSpPr>
        <p:spPr>
          <a:xfrm>
            <a:off x="7390605" y="6309320"/>
            <a:ext cx="36000" cy="36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85" name="Соединительная линия уступом 1384"/>
          <p:cNvCxnSpPr>
            <a:stCxn id="487" idx="0"/>
            <a:endCxn id="1384" idx="2"/>
          </p:cNvCxnSpPr>
          <p:nvPr/>
        </p:nvCxnSpPr>
        <p:spPr>
          <a:xfrm rot="16200000" flipH="1">
            <a:off x="6391431" y="5328146"/>
            <a:ext cx="450048" cy="1548300"/>
          </a:xfrm>
          <a:prstGeom prst="bentConnector4">
            <a:avLst>
              <a:gd name="adj1" fmla="val 100178"/>
              <a:gd name="adj2" fmla="val 2518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Двойная стрелка вверх/вниз 1385"/>
          <p:cNvSpPr/>
          <p:nvPr/>
        </p:nvSpPr>
        <p:spPr>
          <a:xfrm>
            <a:off x="10251797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89" name="Соединительная линия уступом 1388"/>
          <p:cNvCxnSpPr/>
          <p:nvPr/>
        </p:nvCxnSpPr>
        <p:spPr>
          <a:xfrm>
            <a:off x="6544181" y="2037854"/>
            <a:ext cx="360000" cy="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91" name="Соединительная линия уступом 1390"/>
          <p:cNvCxnSpPr/>
          <p:nvPr/>
        </p:nvCxnSpPr>
        <p:spPr>
          <a:xfrm rot="16200000" flipH="1">
            <a:off x="3437976" y="3834001"/>
            <a:ext cx="1008000" cy="414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2" name="Соединительная линия уступом 1391"/>
          <p:cNvCxnSpPr/>
          <p:nvPr/>
        </p:nvCxnSpPr>
        <p:spPr>
          <a:xfrm rot="5400000">
            <a:off x="3696881" y="4885135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Соединительная линия уступом 1392"/>
          <p:cNvCxnSpPr/>
          <p:nvPr/>
        </p:nvCxnSpPr>
        <p:spPr>
          <a:xfrm rot="16200000" flipH="1">
            <a:off x="4717597" y="3861001"/>
            <a:ext cx="1008000" cy="360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Соединительная линия уступом 1393"/>
          <p:cNvCxnSpPr/>
          <p:nvPr/>
        </p:nvCxnSpPr>
        <p:spPr>
          <a:xfrm rot="5400000">
            <a:off x="4950113" y="4885135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5" name="Соединительная линия уступом 1394"/>
          <p:cNvCxnSpPr/>
          <p:nvPr/>
        </p:nvCxnSpPr>
        <p:spPr>
          <a:xfrm rot="16200000" flipH="1">
            <a:off x="6935888" y="3834001"/>
            <a:ext cx="1008000" cy="414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6" name="Соединительная линия уступом 1395"/>
          <p:cNvCxnSpPr/>
          <p:nvPr/>
        </p:nvCxnSpPr>
        <p:spPr>
          <a:xfrm rot="5400000">
            <a:off x="7194793" y="4885135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Соединительная линия уступом 1396"/>
          <p:cNvCxnSpPr/>
          <p:nvPr/>
        </p:nvCxnSpPr>
        <p:spPr>
          <a:xfrm rot="16200000" flipH="1">
            <a:off x="10452758" y="3834001"/>
            <a:ext cx="1008000" cy="414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8" name="Соединительная линия уступом 1397"/>
          <p:cNvCxnSpPr/>
          <p:nvPr/>
        </p:nvCxnSpPr>
        <p:spPr>
          <a:xfrm rot="5400000">
            <a:off x="10679132" y="4849135"/>
            <a:ext cx="792000" cy="180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9" name="Соединительная линия уступом 1398"/>
          <p:cNvCxnSpPr/>
          <p:nvPr/>
        </p:nvCxnSpPr>
        <p:spPr>
          <a:xfrm rot="16200000" flipH="1">
            <a:off x="8201220" y="3861001"/>
            <a:ext cx="1008000" cy="360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0" name="Соединительная линия уступом 1399"/>
          <p:cNvCxnSpPr/>
          <p:nvPr/>
        </p:nvCxnSpPr>
        <p:spPr>
          <a:xfrm rot="5400000">
            <a:off x="8437928" y="4885135"/>
            <a:ext cx="792000" cy="108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1" name="Двойная стрелка вверх/вниз 1400"/>
          <p:cNvSpPr/>
          <p:nvPr/>
        </p:nvSpPr>
        <p:spPr>
          <a:xfrm>
            <a:off x="2827977" y="2492896"/>
            <a:ext cx="108000" cy="612000"/>
          </a:xfrm>
          <a:prstGeom prst="up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02" name="Соединительная линия уступом 1401"/>
          <p:cNvCxnSpPr/>
          <p:nvPr/>
        </p:nvCxnSpPr>
        <p:spPr>
          <a:xfrm rot="5400000">
            <a:off x="10500107" y="4701378"/>
            <a:ext cx="1210145" cy="252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Соединительная линия уступом 1402"/>
          <p:cNvCxnSpPr/>
          <p:nvPr/>
        </p:nvCxnSpPr>
        <p:spPr>
          <a:xfrm rot="5400000">
            <a:off x="1749117" y="3861001"/>
            <a:ext cx="1008000" cy="360000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4" name="Соединительная линия уступом 1403"/>
          <p:cNvCxnSpPr/>
          <p:nvPr/>
        </p:nvCxnSpPr>
        <p:spPr>
          <a:xfrm rot="16200000" flipH="1">
            <a:off x="1765001" y="4849135"/>
            <a:ext cx="792000" cy="180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5" name="Соединительная линия уступом 1404"/>
          <p:cNvCxnSpPr/>
          <p:nvPr/>
        </p:nvCxnSpPr>
        <p:spPr>
          <a:xfrm rot="16200000" flipH="1">
            <a:off x="1521997" y="4701378"/>
            <a:ext cx="1210145" cy="2520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6" name="Rectangle 300"/>
          <p:cNvSpPr>
            <a:spLocks noChangeArrowheads="1"/>
          </p:cNvSpPr>
          <p:nvPr/>
        </p:nvSpPr>
        <p:spPr bwMode="auto">
          <a:xfrm>
            <a:off x="6661670" y="1703489"/>
            <a:ext cx="31743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ТК от защит: Т, Рез. АТ, ВВ, РВ, СВ, СВ2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407" name="Прямая со стрелкой 1406"/>
          <p:cNvCxnSpPr/>
          <p:nvPr/>
        </p:nvCxnSpPr>
        <p:spPr>
          <a:xfrm flipH="1">
            <a:off x="6537184" y="1894827"/>
            <a:ext cx="24085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08" name="Rectangle 300"/>
          <p:cNvSpPr>
            <a:spLocks noChangeArrowheads="1"/>
          </p:cNvSpPr>
          <p:nvPr/>
        </p:nvSpPr>
        <p:spPr bwMode="auto">
          <a:xfrm>
            <a:off x="6658838" y="1439467"/>
            <a:ext cx="189010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Цепи напряжения секции</a:t>
            </a:r>
            <a:endParaRPr kumimoji="0" lang="ru-RU" altLang="ru-RU" sz="11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cxnSp>
        <p:nvCxnSpPr>
          <p:cNvPr id="1409" name="Прямая со стрелкой 1408"/>
          <p:cNvCxnSpPr/>
          <p:nvPr/>
        </p:nvCxnSpPr>
        <p:spPr>
          <a:xfrm flipH="1">
            <a:off x="6529743" y="1633221"/>
            <a:ext cx="24159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10" name="Соединительная линия уступом 1409"/>
          <p:cNvCxnSpPr/>
          <p:nvPr/>
        </p:nvCxnSpPr>
        <p:spPr>
          <a:xfrm>
            <a:off x="6537109" y="2197059"/>
            <a:ext cx="360000" cy="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11" name="Rectangle 300"/>
          <p:cNvSpPr>
            <a:spLocks noChangeArrowheads="1"/>
          </p:cNvSpPr>
          <p:nvPr/>
        </p:nvSpPr>
        <p:spPr bwMode="auto">
          <a:xfrm>
            <a:off x="6956582" y="2117431"/>
            <a:ext cx="175428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Откл. </a:t>
            </a:r>
            <a:r>
              <a:rPr kumimoji="0" lang="ru-RU" altLang="ru-RU" sz="11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тр-ра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резервного ввода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12" name="Rectangle 300"/>
          <p:cNvSpPr>
            <a:spLocks noChangeArrowheads="1"/>
          </p:cNvSpPr>
          <p:nvPr/>
        </p:nvSpPr>
        <p:spPr bwMode="auto">
          <a:xfrm>
            <a:off x="6956582" y="1942237"/>
            <a:ext cx="175428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Откл. </a:t>
            </a:r>
            <a:r>
              <a:rPr kumimoji="0" lang="ru-RU" altLang="ru-RU" sz="11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тр-ра</a:t>
            </a: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основного ввода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7803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511085" y="2923765"/>
            <a:ext cx="2880320" cy="1296144"/>
          </a:xfrm>
          <a:prstGeom prst="rect">
            <a:avLst/>
          </a:prstGeom>
        </p:spPr>
        <p:txBody>
          <a:bodyPr lIns="89989" tIns="46794" rIns="89989" bIns="46794" numCol="1" spcCol="359957"/>
          <a:lstStyle>
            <a:lvl1pPr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800" kern="1200" cap="all" baseline="0">
                <a:solidFill>
                  <a:schemeClr val="bg1"/>
                </a:solidFill>
                <a:latin typeface="Arial Narrow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ru-RU" sz="1800" b="1" cap="none" dirty="0"/>
              <a:t>Производство г</a:t>
            </a:r>
            <a:r>
              <a:rPr lang="ru-RU" sz="1800" b="1" cap="none" dirty="0" smtClean="0"/>
              <a:t>. Москва</a:t>
            </a:r>
            <a:r>
              <a:rPr lang="ru-RU" sz="1800" b="1" cap="none" dirty="0">
                <a:latin typeface="+mn-lt"/>
              </a:rPr>
              <a:t>: </a:t>
            </a:r>
          </a:p>
          <a:p>
            <a:pPr>
              <a:defRPr/>
            </a:pPr>
            <a:r>
              <a:rPr lang="ru-RU" sz="1200" cap="none" dirty="0"/>
              <a:t>111024, Москва, ул. 2-ая Кабельная д.2 стр.1,</a:t>
            </a:r>
            <a:br>
              <a:rPr lang="ru-RU" sz="1200" cap="none" dirty="0"/>
            </a:br>
            <a:r>
              <a:rPr lang="ru-RU" sz="1200" cap="none" dirty="0"/>
              <a:t>Территория </a:t>
            </a:r>
            <a:r>
              <a:rPr lang="ru-RU" sz="1200" cap="none" dirty="0">
                <a:latin typeface="+mn-lt"/>
              </a:rPr>
              <a:t>завода</a:t>
            </a:r>
            <a:r>
              <a:rPr lang="ru-RU" sz="1200" cap="none" dirty="0"/>
              <a:t> МКМ </a:t>
            </a:r>
            <a:br>
              <a:rPr lang="ru-RU" sz="1200" cap="none" dirty="0"/>
            </a:br>
            <a:r>
              <a:rPr lang="ru-RU" sz="1200" cap="none" dirty="0"/>
              <a:t>Телефон: +7 (495) 651-99-98</a:t>
            </a:r>
            <a:br>
              <a:rPr lang="ru-RU" sz="1200" cap="none" dirty="0"/>
            </a:br>
            <a:r>
              <a:rPr lang="ru-RU" sz="1200" cap="none" dirty="0" err="1"/>
              <a:t>E-mail</a:t>
            </a:r>
            <a:r>
              <a:rPr lang="ru-RU" sz="1200" cap="none" dirty="0"/>
              <a:t>: </a:t>
            </a:r>
            <a:r>
              <a:rPr lang="ru-RU" sz="1200" cap="none" dirty="0" err="1" smtClean="0"/>
              <a:t>info@uni-eng.ru</a:t>
            </a:r>
            <a:endParaRPr lang="ru-RU" sz="1200" cap="none" dirty="0" smtClean="0"/>
          </a:p>
          <a:p>
            <a:pPr>
              <a:defRPr/>
            </a:pPr>
            <a:endParaRPr lang="ru-RU" sz="1200" cap="none" dirty="0" smtClean="0"/>
          </a:p>
          <a:p>
            <a:pPr>
              <a:defRPr/>
            </a:pPr>
            <a:endParaRPr lang="ru-RU" sz="1200" cap="none" dirty="0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511085" y="1412776"/>
            <a:ext cx="2880320" cy="1420820"/>
          </a:xfrm>
          <a:prstGeom prst="rect">
            <a:avLst/>
          </a:prstGeom>
        </p:spPr>
        <p:txBody>
          <a:bodyPr lIns="89989" tIns="46794" rIns="89989" bIns="46794" numCol="1" spcCol="359957"/>
          <a:lstStyle>
            <a:lvl1pPr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800" kern="1200" cap="all" baseline="0">
                <a:solidFill>
                  <a:schemeClr val="bg1"/>
                </a:solidFill>
                <a:latin typeface="Arial Narrow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ru-RU" sz="1800" b="1" cap="none" dirty="0">
                <a:latin typeface="+mn-lt"/>
              </a:rPr>
              <a:t>Офис: </a:t>
            </a:r>
          </a:p>
          <a:p>
            <a:pPr>
              <a:defRPr/>
            </a:pPr>
            <a:r>
              <a:rPr lang="ru-RU" sz="1200" cap="none" dirty="0">
                <a:latin typeface="+mn-lt"/>
              </a:rPr>
              <a:t>111024, Москва, ул. 2-ая Кабельная д.2 стр.1,</a:t>
            </a:r>
            <a:br>
              <a:rPr lang="ru-RU" sz="1200" cap="none" dirty="0">
                <a:latin typeface="+mn-lt"/>
              </a:rPr>
            </a:br>
            <a:r>
              <a:rPr lang="ru-RU" sz="1200" cap="none" dirty="0">
                <a:latin typeface="+mn-lt"/>
              </a:rPr>
              <a:t>Территория завода МКМ </a:t>
            </a:r>
            <a:br>
              <a:rPr lang="ru-RU" sz="1200" cap="none" dirty="0">
                <a:latin typeface="+mn-lt"/>
              </a:rPr>
            </a:br>
            <a:r>
              <a:rPr lang="ru-RU" sz="1200" cap="none" dirty="0">
                <a:latin typeface="+mn-lt"/>
              </a:rPr>
              <a:t>Телефон: +7 (495) 651-99-98</a:t>
            </a:r>
            <a:br>
              <a:rPr lang="ru-RU" sz="1200" cap="none" dirty="0">
                <a:latin typeface="+mn-lt"/>
              </a:rPr>
            </a:br>
            <a:r>
              <a:rPr lang="ru-RU" sz="1200" cap="none" dirty="0">
                <a:latin typeface="+mn-lt"/>
              </a:rPr>
              <a:t>E-</a:t>
            </a:r>
            <a:r>
              <a:rPr lang="ru-RU" sz="1200" cap="none" dirty="0" err="1">
                <a:latin typeface="+mn-lt"/>
              </a:rPr>
              <a:t>mail</a:t>
            </a:r>
            <a:r>
              <a:rPr lang="ru-RU" sz="1200" cap="none" dirty="0">
                <a:latin typeface="+mn-lt"/>
              </a:rPr>
              <a:t>: info@uni-eng.ru</a:t>
            </a:r>
            <a:endParaRPr lang="ru-RU" sz="2400" cap="none" dirty="0">
              <a:latin typeface="+mn-lt"/>
            </a:endParaRPr>
          </a:p>
        </p:txBody>
      </p:sp>
      <p:pic>
        <p:nvPicPr>
          <p:cNvPr id="3075" name="Picture 3" descr="C:\Users\a.sofiysky\Desktop\ПРезентация\qrcode (1)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16080" y="1268760"/>
            <a:ext cx="5040560" cy="4320480"/>
          </a:xfrm>
          <a:prstGeom prst="rect">
            <a:avLst/>
          </a:prstGeom>
          <a:noFill/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495533" y="4437112"/>
            <a:ext cx="2880320" cy="1420820"/>
          </a:xfrm>
          <a:prstGeom prst="rect">
            <a:avLst/>
          </a:prstGeom>
        </p:spPr>
        <p:txBody>
          <a:bodyPr lIns="89989" tIns="46794" rIns="89989" bIns="46794" numCol="1" spcCol="359957"/>
          <a:lstStyle>
            <a:lvl1pPr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800" kern="1200" cap="all" baseline="0">
                <a:solidFill>
                  <a:schemeClr val="bg1"/>
                </a:solidFill>
                <a:latin typeface="Arial Narrow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ru-RU" sz="1800" b="1" cap="none" dirty="0" smtClean="0">
                <a:latin typeface="+mn-lt"/>
              </a:rPr>
              <a:t>Производство г. Чебоксары: </a:t>
            </a:r>
          </a:p>
          <a:p>
            <a:pPr>
              <a:defRPr/>
            </a:pPr>
            <a:r>
              <a:rPr lang="ru-RU" sz="1200" cap="none" dirty="0" smtClean="0"/>
              <a:t>428019, </a:t>
            </a:r>
            <a:r>
              <a:rPr lang="ru-RU" sz="1200" cap="none" dirty="0" smtClean="0">
                <a:latin typeface="+mn-lt"/>
              </a:rPr>
              <a:t>Чебоксары</a:t>
            </a:r>
            <a:r>
              <a:rPr lang="ru-RU" sz="1200" cap="none" dirty="0" smtClean="0"/>
              <a:t>, ул. Пристанционная, д. 1</a:t>
            </a:r>
          </a:p>
          <a:p>
            <a:pPr>
              <a:defRPr/>
            </a:pPr>
            <a:r>
              <a:rPr lang="ru-RU" sz="1200" cap="none" dirty="0" smtClean="0"/>
              <a:t>Телефон: +7 (495) 651-99-98</a:t>
            </a:r>
            <a:br>
              <a:rPr lang="ru-RU" sz="1200" cap="none" dirty="0" smtClean="0"/>
            </a:br>
            <a:r>
              <a:rPr lang="ru-RU" sz="1200" cap="none" dirty="0" err="1" smtClean="0"/>
              <a:t>E-mail</a:t>
            </a:r>
            <a:r>
              <a:rPr lang="ru-RU" sz="1200" cap="none" dirty="0" smtClean="0"/>
              <a:t>: </a:t>
            </a:r>
            <a:r>
              <a:rPr lang="ru-RU" sz="1200" cap="none" dirty="0" err="1" smtClean="0"/>
              <a:t>info@uni-eng.ru</a:t>
            </a:r>
            <a:endParaRPr lang="ru-RU" sz="1200" cap="none" dirty="0" smtClean="0"/>
          </a:p>
          <a:p>
            <a:pPr>
              <a:defRPr/>
            </a:pPr>
            <a:endParaRPr lang="ru-RU" sz="1200" cap="none" dirty="0" smtClean="0">
              <a:latin typeface="+mn-lt"/>
            </a:endParaRPr>
          </a:p>
          <a:p>
            <a:pPr>
              <a:defRPr/>
            </a:pPr>
            <a:endParaRPr lang="ru-RU" sz="2400" cap="none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ЮНИТЕЛ-2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Горизонт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ЮНИТЕЛ-2</Template>
  <TotalTime>88707</TotalTime>
  <Words>3553</Words>
  <Application>Microsoft Office PowerPoint</Application>
  <PresentationFormat>Широкоэкранный</PresentationFormat>
  <Paragraphs>956</Paragraphs>
  <Slides>29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5" baseType="lpstr">
      <vt:lpstr>Arial</vt:lpstr>
      <vt:lpstr>Arial Narrow</vt:lpstr>
      <vt:lpstr>Calibri</vt:lpstr>
      <vt:lpstr>Times New Roman</vt:lpstr>
      <vt:lpstr>Wingdings</vt:lpstr>
      <vt:lpstr>ЮНИТЕЛ-2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Designer1</dc:creator>
  <cp:lastModifiedBy>Лубов Григорий</cp:lastModifiedBy>
  <cp:revision>3246</cp:revision>
  <cp:lastPrinted>2018-07-20T14:32:00Z</cp:lastPrinted>
  <dcterms:created xsi:type="dcterms:W3CDTF">2012-08-24T07:28:38Z</dcterms:created>
  <dcterms:modified xsi:type="dcterms:W3CDTF">2025-09-25T14:02:07Z</dcterms:modified>
</cp:coreProperties>
</file>